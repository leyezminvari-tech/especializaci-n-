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7bbcba6-6198-9bcb-0c79-2fea2bfeb347}">
          <p14:sldIdLst>
            <p14:sldId id="256"/>
            <p14:sldId id="257"/>
          </p14:sldIdLst>
        </p14:section>
        <p14:section name="Marco conceptual" id="{b98e5bb3-cc24-a1e0-fa54-134760c0f1e7}">
          <p14:sldIdLst>
            <p14:sldId id="258"/>
            <p14:sldId id="259"/>
          </p14:sldIdLst>
        </p14:section>
        <p14:section name="Componentes del SOGC" id="{4fe94983-452a-b1c0-60a0-099645243ee4}">
          <p14:sldIdLst>
            <p14:sldId id="260"/>
            <p14:sldId id="261"/>
            <p14:sldId id="262"/>
            <p14:sldId id="263"/>
            <p14:sldId id="264"/>
          </p14:sldIdLst>
        </p14:section>
        <p14:section name="Aplicación por actor" id="{66976ae0-0583-2a24-bd39-20f48e037c2c}">
          <p14:sldIdLst>
            <p14:sldId id="265"/>
            <p14:sldId id="266"/>
            <p14:sldId id="267"/>
          </p14:sldIdLst>
        </p14:section>
        <p14:section name="Análisis del problema" id="{4fc2e938-992a-1fe2-6774-20887086d134}">
          <p14:sldIdLst>
            <p14:sldId id="268"/>
            <p14:sldId id="269"/>
            <p14:sldId id="270"/>
          </p14:sldIdLst>
        </p14:section>
        <p14:section name="Cierre" id="{f421f908-bd1a-5865-900c-346a3f8879d6}">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tema: el Sistema Obligatorio de Garantía de la Calidad en Salud (SOGC). Los cuatro bloques de la derecha anticipan sus componentes: habilitación, auditoría para el mejoramiento (PAMEC), sistema de información para la calidad y acreditación. La pregunta del título resume el problema: tenemos normas sólidas, pero ¿se traducen en calidad real para las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el SOGC existe desde el Decreto 1011 de 2006, pero la percepción ciudadana y profesional sobre la calidad sigue siendo crítica. La ruta de la exposición: marco normativo, concepto, cuatro componentes, aplicación por actor, análisis del problema, propuestas y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línea de tiempo muestra que el SOGC no es una norma aislada: nace del mandato de calidad de la Ley 100 de 1993, se concreta en el Decreto 1011 de 2006, se refuerza con la Ley Estatutaria 1751 de 2015 y se actualiza con resoluciones técnicas para cada componente: 256 de 2016 (información), 5095 de 2018 (acreditación) y 3100 de 2019 (habilitación).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definición del artículo 2 deja claro que el SOGC no es solo un trámite: es un conjunto deliberado y sistemático de instituciones y procesos. El artículo 3 fija cinco características con las que se mide la calidad: accesibilidad, oportunidad, seguridad, pertinencia y continuidad. Todo lo que veremos después (habilitación, PAMEC, información y acreditación) busca garantizar estas cinco características.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Decreto 1011 organiza el SOGC en cuatro componentes. Tres son obligatorios (habilitación, PAMEC e información) y uno es voluntario (acreditación). Se pueden leer como una escalera: la habilitación es el piso mínimo, el PAMEC es el motor del mejoramiento, el sistema de información permite medir y comparar, y la acreditación es el nivel de excelencia. La tarjeta clara resalta que la acreditación es la única voluntaria.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habilitación es obligatoria: ningún prestador puede ofrecer un servicio que no esté inscrito y habilitado. La Resolución 3100 de 2019 define el procedimiento (autoevaluación, inscripción en el Registro Especial de Prestadores de Servicios de Salud, REPS, y verificación por la secretaría departamental o distrital) y siete estándares mínimos. Es el piso: garantiza condiciones básicas de seguridad, no excelencia.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Programa de Auditoría para el Mejoramiento de la Calidad (PAMEC) es obligatorio para IPS, EPS y entidades territoriales. Opera en tres niveles: autocontrol (cada persona evalúa su trabajo), auditoría interna (la institución se evalúa) y auditoría externa (un tercero evalúa). Las acciones pueden ser preventivas, de seguimiento o coyunturales. La ruta crítica de nueve pasos convierte la calidad en un ciclo: medir, planear, ejecutar, evaluar y aprender. El paso 9, aprendizaje organizacional, es el que con más frecuencia se omite.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de Información para la Calidad tiene cuatro objetivos: monitorear, orientar a los usuarios, referenciar competitivamente a los actores y estimular el mejoramiento. La Resolución 256 de 2016 organiza los indicadores en cuatro dominios: efectividad, seguridad, experiencia de la atención y gestión del riesgo. Prestadores, aseguradoras y entes territoriales reportan al Ministerio, que publica los resultados para que usuarios y tomadores de decisión los usen. Si nadie consulta ni usa estos datos, el sistema pierde su razón de 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acreditación es el único componente voluntario. La institución decide someterse a una evaluación externa, hoy a cargo de ICONTEC, con los estándares del Manual de Acreditación en Salud versión 3.1 (Resolución 5095 de 2018). Sus ejes muestran que la excelencia no es solo infraestructura: exige humanización, seguridad, gestión del riesgo y una transformación cultural. Dato para verificar antes de exponer: el número actualizado de instituciones acreditadas en el listado de ICONTEC/MinSalud, que sigue siendo una fracción pequeña del total de prestadores.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marco legal asigna roles distintos. El Ministerio de Salud es el rector: produce las reglas de cada componente (Resolución 3100 para habilitación, Resolución 256 para información, Resolución 5095 para acreditación) y las pautas de auditoría. Las secretarías departamentales y distritales de salud son el brazo operativo: reciben la inscripción en el REPS, hacen las visitas de verificación y aplican su propio PAMEC. La Superintendencia Nacional de Salud vigila a todos los actores. Si la vigilancia territorial es débil, la habilitación se queda en papel.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EPS, como aseguradoras, deben conformar su red solo con prestadores habilitados, auditar la calidad de la atención de sus afiliados mediante su PAMEC y reportar indicadores. Las IPS son quienes viven el SOGC en el día a día: autoevalúan e inscriben sus servicios, ejecutan la ruta crítica del PAMEC, reportan indicadores y pueden optar por la acreditación. El caso del laboratorio clínico, analizado por Tangarife-Castaño y Montoya-Delgado (2023), muestra cómo los componentes se integran en un servicio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usuario no es un receptor pasivo: el SOGC existe para protegerlo. La Ley Estatutaria 1751 de 2015 reconoce la salud como derecho fundamental; el sistema de información le permite comparar y elegir; y los mecanismos de participación (asociaciones de usuarios, PQRS, veedurías) convierten su experiencia en insumo para el PAMEC. La lectura de Clavijo Cáceres y Yáñez Ibarra (2024) sobre la integración del migrante en el Estado social de derecho recuerda que la calidad también es una cuestión de equidad: debe alcanzar a quienes con frecuencia quedan por fuera, como la población migrante.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al problema central. El marco legal es robusto, pero su aplicación falla por seis razones: 1) cultura del cumplimiento formal, en la que la habilitación y el PAMEC se preparan para la visita y no para el paciente; 2) crisis financiera del sistema, con deudas entre EPS e IPS y entidades intervenidas; 3) capacidad limitada de inspección, vigilancia y control de las secretarías de salud; 4) inequidad territorial entre ciudades y zonas rurales dispersas; 5) información con subregistro y poco usada por los usuarios; 6) una acreditación voluntaria, costosa y con incentivos débiles. Conclusión parcial: el problema no se resuelve con más normas, sino cerrando la distancia entre lo escrito y lo que ocurre en el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pesar de las brechas, el SOGC es indispensable. Sin él no existiría un estándar común para todos los prestadores, no habría un método obligatorio para mejorar ni datos públicos para comparar. Su importancia en el SGSSS es que traduce el derecho fundamental a la salud en condiciones verificables. Por eso la propuesta no es reemplazarlo, sino hacerlo funcionar.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propuesta responde a una de las causas de la brecha y tiene un responsable. 1) Habilitación orientada a resultados y no a carpetas. 2) Fortalecer la vigilancia territorial con más verificadores capacitados y herramientas digitales, en coordinación con la Supersalud. 3) Incentivos financieros: contratos EPS–IPS con pago por resultados en calidad y reconocimiento a la acreditación. 4) Información abierta y comprensible para el ciudadano. 5) Cultura de calidad liderada por la alta dirección, con formación continua del talento humano. 6) Usuarios empoderados: que sus quejas y sugerencias alimenten obligatoriamente el PAMEC.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final a la pregunta del título: hoy la calidad en salud en Colombia es más norma que realidad, pero no por falta de reglas. Mi posición crítica es que el sistema necesita menos producción normativa y más cumplimiento efectivo: financiación estable, vigilancia territorial con capacidad real, información útil para el ciudadano y una cultura organizacional en la que la calidad sea un valor y no un trámite.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en formato APA 7.ª edición. Incluye los tres recursos básicos de la semana (Clavijo Cáceres y Yáñez Ibarra, 2024; Resolución 3100 de 2019; Tangarife-Castaño y Montoya-Delgado, 2023) y fuentes normativas complementarias consultadas.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claro">
    <p:bg>
      <p:bgPr>
        <a:solidFill>
          <a:srgbClr val="F6F4E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rtlCol="0"/>
          <a:lstStyle>
            <a:lvl1pPr algn="l" indent="0" marL="0">
              <a:buNone/>
              <a:defRPr lang="en-US" sz="1200" b="1"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327648"/>
            <a:ext cx="5486400" cy="274320"/>
          </a:xfrm>
          <a:prstGeom prst="rect">
            <a:avLst/>
          </a:prstGeom>
          <a:noFill/>
          <a:ln/>
        </p:spPr>
        <p:txBody>
          <a:bodyPr wrap="square" lIns="0" tIns="0" rIns="0" bIns="0" rtlCol="0" anchor="ctr"/>
          <a:lstStyle/>
          <a:p>
            <a:pPr indent="0" marL="0">
              <a:buNone/>
            </a:pPr>
            <a:r>
              <a:rPr lang="en-US" sz="1100" dirty="0">
                <a:solidFill>
                  <a:srgbClr val="5A6B70"/>
                </a:solidFill>
              </a:rPr>
              <a:t>Calidad en salud: ¿norma o realidad?</a:t>
            </a:r>
            <a:endParaRPr lang="en-US" sz="11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verde">
    <p:bg>
      <p:bgPr>
        <a:solidFill>
          <a:srgbClr val="E7EFE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rtlCol="0"/>
          <a:lstStyle>
            <a:lvl1pPr algn="l" indent="0" marL="0">
              <a:buNone/>
              <a:defRPr lang="en-US" sz="1200" b="1"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327648"/>
            <a:ext cx="5486400" cy="274320"/>
          </a:xfrm>
          <a:prstGeom prst="rect">
            <a:avLst/>
          </a:prstGeom>
          <a:noFill/>
          <a:ln/>
        </p:spPr>
        <p:txBody>
          <a:bodyPr wrap="square" lIns="0" tIns="0" rIns="0" bIns="0" rtlCol="0" anchor="ctr"/>
          <a:lstStyle/>
          <a:p>
            <a:pPr indent="0" marL="0">
              <a:buNone/>
            </a:pPr>
            <a:r>
              <a:rPr lang="en-US" sz="1100" dirty="0">
                <a:solidFill>
                  <a:srgbClr val="5A6B70"/>
                </a:solidFill>
              </a:rPr>
              <a:t>Calidad en salud: ¿norma o realidad?</a:t>
            </a:r>
            <a:endParaRPr lang="en-US" sz="11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oscuro">
    <p:bg>
      <p:bgPr>
        <a:solidFill>
          <a:srgbClr val="12343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rtlCol="0"/>
          <a:lstStyle>
            <a:lvl1pPr algn="l" indent="0" marL="0">
              <a:buNone/>
              <a:defRPr lang="en-US" sz="1200" b="1"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rtlCol="0"/>
          <a:lstStyle>
            <a:lvl1pPr algn="l" indent="0" marL="0">
              <a:buNone/>
              <a:defRPr lang="en-US" sz="3200" b="1" dirty="0">
                <a:solidFill>
                  <a:srgbClr val="F6F4E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327648"/>
            <a:ext cx="5486400" cy="274320"/>
          </a:xfrm>
          <a:prstGeom prst="rect">
            <a:avLst/>
          </a:prstGeom>
          <a:noFill/>
          <a:ln/>
        </p:spPr>
        <p:txBody>
          <a:bodyPr wrap="square" lIns="0" tIns="0" rIns="0" bIns="0" rtlCol="0" anchor="ctr"/>
          <a:lstStyle/>
          <a:p>
            <a:pPr indent="0" marL="0">
              <a:buNone/>
            </a:pPr>
            <a:r>
              <a:rPr lang="en-US" sz="1100" dirty="0">
                <a:solidFill>
                  <a:srgbClr val="8FB3AD"/>
                </a:solidFill>
              </a:rPr>
              <a:t>Calidad en salud: ¿norma o realidad?</a:t>
            </a:r>
            <a:endParaRPr lang="en-US" sz="11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FB3A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unciado">
    <p:bg>
      <p:bgPr>
        <a:solidFill>
          <a:srgbClr val="F0A46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rtlCol="0"/>
          <a:lstStyle>
            <a:lvl1pPr algn="l" indent="0" marL="0">
              <a:buNone/>
              <a:defRPr lang="en-US" sz="1200" b="1"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548640" y="914400"/>
            <a:ext cx="10241280" cy="23774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nvSpPr>
        <p:spPr>
          <a:xfrm>
            <a:off x="548640" y="6327648"/>
            <a:ext cx="5486400" cy="274320"/>
          </a:xfrm>
          <a:prstGeom prst="rect">
            <a:avLst/>
          </a:prstGeom>
          <a:noFill/>
          <a:ln/>
        </p:spPr>
        <p:txBody>
          <a:bodyPr wrap="square" lIns="0" tIns="0" rIns="0" bIns="0" rtlCol="0" anchor="ctr"/>
          <a:lstStyle/>
          <a:p>
            <a:pPr indent="0" marL="0">
              <a:buNone/>
            </a:pPr>
            <a:r>
              <a:rPr lang="en-US" sz="1100" dirty="0">
                <a:solidFill>
                  <a:srgbClr val="12343B"/>
                </a:solidFill>
              </a:rPr>
              <a:t>Calidad en salud: ¿norma o realidad?</a:t>
            </a:r>
            <a:endParaRPr lang="en-US" sz="11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12343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ortada">
    <p:bg>
      <p:bgPr>
        <a:solidFill>
          <a:srgbClr val="123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858000" cy="1828800"/>
          </a:xfrm>
          <a:prstGeom prst="rect">
            <a:avLst/>
          </a:prstGeom>
          <a:noFill/>
          <a:ln/>
        </p:spPr>
        <p:txBody>
          <a:bodyPr wrap="square" rtlCol="0"/>
          <a:lstStyle>
            <a:lvl1pPr algn="l" indent="0" marL="0">
              <a:buNone/>
              <a:defRPr lang="en-US" sz="4200" b="1" dirty="0">
                <a:solidFill>
                  <a:srgbClr val="F6F4EF"/>
                </a:solidFill>
                <a:latin typeface="Cambria" pitchFamily="34" charset="0"/>
                <a:ea typeface="Cambria" pitchFamily="34" charset="-122"/>
                <a:cs typeface="Cambria" pitchFamily="34" charset="-120"/>
              </a:defRPr>
            </a:lvl1pPr>
          </a:lstStyle>
          <a:p>
            <a:pPr algn="l" indent="0" marL="0">
              <a:buNone/>
            </a:pPr>
            <a:endParaRPr lang="en-US" sz="4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o-1"/>
          <p:cNvSpPr txBox="1"/>
          <p:nvPr/>
        </p:nvSpPr>
        <p:spPr>
          <a:xfrm>
            <a:off x="548640" y="1325880"/>
            <a:ext cx="6675120" cy="4572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F0A46C"/>
                </a:solidFill>
              </a:rPr>
              <a:t>SISTEMA OBLIGATORIO DE GARANTÍA DE LA CALIDAD · COLOMBIA</a:t>
            </a:r>
            <a:endParaRPr lang="en-US" sz="1200" dirty="0"/>
          </a:p>
        </p:txBody>
      </p:sp>
      <p:sp>
        <p:nvSpPr>
          <p:cNvPr id="3" name="Text 0"/>
          <p:cNvSpPr/>
          <p:nvPr>
            <p:ph idx="100" type="title" hasCustomPrompt="1"/>
          </p:nvPr>
        </p:nvSpPr>
        <p:spPr>
          <a:xfrm>
            <a:off x="548640" y="1828800"/>
            <a:ext cx="6858000" cy="1828800"/>
          </a:xfrm>
          <a:prstGeom prst="rect">
            <a:avLst/>
          </a:prstGeom>
          <a:noFill/>
          <a:ln/>
        </p:spPr>
        <p:txBody>
          <a:bodyPr wrap="square" lIns="0" tIns="0" rIns="0" bIns="0" rtlCol="0" anchor="t"/>
          <a:lstStyle/>
          <a:p>
            <a:pPr algn="l" indent="0" marL="0">
              <a:buNone/>
            </a:pPr>
            <a:r>
              <a:rPr lang="en-US" sz="4200" b="1" dirty="0">
                <a:solidFill>
                  <a:srgbClr val="F6F4EF"/>
                </a:solidFill>
                <a:latin typeface="Cambria" pitchFamily="34" charset="0"/>
                <a:ea typeface="Cambria" pitchFamily="34" charset="-122"/>
                <a:cs typeface="Cambria" pitchFamily="34" charset="-120"/>
              </a:rPr>
              <a:t>Calidad en salud:</a:t>
            </a:r>
            <a:endParaRPr lang="en-US" sz="4200" dirty="0"/>
          </a:p>
          <a:p>
            <a:pPr algn="l" indent="0" marL="0">
              <a:buNone/>
            </a:pPr>
            <a:r>
              <a:rPr lang="en-US" sz="4200" b="1" i="1" dirty="0">
                <a:solidFill>
                  <a:srgbClr val="F0A46C"/>
                </a:solidFill>
                <a:latin typeface="Cambria" pitchFamily="34" charset="0"/>
                <a:ea typeface="Cambria" pitchFamily="34" charset="-122"/>
                <a:cs typeface="Cambria" pitchFamily="34" charset="-120"/>
              </a:rPr>
              <a:t>¿norma o realidad?</a:t>
            </a:r>
            <a:endParaRPr lang="en-US" sz="4200" dirty="0"/>
          </a:p>
        </p:txBody>
      </p:sp>
      <p:sp>
        <p:nvSpPr>
          <p:cNvPr id="4" name="texto-2"/>
          <p:cNvSpPr txBox="1"/>
          <p:nvPr/>
        </p:nvSpPr>
        <p:spPr>
          <a:xfrm>
            <a:off x="548640" y="3840480"/>
            <a:ext cx="6217920" cy="685800"/>
          </a:xfrm>
          <a:prstGeom prst="rect">
            <a:avLst/>
          </a:prstGeom>
          <a:noFill/>
          <a:ln/>
        </p:spPr>
        <p:txBody>
          <a:bodyPr wrap="square" lIns="0" tIns="0" rIns="0" bIns="0" rtlCol="0" anchor="t"/>
          <a:lstStyle/>
          <a:p>
            <a:pPr algn="l" indent="0" marL="0">
              <a:lnSpc>
                <a:spcPct val="110000"/>
              </a:lnSpc>
              <a:buNone/>
            </a:pPr>
            <a:r>
              <a:rPr lang="en-US" sz="1600" dirty="0">
                <a:solidFill>
                  <a:srgbClr val="BFD6D1"/>
                </a:solidFill>
              </a:rPr>
              <a:t>Análisis del SOGC y de sus cuatro componentes a la luz del Decreto 1011 de 2006</a:t>
            </a:r>
            <a:endParaRPr lang="en-US" sz="1600" dirty="0"/>
          </a:p>
        </p:txBody>
      </p:sp>
      <p:sp>
        <p:nvSpPr>
          <p:cNvPr id="5" name="divisor-3"/>
          <p:cNvSpPr/>
          <p:nvPr/>
        </p:nvSpPr>
        <p:spPr>
          <a:xfrm>
            <a:off x="548640" y="4617720"/>
            <a:ext cx="6217920" cy="0"/>
          </a:xfrm>
          <a:prstGeom prst="line">
            <a:avLst/>
          </a:prstGeom>
          <a:noFill/>
          <a:ln w="12700">
            <a:solidFill>
              <a:srgbClr val="3E6A70"/>
            </a:solidFill>
            <a:prstDash val="solid"/>
          </a:ln>
        </p:spPr>
      </p:sp>
      <p:sp>
        <p:nvSpPr>
          <p:cNvPr id="6" name="texto-4"/>
          <p:cNvSpPr txBox="1"/>
          <p:nvPr/>
        </p:nvSpPr>
        <p:spPr>
          <a:xfrm>
            <a:off x="548640" y="4754880"/>
            <a:ext cx="6217920" cy="320040"/>
          </a:xfrm>
          <a:prstGeom prst="rect">
            <a:avLst/>
          </a:prstGeom>
          <a:noFill/>
          <a:ln/>
        </p:spPr>
        <p:txBody>
          <a:bodyPr wrap="square" lIns="0" tIns="0" rIns="0" bIns="0" rtlCol="0" anchor="t"/>
          <a:lstStyle/>
          <a:p>
            <a:pPr algn="l" indent="0" marL="0">
              <a:lnSpc>
                <a:spcPct val="110000"/>
              </a:lnSpc>
              <a:buNone/>
            </a:pPr>
            <a:r>
              <a:rPr lang="en-US" sz="1500" b="1" dirty="0">
                <a:solidFill>
                  <a:srgbClr val="F6F4EF"/>
                </a:solidFill>
              </a:rPr>
              <a:t>Yina Vanessa Cadena Mantilla</a:t>
            </a:r>
            <a:endParaRPr lang="en-US" sz="1500" dirty="0"/>
          </a:p>
        </p:txBody>
      </p:sp>
      <p:sp>
        <p:nvSpPr>
          <p:cNvPr id="7" name="texto-5"/>
          <p:cNvSpPr txBox="1"/>
          <p:nvPr/>
        </p:nvSpPr>
        <p:spPr>
          <a:xfrm>
            <a:off x="548640" y="5120640"/>
            <a:ext cx="6217920" cy="548640"/>
          </a:xfrm>
          <a:prstGeom prst="rect">
            <a:avLst/>
          </a:prstGeom>
          <a:noFill/>
          <a:ln/>
        </p:spPr>
        <p:txBody>
          <a:bodyPr wrap="square" lIns="0" tIns="0" rIns="0" bIns="0" rtlCol="0" anchor="t"/>
          <a:lstStyle/>
          <a:p>
            <a:pPr algn="l" indent="0" marL="0">
              <a:lnSpc>
                <a:spcPct val="110000"/>
              </a:lnSpc>
              <a:buNone/>
            </a:pPr>
            <a:r>
              <a:rPr lang="en-US" sz="1200" dirty="0">
                <a:solidFill>
                  <a:srgbClr val="BFD6D1"/>
                </a:solidFill>
              </a:rPr>
              <a:t>Fundamento en Calidad en Salud · Especialización en Gerencia y Auditoría de la Calidad en Salud · UNIMINUTO · 2026</a:t>
            </a:r>
            <a:endParaRPr lang="en-US" sz="1200" dirty="0"/>
          </a:p>
        </p:txBody>
      </p:sp>
      <p:sp>
        <p:nvSpPr>
          <p:cNvPr id="8" name="mosaico-6"/>
          <p:cNvSpPr/>
          <p:nvPr/>
        </p:nvSpPr>
        <p:spPr>
          <a:xfrm>
            <a:off x="7589520" y="1417320"/>
            <a:ext cx="1874520" cy="1874520"/>
          </a:xfrm>
          <a:prstGeom prst="roundRect">
            <a:avLst>
              <a:gd name="adj" fmla="val 8780"/>
            </a:avLst>
          </a:prstGeom>
          <a:solidFill>
            <a:srgbClr val="F6F4EF"/>
          </a:solidFill>
          <a:ln/>
        </p:spPr>
      </p:sp>
      <p:sp>
        <p:nvSpPr>
          <p:cNvPr id="9" name="texto-7"/>
          <p:cNvSpPr txBox="1"/>
          <p:nvPr/>
        </p:nvSpPr>
        <p:spPr>
          <a:xfrm>
            <a:off x="7818120" y="1618488"/>
            <a:ext cx="1371600" cy="502920"/>
          </a:xfrm>
          <a:prstGeom prst="rect">
            <a:avLst/>
          </a:prstGeom>
          <a:noFill/>
          <a:ln/>
        </p:spPr>
        <p:txBody>
          <a:bodyPr wrap="square" lIns="0" tIns="0" rIns="0" bIns="0" rtlCol="0" anchor="t"/>
          <a:lstStyle/>
          <a:p>
            <a:pPr algn="l" indent="0" marL="0">
              <a:lnSpc>
                <a:spcPct val="110000"/>
              </a:lnSpc>
              <a:buNone/>
            </a:pPr>
            <a:r>
              <a:rPr lang="en-US" sz="2800" b="1" dirty="0">
                <a:solidFill>
                  <a:srgbClr val="A9501F"/>
                </a:solidFill>
                <a:latin typeface="Cambria" pitchFamily="34" charset="0"/>
                <a:ea typeface="Cambria" pitchFamily="34" charset="-122"/>
                <a:cs typeface="Cambria" pitchFamily="34" charset="-120"/>
              </a:rPr>
              <a:t>01</a:t>
            </a:r>
            <a:endParaRPr lang="en-US" sz="2800" dirty="0"/>
          </a:p>
        </p:txBody>
      </p:sp>
      <p:sp>
        <p:nvSpPr>
          <p:cNvPr id="10" name="texto-8"/>
          <p:cNvSpPr txBox="1"/>
          <p:nvPr/>
        </p:nvSpPr>
        <p:spPr>
          <a:xfrm>
            <a:off x="7818120" y="2743200"/>
            <a:ext cx="1554480" cy="320040"/>
          </a:xfrm>
          <a:prstGeom prst="rect">
            <a:avLst/>
          </a:prstGeom>
          <a:noFill/>
          <a:ln/>
        </p:spPr>
        <p:txBody>
          <a:bodyPr wrap="square" lIns="0" tIns="0" rIns="0" bIns="0" rtlCol="0" anchor="t"/>
          <a:lstStyle/>
          <a:p>
            <a:pPr algn="l" indent="0" marL="0">
              <a:lnSpc>
                <a:spcPct val="110000"/>
              </a:lnSpc>
              <a:buNone/>
            </a:pPr>
            <a:r>
              <a:rPr lang="en-US" sz="1400" b="1" dirty="0">
                <a:solidFill>
                  <a:srgbClr val="12343B"/>
                </a:solidFill>
              </a:rPr>
              <a:t>Habilitación</a:t>
            </a:r>
            <a:endParaRPr lang="en-US" sz="1400" dirty="0"/>
          </a:p>
        </p:txBody>
      </p:sp>
      <p:sp>
        <p:nvSpPr>
          <p:cNvPr id="11" name="mosaico-9"/>
          <p:cNvSpPr/>
          <p:nvPr/>
        </p:nvSpPr>
        <p:spPr>
          <a:xfrm>
            <a:off x="9601200" y="1417320"/>
            <a:ext cx="1874520" cy="1874520"/>
          </a:xfrm>
          <a:prstGeom prst="roundRect">
            <a:avLst>
              <a:gd name="adj" fmla="val 8780"/>
            </a:avLst>
          </a:prstGeom>
          <a:solidFill>
            <a:srgbClr val="2E6E66"/>
          </a:solidFill>
          <a:ln/>
        </p:spPr>
      </p:sp>
      <p:sp>
        <p:nvSpPr>
          <p:cNvPr id="12" name="texto-10"/>
          <p:cNvSpPr txBox="1"/>
          <p:nvPr/>
        </p:nvSpPr>
        <p:spPr>
          <a:xfrm>
            <a:off x="9829800" y="1618488"/>
            <a:ext cx="1371600" cy="502920"/>
          </a:xfrm>
          <a:prstGeom prst="rect">
            <a:avLst/>
          </a:prstGeom>
          <a:noFill/>
          <a:ln/>
        </p:spPr>
        <p:txBody>
          <a:bodyPr wrap="square" lIns="0" tIns="0" rIns="0" bIns="0" rtlCol="0" anchor="t"/>
          <a:lstStyle/>
          <a:p>
            <a:pPr algn="l" indent="0" marL="0">
              <a:lnSpc>
                <a:spcPct val="110000"/>
              </a:lnSpc>
              <a:buNone/>
            </a:pPr>
            <a:r>
              <a:rPr lang="en-US" sz="2800" b="1" dirty="0">
                <a:solidFill>
                  <a:srgbClr val="F6F4EF"/>
                </a:solidFill>
                <a:latin typeface="Cambria" pitchFamily="34" charset="0"/>
                <a:ea typeface="Cambria" pitchFamily="34" charset="-122"/>
                <a:cs typeface="Cambria" pitchFamily="34" charset="-120"/>
              </a:rPr>
              <a:t>02</a:t>
            </a:r>
            <a:endParaRPr lang="en-US" sz="2800" dirty="0"/>
          </a:p>
        </p:txBody>
      </p:sp>
      <p:sp>
        <p:nvSpPr>
          <p:cNvPr id="13" name="texto-11"/>
          <p:cNvSpPr txBox="1"/>
          <p:nvPr/>
        </p:nvSpPr>
        <p:spPr>
          <a:xfrm>
            <a:off x="9829800" y="2743200"/>
            <a:ext cx="1554480" cy="320040"/>
          </a:xfrm>
          <a:prstGeom prst="rect">
            <a:avLst/>
          </a:prstGeom>
          <a:noFill/>
          <a:ln/>
        </p:spPr>
        <p:txBody>
          <a:bodyPr wrap="square" lIns="0" tIns="0" rIns="0" bIns="0" rtlCol="0" anchor="t"/>
          <a:lstStyle/>
          <a:p>
            <a:pPr algn="l" indent="0" marL="0">
              <a:lnSpc>
                <a:spcPct val="110000"/>
              </a:lnSpc>
              <a:buNone/>
            </a:pPr>
            <a:r>
              <a:rPr lang="en-US" sz="1400" b="1" dirty="0">
                <a:solidFill>
                  <a:srgbClr val="F6F4EF"/>
                </a:solidFill>
              </a:rPr>
              <a:t>PAMEC</a:t>
            </a:r>
            <a:endParaRPr lang="en-US" sz="1400" dirty="0"/>
          </a:p>
        </p:txBody>
      </p:sp>
      <p:sp>
        <p:nvSpPr>
          <p:cNvPr id="14" name="mosaico-12"/>
          <p:cNvSpPr/>
          <p:nvPr/>
        </p:nvSpPr>
        <p:spPr>
          <a:xfrm>
            <a:off x="7589520" y="3429000"/>
            <a:ext cx="1874520" cy="1874520"/>
          </a:xfrm>
          <a:prstGeom prst="roundRect">
            <a:avLst>
              <a:gd name="adj" fmla="val 8780"/>
            </a:avLst>
          </a:prstGeom>
          <a:solidFill>
            <a:srgbClr val="1D4850"/>
          </a:solidFill>
          <a:ln w="15875">
            <a:solidFill>
              <a:srgbClr val="3E6A70"/>
            </a:solidFill>
            <a:prstDash val="solid"/>
          </a:ln>
        </p:spPr>
      </p:sp>
      <p:sp>
        <p:nvSpPr>
          <p:cNvPr id="15" name="texto-13"/>
          <p:cNvSpPr txBox="1"/>
          <p:nvPr/>
        </p:nvSpPr>
        <p:spPr>
          <a:xfrm>
            <a:off x="7818120" y="3630168"/>
            <a:ext cx="1371600" cy="502920"/>
          </a:xfrm>
          <a:prstGeom prst="rect">
            <a:avLst/>
          </a:prstGeom>
          <a:noFill/>
          <a:ln/>
        </p:spPr>
        <p:txBody>
          <a:bodyPr wrap="square" lIns="0" tIns="0" rIns="0" bIns="0" rtlCol="0" anchor="t"/>
          <a:lstStyle/>
          <a:p>
            <a:pPr algn="l" indent="0" marL="0">
              <a:lnSpc>
                <a:spcPct val="110000"/>
              </a:lnSpc>
              <a:buNone/>
            </a:pPr>
            <a:r>
              <a:rPr lang="en-US" sz="2800" b="1" dirty="0">
                <a:solidFill>
                  <a:srgbClr val="F0A46C"/>
                </a:solidFill>
                <a:latin typeface="Cambria" pitchFamily="34" charset="0"/>
                <a:ea typeface="Cambria" pitchFamily="34" charset="-122"/>
                <a:cs typeface="Cambria" pitchFamily="34" charset="-120"/>
              </a:rPr>
              <a:t>03</a:t>
            </a:r>
            <a:endParaRPr lang="en-US" sz="2800" dirty="0"/>
          </a:p>
        </p:txBody>
      </p:sp>
      <p:sp>
        <p:nvSpPr>
          <p:cNvPr id="16" name="texto-14"/>
          <p:cNvSpPr txBox="1"/>
          <p:nvPr/>
        </p:nvSpPr>
        <p:spPr>
          <a:xfrm>
            <a:off x="7818120" y="4754880"/>
            <a:ext cx="1554480" cy="320040"/>
          </a:xfrm>
          <a:prstGeom prst="rect">
            <a:avLst/>
          </a:prstGeom>
          <a:noFill/>
          <a:ln/>
        </p:spPr>
        <p:txBody>
          <a:bodyPr wrap="square" lIns="0" tIns="0" rIns="0" bIns="0" rtlCol="0" anchor="t"/>
          <a:lstStyle/>
          <a:p>
            <a:pPr algn="l" indent="0" marL="0">
              <a:lnSpc>
                <a:spcPct val="110000"/>
              </a:lnSpc>
              <a:buNone/>
            </a:pPr>
            <a:r>
              <a:rPr lang="en-US" sz="1400" b="1" dirty="0">
                <a:solidFill>
                  <a:srgbClr val="F6F4EF"/>
                </a:solidFill>
              </a:rPr>
              <a:t>Información</a:t>
            </a:r>
            <a:endParaRPr lang="en-US" sz="1400" dirty="0"/>
          </a:p>
        </p:txBody>
      </p:sp>
      <p:sp>
        <p:nvSpPr>
          <p:cNvPr id="17" name="mosaico-15"/>
          <p:cNvSpPr/>
          <p:nvPr/>
        </p:nvSpPr>
        <p:spPr>
          <a:xfrm>
            <a:off x="9601200" y="3429000"/>
            <a:ext cx="1874520" cy="1874520"/>
          </a:xfrm>
          <a:prstGeom prst="roundRect">
            <a:avLst>
              <a:gd name="adj" fmla="val 8780"/>
            </a:avLst>
          </a:prstGeom>
          <a:solidFill>
            <a:srgbClr val="F0A46C"/>
          </a:solidFill>
          <a:ln/>
        </p:spPr>
      </p:sp>
      <p:sp>
        <p:nvSpPr>
          <p:cNvPr id="18" name="texto-16"/>
          <p:cNvSpPr txBox="1"/>
          <p:nvPr/>
        </p:nvSpPr>
        <p:spPr>
          <a:xfrm>
            <a:off x="9829800" y="3630168"/>
            <a:ext cx="1371600" cy="502920"/>
          </a:xfrm>
          <a:prstGeom prst="rect">
            <a:avLst/>
          </a:prstGeom>
          <a:noFill/>
          <a:ln/>
        </p:spPr>
        <p:txBody>
          <a:bodyPr wrap="square" lIns="0" tIns="0" rIns="0" bIns="0" rtlCol="0" anchor="t"/>
          <a:lstStyle/>
          <a:p>
            <a:pPr algn="l" indent="0" marL="0">
              <a:lnSpc>
                <a:spcPct val="110000"/>
              </a:lnSpc>
              <a:buNone/>
            </a:pPr>
            <a:r>
              <a:rPr lang="en-US" sz="2800" b="1" dirty="0">
                <a:solidFill>
                  <a:srgbClr val="12343B"/>
                </a:solidFill>
                <a:latin typeface="Cambria" pitchFamily="34" charset="0"/>
                <a:ea typeface="Cambria" pitchFamily="34" charset="-122"/>
                <a:cs typeface="Cambria" pitchFamily="34" charset="-120"/>
              </a:rPr>
              <a:t>04</a:t>
            </a:r>
            <a:endParaRPr lang="en-US" sz="2800" dirty="0"/>
          </a:p>
        </p:txBody>
      </p:sp>
      <p:sp>
        <p:nvSpPr>
          <p:cNvPr id="19" name="texto-17"/>
          <p:cNvSpPr txBox="1"/>
          <p:nvPr/>
        </p:nvSpPr>
        <p:spPr>
          <a:xfrm>
            <a:off x="9829800" y="4754880"/>
            <a:ext cx="1554480" cy="320040"/>
          </a:xfrm>
          <a:prstGeom prst="rect">
            <a:avLst/>
          </a:prstGeom>
          <a:noFill/>
          <a:ln/>
        </p:spPr>
        <p:txBody>
          <a:bodyPr wrap="square" lIns="0" tIns="0" rIns="0" bIns="0" rtlCol="0" anchor="t"/>
          <a:lstStyle/>
          <a:p>
            <a:pPr algn="l" indent="0" marL="0">
              <a:lnSpc>
                <a:spcPct val="110000"/>
              </a:lnSpc>
              <a:buNone/>
            </a:pPr>
            <a:r>
              <a:rPr lang="en-US" sz="1400" b="1" dirty="0">
                <a:solidFill>
                  <a:srgbClr val="12343B"/>
                </a:solidFill>
              </a:rPr>
              <a:t>Acreditación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INTRODUCCIÓN</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Entre la norma y la realidad</a:t>
            </a:r>
            <a:endParaRPr lang="en-US" sz="3200" dirty="0"/>
          </a:p>
        </p:txBody>
      </p:sp>
      <p:sp>
        <p:nvSpPr>
          <p:cNvPr id="4" name="texto-18"/>
          <p:cNvSpPr txBox="1"/>
          <p:nvPr/>
        </p:nvSpPr>
        <p:spPr>
          <a:xfrm>
            <a:off x="548640" y="1783080"/>
            <a:ext cx="5943600" cy="4023360"/>
          </a:xfrm>
          <a:prstGeom prst="rect">
            <a:avLst/>
          </a:prstGeom>
          <a:noFill/>
          <a:ln/>
        </p:spPr>
        <p:txBody>
          <a:bodyPr wrap="square" lIns="0" tIns="0" rIns="0" bIns="0" rtlCol="0" anchor="t"/>
          <a:lstStyle/>
          <a:p>
            <a:pPr indent="0" marL="0">
              <a:lnSpc>
                <a:spcPct val="120000"/>
              </a:lnSpc>
              <a:spcAft>
                <a:spcPts val="1400"/>
              </a:spcAft>
              <a:buNone/>
            </a:pPr>
            <a:r>
              <a:rPr lang="en-US" sz="1600" dirty="0">
                <a:solidFill>
                  <a:schemeClr val="tx2"/>
                </a:solidFill>
              </a:rPr>
              <a:t>Desde 2006 Colombia cuenta con el </a:t>
            </a:r>
            <a:pPr indent="0" marL="0">
              <a:lnSpc>
                <a:spcPct val="120000"/>
              </a:lnSpc>
              <a:spcAft>
                <a:spcPts val="1400"/>
              </a:spcAft>
              <a:buNone/>
            </a:pPr>
            <a:r>
              <a:rPr lang="en-US" sz="1600" b="1" dirty="0">
                <a:solidFill>
                  <a:schemeClr val="tx2"/>
                </a:solidFill>
              </a:rPr>
              <a:t>Sistema Obligatorio de Garantía de la Calidad en Salud (SOGC)</a:t>
            </a:r>
            <a:pPr indent="0" marL="0">
              <a:lnSpc>
                <a:spcPct val="120000"/>
              </a:lnSpc>
              <a:spcAft>
                <a:spcPts val="1400"/>
              </a:spcAft>
              <a:buNone/>
            </a:pPr>
            <a:r>
              <a:rPr lang="en-US" sz="1600" dirty="0">
                <a:solidFill>
                  <a:schemeClr val="tx2"/>
                </a:solidFill>
              </a:rPr>
              <a:t>, que define cómo se genera, mantiene y mejora la calidad de los servicios de salud (Decreto 1011, 2006).</a:t>
            </a:r>
            <a:endParaRPr lang="en-US" sz="1600" dirty="0"/>
          </a:p>
          <a:p>
            <a:pPr indent="0" marL="0">
              <a:lnSpc>
                <a:spcPct val="120000"/>
              </a:lnSpc>
              <a:spcAft>
                <a:spcPts val="1400"/>
              </a:spcAft>
              <a:buNone/>
            </a:pPr>
            <a:r>
              <a:rPr lang="en-US" sz="1600" dirty="0">
                <a:solidFill>
                  <a:schemeClr val="tx2"/>
                </a:solidFill>
              </a:rPr>
              <a:t>Aun así, usuarios y profesionales siguen percibiendo barreras de acceso, demoras y fallas en la seguridad de la atención.</a:t>
            </a:r>
            <a:endParaRPr lang="en-US" sz="1600" dirty="0"/>
          </a:p>
          <a:p>
            <a:pPr indent="0" marL="0">
              <a:lnSpc>
                <a:spcPct val="120000"/>
              </a:lnSpc>
              <a:spcAft>
                <a:spcPts val="1400"/>
              </a:spcAft>
              <a:buNone/>
            </a:pPr>
            <a:r>
              <a:rPr lang="en-US" sz="1600" dirty="0">
                <a:solidFill>
                  <a:schemeClr val="tx2"/>
                </a:solidFill>
              </a:rPr>
              <a:t>Esta presentación recorre los </a:t>
            </a:r>
            <a:pPr indent="0" marL="0">
              <a:lnSpc>
                <a:spcPct val="120000"/>
              </a:lnSpc>
              <a:spcAft>
                <a:spcPts val="1400"/>
              </a:spcAft>
              <a:buNone/>
            </a:pPr>
            <a:r>
              <a:rPr lang="en-US" sz="1600" b="1" dirty="0">
                <a:solidFill>
                  <a:schemeClr val="tx2"/>
                </a:solidFill>
              </a:rPr>
              <a:t>cuatro componentes</a:t>
            </a:r>
            <a:pPr indent="0" marL="0">
              <a:lnSpc>
                <a:spcPct val="120000"/>
              </a:lnSpc>
              <a:spcAft>
                <a:spcPts val="1400"/>
              </a:spcAft>
              <a:buNone/>
            </a:pPr>
            <a:r>
              <a:rPr lang="en-US" sz="1600" dirty="0">
                <a:solidFill>
                  <a:schemeClr val="tx2"/>
                </a:solidFill>
              </a:rPr>
              <a:t> del SOGC, su aplicación en cada </a:t>
            </a:r>
            <a:pPr indent="0" marL="0">
              <a:lnSpc>
                <a:spcPct val="120000"/>
              </a:lnSpc>
              <a:spcAft>
                <a:spcPts val="1400"/>
              </a:spcAft>
              <a:buNone/>
            </a:pPr>
            <a:r>
              <a:rPr lang="en-US" sz="1600" b="1" dirty="0">
                <a:solidFill>
                  <a:schemeClr val="tx2"/>
                </a:solidFill>
              </a:rPr>
              <a:t>actor</a:t>
            </a:r>
            <a:pPr indent="0" marL="0">
              <a:lnSpc>
                <a:spcPct val="120000"/>
              </a:lnSpc>
              <a:spcAft>
                <a:spcPts val="1400"/>
              </a:spcAft>
              <a:buNone/>
            </a:pPr>
            <a:r>
              <a:rPr lang="en-US" sz="1600" dirty="0">
                <a:solidFill>
                  <a:schemeClr val="tx2"/>
                </a:solidFill>
              </a:rPr>
              <a:t> del sistema y una </a:t>
            </a:r>
            <a:pPr indent="0" marL="0">
              <a:lnSpc>
                <a:spcPct val="120000"/>
              </a:lnSpc>
              <a:spcAft>
                <a:spcPts val="1400"/>
              </a:spcAft>
              <a:buNone/>
            </a:pPr>
            <a:r>
              <a:rPr lang="en-US" sz="1600" b="1" dirty="0">
                <a:solidFill>
                  <a:schemeClr val="tx2"/>
                </a:solidFill>
              </a:rPr>
              <a:t>propuesta</a:t>
            </a:r>
            <a:pPr indent="0" marL="0">
              <a:lnSpc>
                <a:spcPct val="120000"/>
              </a:lnSpc>
              <a:spcAft>
                <a:spcPts val="1400"/>
              </a:spcAft>
              <a:buNone/>
            </a:pPr>
            <a:r>
              <a:rPr lang="en-US" sz="1600" dirty="0">
                <a:solidFill>
                  <a:schemeClr val="tx2"/>
                </a:solidFill>
              </a:rPr>
              <a:t> para acercar la norma a la práctica.</a:t>
            </a:r>
            <a:endParaRPr lang="en-US" sz="1600" dirty="0"/>
          </a:p>
        </p:txBody>
      </p:sp>
      <p:sp>
        <p:nvSpPr>
          <p:cNvPr id="5" name="tarjeta-19"/>
          <p:cNvSpPr/>
          <p:nvPr/>
        </p:nvSpPr>
        <p:spPr>
          <a:xfrm>
            <a:off x="6949440" y="1783080"/>
            <a:ext cx="4690872" cy="3931920"/>
          </a:xfrm>
          <a:prstGeom prst="roundRect">
            <a:avLst>
              <a:gd name="adj" fmla="val 4186"/>
            </a:avLst>
          </a:prstGeom>
          <a:solidFill>
            <a:srgbClr val="12343B"/>
          </a:solidFill>
          <a:ln/>
        </p:spPr>
      </p:sp>
      <p:pic>
        <p:nvPicPr>
          <p:cNvPr id="6" name="icono-20" descr="Search">    </p:cNvPr>
          <p:cNvPicPr>
            <a:picLocks noChangeAspect="1"/>
          </p:cNvPicPr>
          <p:nvPr/>
        </p:nvPicPr>
        <p:blipFill>
          <a:blip r:embed="rId1"/>
          <a:stretch>
            <a:fillRect/>
          </a:stretch>
        </p:blipFill>
        <p:spPr>
          <a:xfrm>
            <a:off x="7269480" y="2103120"/>
            <a:ext cx="411480" cy="411480"/>
          </a:xfrm>
          <a:prstGeom prst="rect">
            <a:avLst/>
          </a:prstGeom>
        </p:spPr>
      </p:pic>
      <p:sp>
        <p:nvSpPr>
          <p:cNvPr id="7" name="texto-21"/>
          <p:cNvSpPr txBox="1"/>
          <p:nvPr/>
        </p:nvSpPr>
        <p:spPr>
          <a:xfrm>
            <a:off x="7269480" y="2697480"/>
            <a:ext cx="4114800" cy="27432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F0A46C"/>
                </a:solidFill>
              </a:rPr>
              <a:t>PREGUNTA PROBLEMA</a:t>
            </a:r>
            <a:endParaRPr lang="en-US" sz="1200" dirty="0"/>
          </a:p>
        </p:txBody>
      </p:sp>
      <p:sp>
        <p:nvSpPr>
          <p:cNvPr id="8" name="texto-22"/>
          <p:cNvSpPr txBox="1"/>
          <p:nvPr/>
        </p:nvSpPr>
        <p:spPr>
          <a:xfrm>
            <a:off x="7269480" y="3063240"/>
            <a:ext cx="4069080" cy="2377440"/>
          </a:xfrm>
          <a:prstGeom prst="rect">
            <a:avLst/>
          </a:prstGeom>
          <a:noFill/>
          <a:ln/>
        </p:spPr>
        <p:txBody>
          <a:bodyPr wrap="square" lIns="0" tIns="0" rIns="0" bIns="0" rtlCol="0" anchor="t"/>
          <a:lstStyle/>
          <a:p>
            <a:pPr algn="l" indent="0" marL="0">
              <a:lnSpc>
                <a:spcPct val="115000"/>
              </a:lnSpc>
              <a:buNone/>
            </a:pPr>
            <a:r>
              <a:rPr lang="en-US" sz="2000" i="1" dirty="0">
                <a:solidFill>
                  <a:srgbClr val="F6F4EF"/>
                </a:solidFill>
                <a:latin typeface="Cambria" pitchFamily="34" charset="0"/>
                <a:ea typeface="Cambria" pitchFamily="34" charset="-122"/>
                <a:cs typeface="Cambria" pitchFamily="34" charset="-120"/>
              </a:rPr>
              <a:t>A pesar de contar con un marco legal robusto, ¿por qué persisten las brechas en la calidad del servicio de salud en Colombia?</a:t>
            </a:r>
            <a:endParaRPr lang="en-US" sz="20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MARCO LEGAL</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Marco normativo de la calidad en salud</a:t>
            </a:r>
            <a:endParaRPr lang="en-US" sz="3200" dirty="0"/>
          </a:p>
        </p:txBody>
      </p:sp>
      <p:sp>
        <p:nvSpPr>
          <p:cNvPr id="4" name="linea-tiempo-23"/>
          <p:cNvSpPr/>
          <p:nvPr/>
        </p:nvSpPr>
        <p:spPr>
          <a:xfrm>
            <a:off x="548640" y="2011680"/>
            <a:ext cx="11091672" cy="0"/>
          </a:xfrm>
          <a:prstGeom prst="line">
            <a:avLst/>
          </a:prstGeom>
          <a:noFill/>
          <a:ln w="25400">
            <a:solidFill>
              <a:srgbClr val="12343B"/>
            </a:solidFill>
            <a:prstDash val="solid"/>
          </a:ln>
        </p:spPr>
      </p:sp>
      <p:sp>
        <p:nvSpPr>
          <p:cNvPr id="5" name="hito-24"/>
          <p:cNvSpPr/>
          <p:nvPr/>
        </p:nvSpPr>
        <p:spPr>
          <a:xfrm>
            <a:off x="548640" y="1901952"/>
            <a:ext cx="219456" cy="219456"/>
          </a:xfrm>
          <a:prstGeom prst="ellipse">
            <a:avLst/>
          </a:prstGeom>
          <a:solidFill>
            <a:srgbClr val="12343B"/>
          </a:solidFill>
          <a:ln w="25400">
            <a:solidFill>
              <a:srgbClr val="E7EFEC"/>
            </a:solidFill>
            <a:prstDash val="solid"/>
          </a:ln>
        </p:spPr>
      </p:sp>
      <p:sp>
        <p:nvSpPr>
          <p:cNvPr id="6" name="texto-25"/>
          <p:cNvSpPr txBox="1"/>
          <p:nvPr/>
        </p:nvSpPr>
        <p:spPr>
          <a:xfrm>
            <a:off x="548640"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1993</a:t>
            </a:r>
            <a:endParaRPr lang="en-US" sz="2200" dirty="0"/>
          </a:p>
        </p:txBody>
      </p:sp>
      <p:sp>
        <p:nvSpPr>
          <p:cNvPr id="7" name="texto-26"/>
          <p:cNvSpPr txBox="1"/>
          <p:nvPr/>
        </p:nvSpPr>
        <p:spPr>
          <a:xfrm>
            <a:off x="548640"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Ley 100</a:t>
            </a:r>
            <a:endParaRPr lang="en-US" sz="1400" dirty="0"/>
          </a:p>
        </p:txBody>
      </p:sp>
      <p:sp>
        <p:nvSpPr>
          <p:cNvPr id="8" name="texto-27"/>
          <p:cNvSpPr txBox="1"/>
          <p:nvPr/>
        </p:nvSpPr>
        <p:spPr>
          <a:xfrm>
            <a:off x="548640"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Crea el SGSSS y ordena garantizar la calidad.</a:t>
            </a:r>
            <a:endParaRPr lang="en-US" sz="1300" dirty="0"/>
          </a:p>
        </p:txBody>
      </p:sp>
      <p:sp>
        <p:nvSpPr>
          <p:cNvPr id="9" name="hito-28"/>
          <p:cNvSpPr/>
          <p:nvPr/>
        </p:nvSpPr>
        <p:spPr>
          <a:xfrm>
            <a:off x="2155371" y="1901952"/>
            <a:ext cx="219456" cy="219456"/>
          </a:xfrm>
          <a:prstGeom prst="ellipse">
            <a:avLst/>
          </a:prstGeom>
          <a:solidFill>
            <a:srgbClr val="A9501F"/>
          </a:solidFill>
          <a:ln w="25400">
            <a:solidFill>
              <a:srgbClr val="E7EFEC"/>
            </a:solidFill>
            <a:prstDash val="solid"/>
          </a:ln>
        </p:spPr>
      </p:sp>
      <p:sp>
        <p:nvSpPr>
          <p:cNvPr id="10" name="texto-29"/>
          <p:cNvSpPr txBox="1"/>
          <p:nvPr/>
        </p:nvSpPr>
        <p:spPr>
          <a:xfrm>
            <a:off x="2155371"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2006</a:t>
            </a:r>
            <a:endParaRPr lang="en-US" sz="2200" dirty="0"/>
          </a:p>
        </p:txBody>
      </p:sp>
      <p:sp>
        <p:nvSpPr>
          <p:cNvPr id="11" name="texto-30"/>
          <p:cNvSpPr txBox="1"/>
          <p:nvPr/>
        </p:nvSpPr>
        <p:spPr>
          <a:xfrm>
            <a:off x="2155371"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Decreto 1011</a:t>
            </a:r>
            <a:endParaRPr lang="en-US" sz="1400" dirty="0"/>
          </a:p>
        </p:txBody>
      </p:sp>
      <p:sp>
        <p:nvSpPr>
          <p:cNvPr id="12" name="texto-31"/>
          <p:cNvSpPr txBox="1"/>
          <p:nvPr/>
        </p:nvSpPr>
        <p:spPr>
          <a:xfrm>
            <a:off x="2155371"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Establece el SOGC y sus cuatro componentes.</a:t>
            </a:r>
            <a:endParaRPr lang="en-US" sz="1300" dirty="0"/>
          </a:p>
        </p:txBody>
      </p:sp>
      <p:sp>
        <p:nvSpPr>
          <p:cNvPr id="13" name="hito-32"/>
          <p:cNvSpPr/>
          <p:nvPr/>
        </p:nvSpPr>
        <p:spPr>
          <a:xfrm>
            <a:off x="3762103" y="1901952"/>
            <a:ext cx="219456" cy="219456"/>
          </a:xfrm>
          <a:prstGeom prst="ellipse">
            <a:avLst/>
          </a:prstGeom>
          <a:solidFill>
            <a:srgbClr val="12343B"/>
          </a:solidFill>
          <a:ln w="25400">
            <a:solidFill>
              <a:srgbClr val="E7EFEC"/>
            </a:solidFill>
            <a:prstDash val="solid"/>
          </a:ln>
        </p:spPr>
      </p:sp>
      <p:sp>
        <p:nvSpPr>
          <p:cNvPr id="14" name="texto-33"/>
          <p:cNvSpPr txBox="1"/>
          <p:nvPr/>
        </p:nvSpPr>
        <p:spPr>
          <a:xfrm>
            <a:off x="3762103"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2015</a:t>
            </a:r>
            <a:endParaRPr lang="en-US" sz="2200" dirty="0"/>
          </a:p>
        </p:txBody>
      </p:sp>
      <p:sp>
        <p:nvSpPr>
          <p:cNvPr id="15" name="texto-34"/>
          <p:cNvSpPr txBox="1"/>
          <p:nvPr/>
        </p:nvSpPr>
        <p:spPr>
          <a:xfrm>
            <a:off x="3762103"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Ley 1751</a:t>
            </a:r>
            <a:endParaRPr lang="en-US" sz="1400" dirty="0"/>
          </a:p>
        </p:txBody>
      </p:sp>
      <p:sp>
        <p:nvSpPr>
          <p:cNvPr id="16" name="texto-35"/>
          <p:cNvSpPr txBox="1"/>
          <p:nvPr/>
        </p:nvSpPr>
        <p:spPr>
          <a:xfrm>
            <a:off x="3762103"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Estatutaria: la salud como derecho fundamental.</a:t>
            </a:r>
            <a:endParaRPr lang="en-US" sz="1300" dirty="0"/>
          </a:p>
        </p:txBody>
      </p:sp>
      <p:sp>
        <p:nvSpPr>
          <p:cNvPr id="17" name="hito-36"/>
          <p:cNvSpPr/>
          <p:nvPr/>
        </p:nvSpPr>
        <p:spPr>
          <a:xfrm>
            <a:off x="5368834" y="1901952"/>
            <a:ext cx="219456" cy="219456"/>
          </a:xfrm>
          <a:prstGeom prst="ellipse">
            <a:avLst/>
          </a:prstGeom>
          <a:solidFill>
            <a:srgbClr val="12343B"/>
          </a:solidFill>
          <a:ln w="25400">
            <a:solidFill>
              <a:srgbClr val="E7EFEC"/>
            </a:solidFill>
            <a:prstDash val="solid"/>
          </a:ln>
        </p:spPr>
      </p:sp>
      <p:sp>
        <p:nvSpPr>
          <p:cNvPr id="18" name="texto-37"/>
          <p:cNvSpPr txBox="1"/>
          <p:nvPr/>
        </p:nvSpPr>
        <p:spPr>
          <a:xfrm>
            <a:off x="5368834"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2016</a:t>
            </a:r>
            <a:endParaRPr lang="en-US" sz="2200" dirty="0"/>
          </a:p>
        </p:txBody>
      </p:sp>
      <p:sp>
        <p:nvSpPr>
          <p:cNvPr id="19" name="texto-38"/>
          <p:cNvSpPr txBox="1"/>
          <p:nvPr/>
        </p:nvSpPr>
        <p:spPr>
          <a:xfrm>
            <a:off x="5368834"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Decreto 780</a:t>
            </a:r>
            <a:endParaRPr lang="en-US" sz="1400" dirty="0"/>
          </a:p>
        </p:txBody>
      </p:sp>
      <p:sp>
        <p:nvSpPr>
          <p:cNvPr id="20" name="texto-39"/>
          <p:cNvSpPr txBox="1"/>
          <p:nvPr/>
        </p:nvSpPr>
        <p:spPr>
          <a:xfrm>
            <a:off x="5368834"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Compila el Decreto 1011 en el Decreto Único.</a:t>
            </a:r>
            <a:endParaRPr lang="en-US" sz="1300" dirty="0"/>
          </a:p>
        </p:txBody>
      </p:sp>
      <p:sp>
        <p:nvSpPr>
          <p:cNvPr id="21" name="hito-40"/>
          <p:cNvSpPr/>
          <p:nvPr/>
        </p:nvSpPr>
        <p:spPr>
          <a:xfrm>
            <a:off x="6975566" y="1901952"/>
            <a:ext cx="219456" cy="219456"/>
          </a:xfrm>
          <a:prstGeom prst="ellipse">
            <a:avLst/>
          </a:prstGeom>
          <a:solidFill>
            <a:srgbClr val="12343B"/>
          </a:solidFill>
          <a:ln w="25400">
            <a:solidFill>
              <a:srgbClr val="E7EFEC"/>
            </a:solidFill>
            <a:prstDash val="solid"/>
          </a:ln>
        </p:spPr>
      </p:sp>
      <p:sp>
        <p:nvSpPr>
          <p:cNvPr id="22" name="texto-41"/>
          <p:cNvSpPr txBox="1"/>
          <p:nvPr/>
        </p:nvSpPr>
        <p:spPr>
          <a:xfrm>
            <a:off x="6975566"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2016</a:t>
            </a:r>
            <a:endParaRPr lang="en-US" sz="2200" dirty="0"/>
          </a:p>
        </p:txBody>
      </p:sp>
      <p:sp>
        <p:nvSpPr>
          <p:cNvPr id="23" name="texto-42"/>
          <p:cNvSpPr txBox="1"/>
          <p:nvPr/>
        </p:nvSpPr>
        <p:spPr>
          <a:xfrm>
            <a:off x="6975566"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Res. 256</a:t>
            </a:r>
            <a:endParaRPr lang="en-US" sz="1400" dirty="0"/>
          </a:p>
        </p:txBody>
      </p:sp>
      <p:sp>
        <p:nvSpPr>
          <p:cNvPr id="24" name="texto-43"/>
          <p:cNvSpPr txBox="1"/>
          <p:nvPr/>
        </p:nvSpPr>
        <p:spPr>
          <a:xfrm>
            <a:off x="6975566"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Sistema de Información para la Calidad.</a:t>
            </a:r>
            <a:endParaRPr lang="en-US" sz="1300" dirty="0"/>
          </a:p>
        </p:txBody>
      </p:sp>
      <p:sp>
        <p:nvSpPr>
          <p:cNvPr id="25" name="hito-44"/>
          <p:cNvSpPr/>
          <p:nvPr/>
        </p:nvSpPr>
        <p:spPr>
          <a:xfrm>
            <a:off x="8582297" y="1901952"/>
            <a:ext cx="219456" cy="219456"/>
          </a:xfrm>
          <a:prstGeom prst="ellipse">
            <a:avLst/>
          </a:prstGeom>
          <a:solidFill>
            <a:srgbClr val="12343B"/>
          </a:solidFill>
          <a:ln w="25400">
            <a:solidFill>
              <a:srgbClr val="E7EFEC"/>
            </a:solidFill>
            <a:prstDash val="solid"/>
          </a:ln>
        </p:spPr>
      </p:sp>
      <p:sp>
        <p:nvSpPr>
          <p:cNvPr id="26" name="texto-45"/>
          <p:cNvSpPr txBox="1"/>
          <p:nvPr/>
        </p:nvSpPr>
        <p:spPr>
          <a:xfrm>
            <a:off x="8582297"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2018</a:t>
            </a:r>
            <a:endParaRPr lang="en-US" sz="2200" dirty="0"/>
          </a:p>
        </p:txBody>
      </p:sp>
      <p:sp>
        <p:nvSpPr>
          <p:cNvPr id="27" name="texto-46"/>
          <p:cNvSpPr txBox="1"/>
          <p:nvPr/>
        </p:nvSpPr>
        <p:spPr>
          <a:xfrm>
            <a:off x="8582297"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Res. 5095</a:t>
            </a:r>
            <a:endParaRPr lang="en-US" sz="1400" dirty="0"/>
          </a:p>
        </p:txBody>
      </p:sp>
      <p:sp>
        <p:nvSpPr>
          <p:cNvPr id="28" name="texto-47"/>
          <p:cNvSpPr txBox="1"/>
          <p:nvPr/>
        </p:nvSpPr>
        <p:spPr>
          <a:xfrm>
            <a:off x="8582297"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Manual de Acreditación, versión 3.1.</a:t>
            </a:r>
            <a:endParaRPr lang="en-US" sz="1300" dirty="0"/>
          </a:p>
        </p:txBody>
      </p:sp>
      <p:sp>
        <p:nvSpPr>
          <p:cNvPr id="29" name="hito-48"/>
          <p:cNvSpPr/>
          <p:nvPr/>
        </p:nvSpPr>
        <p:spPr>
          <a:xfrm>
            <a:off x="10189029" y="1901952"/>
            <a:ext cx="219456" cy="219456"/>
          </a:xfrm>
          <a:prstGeom prst="ellipse">
            <a:avLst/>
          </a:prstGeom>
          <a:solidFill>
            <a:srgbClr val="12343B"/>
          </a:solidFill>
          <a:ln w="25400">
            <a:solidFill>
              <a:srgbClr val="E7EFEC"/>
            </a:solidFill>
            <a:prstDash val="solid"/>
          </a:ln>
        </p:spPr>
      </p:sp>
      <p:sp>
        <p:nvSpPr>
          <p:cNvPr id="30" name="texto-49"/>
          <p:cNvSpPr txBox="1"/>
          <p:nvPr/>
        </p:nvSpPr>
        <p:spPr>
          <a:xfrm>
            <a:off x="10189029" y="2240280"/>
            <a:ext cx="1451283" cy="411480"/>
          </a:xfrm>
          <a:prstGeom prst="rect">
            <a:avLst/>
          </a:prstGeom>
          <a:noFill/>
          <a:ln/>
        </p:spPr>
        <p:txBody>
          <a:bodyPr wrap="square" lIns="0" tIns="0" rIns="0" bIns="0" rtlCol="0" anchor="t"/>
          <a:lstStyle/>
          <a:p>
            <a:pPr algn="l" indent="0" marL="0">
              <a:lnSpc>
                <a:spcPct val="110000"/>
              </a:lnSpc>
              <a:buNone/>
            </a:pPr>
            <a:r>
              <a:rPr lang="en-US" sz="2200" b="1" dirty="0">
                <a:solidFill>
                  <a:srgbClr val="A9501F"/>
                </a:solidFill>
                <a:latin typeface="Cambria" pitchFamily="34" charset="0"/>
                <a:ea typeface="Cambria" pitchFamily="34" charset="-122"/>
                <a:cs typeface="Cambria" pitchFamily="34" charset="-120"/>
              </a:rPr>
              <a:t>2019</a:t>
            </a:r>
            <a:endParaRPr lang="en-US" sz="2200" dirty="0"/>
          </a:p>
        </p:txBody>
      </p:sp>
      <p:sp>
        <p:nvSpPr>
          <p:cNvPr id="31" name="texto-50"/>
          <p:cNvSpPr txBox="1"/>
          <p:nvPr/>
        </p:nvSpPr>
        <p:spPr>
          <a:xfrm>
            <a:off x="10189029" y="2697480"/>
            <a:ext cx="1451283"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Res. 3100</a:t>
            </a:r>
            <a:endParaRPr lang="en-US" sz="1400" dirty="0"/>
          </a:p>
        </p:txBody>
      </p:sp>
      <p:sp>
        <p:nvSpPr>
          <p:cNvPr id="32" name="texto-51"/>
          <p:cNvSpPr txBox="1"/>
          <p:nvPr/>
        </p:nvSpPr>
        <p:spPr>
          <a:xfrm>
            <a:off x="10189029" y="3035808"/>
            <a:ext cx="1405563" cy="109728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Inscripción de prestadores y habilitación.</a:t>
            </a:r>
            <a:endParaRPr lang="en-US" sz="1300" dirty="0"/>
          </a:p>
        </p:txBody>
      </p:sp>
      <p:sp>
        <p:nvSpPr>
          <p:cNvPr id="33" name="tarjeta-52"/>
          <p:cNvSpPr/>
          <p:nvPr/>
        </p:nvSpPr>
        <p:spPr>
          <a:xfrm>
            <a:off x="548640" y="4526280"/>
            <a:ext cx="11091672" cy="1005840"/>
          </a:xfrm>
          <a:prstGeom prst="roundRect">
            <a:avLst>
              <a:gd name="adj" fmla="val 10909"/>
            </a:avLst>
          </a:prstGeom>
          <a:solidFill>
            <a:srgbClr val="F6F4EF"/>
          </a:solidFill>
          <a:ln/>
        </p:spPr>
      </p:sp>
      <p:pic>
        <p:nvPicPr>
          <p:cNvPr id="34" name="icono-53" descr="Book">    </p:cNvPr>
          <p:cNvPicPr>
            <a:picLocks noChangeAspect="1"/>
          </p:cNvPicPr>
          <p:nvPr/>
        </p:nvPicPr>
        <p:blipFill>
          <a:blip r:embed="rId1"/>
          <a:stretch>
            <a:fillRect/>
          </a:stretch>
        </p:blipFill>
        <p:spPr>
          <a:xfrm>
            <a:off x="822960" y="4800600"/>
            <a:ext cx="457200" cy="457200"/>
          </a:xfrm>
          <a:prstGeom prst="rect">
            <a:avLst/>
          </a:prstGeom>
        </p:spPr>
      </p:pic>
      <p:sp>
        <p:nvSpPr>
          <p:cNvPr id="35" name="texto-54"/>
          <p:cNvSpPr txBox="1"/>
          <p:nvPr/>
        </p:nvSpPr>
        <p:spPr>
          <a:xfrm>
            <a:off x="1508760" y="4526280"/>
            <a:ext cx="9875520" cy="1005840"/>
          </a:xfrm>
          <a:prstGeom prst="rect">
            <a:avLst/>
          </a:prstGeom>
          <a:noFill/>
          <a:ln/>
        </p:spPr>
        <p:txBody>
          <a:bodyPr wrap="square" lIns="0" tIns="0" rIns="0" bIns="0" rtlCol="0" anchor="ctr"/>
          <a:lstStyle/>
          <a:p>
            <a:pPr indent="0" marL="0">
              <a:buNone/>
            </a:pPr>
            <a:r>
              <a:rPr lang="en-US" sz="1500" dirty="0">
                <a:solidFill>
                  <a:schemeClr val="tx1"/>
                </a:solidFill>
              </a:rPr>
              <a:t>El Decreto 1011 de 2006 hoy está compilado en el </a:t>
            </a:r>
            <a:pPr indent="0" marL="0">
              <a:buNone/>
            </a:pPr>
            <a:r>
              <a:rPr lang="en-US" sz="1500" b="1" dirty="0">
                <a:solidFill>
                  <a:schemeClr val="tx1"/>
                </a:solidFill>
              </a:rPr>
              <a:t>Decreto 780 de 2016</a:t>
            </a:r>
            <a:pPr indent="0" marL="0">
              <a:buNone/>
            </a:pPr>
            <a:r>
              <a:rPr lang="en-US" sz="1500" dirty="0">
                <a:solidFill>
                  <a:schemeClr val="tx1"/>
                </a:solidFill>
              </a:rPr>
              <a:t> (Libro 2, Parte 5, Título 1): sus reglas sobre calidad siguen vigentes.</a:t>
            </a:r>
            <a:endParaRPr lang="en-US" sz="15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CONCEPTO</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¿Qué es el SOGC?</a:t>
            </a:r>
            <a:endParaRPr lang="en-US" sz="3200" dirty="0"/>
          </a:p>
        </p:txBody>
      </p:sp>
      <p:sp>
        <p:nvSpPr>
          <p:cNvPr id="4" name="tarjeta-55"/>
          <p:cNvSpPr/>
          <p:nvPr/>
        </p:nvSpPr>
        <p:spPr>
          <a:xfrm>
            <a:off x="548640" y="1783080"/>
            <a:ext cx="5486400" cy="2788920"/>
          </a:xfrm>
          <a:prstGeom prst="roundRect">
            <a:avLst>
              <a:gd name="adj" fmla="val 3934"/>
            </a:avLst>
          </a:prstGeom>
          <a:solidFill>
            <a:srgbClr val="E7EFEC"/>
          </a:solidFill>
          <a:ln/>
        </p:spPr>
      </p:sp>
      <p:pic>
        <p:nvPicPr>
          <p:cNvPr id="5" name="icono-56" descr="Quote">    </p:cNvPr>
          <p:cNvPicPr>
            <a:picLocks noChangeAspect="1"/>
          </p:cNvPicPr>
          <p:nvPr/>
        </p:nvPicPr>
        <p:blipFill>
          <a:blip r:embed="rId1"/>
          <a:stretch>
            <a:fillRect/>
          </a:stretch>
        </p:blipFill>
        <p:spPr>
          <a:xfrm>
            <a:off x="822960" y="2011680"/>
            <a:ext cx="365760" cy="365760"/>
          </a:xfrm>
          <a:prstGeom prst="rect">
            <a:avLst/>
          </a:prstGeom>
        </p:spPr>
      </p:pic>
      <p:sp>
        <p:nvSpPr>
          <p:cNvPr id="6" name="texto-57"/>
          <p:cNvSpPr txBox="1"/>
          <p:nvPr/>
        </p:nvSpPr>
        <p:spPr>
          <a:xfrm>
            <a:off x="822960" y="2468880"/>
            <a:ext cx="4937760" cy="1600200"/>
          </a:xfrm>
          <a:prstGeom prst="rect">
            <a:avLst/>
          </a:prstGeom>
          <a:noFill/>
          <a:ln/>
        </p:spPr>
        <p:txBody>
          <a:bodyPr wrap="square" lIns="0" tIns="0" rIns="0" bIns="0" rtlCol="0" anchor="t"/>
          <a:lstStyle/>
          <a:p>
            <a:pPr algn="l" indent="0" marL="0">
              <a:lnSpc>
                <a:spcPct val="115000"/>
              </a:lnSpc>
              <a:buNone/>
            </a:pPr>
            <a:r>
              <a:rPr lang="en-US" sz="1500" i="1" dirty="0">
                <a:solidFill>
                  <a:schemeClr val="tx1"/>
                </a:solidFill>
                <a:latin typeface="Cambria" pitchFamily="34" charset="0"/>
                <a:ea typeface="Cambria" pitchFamily="34" charset="-122"/>
                <a:cs typeface="Cambria" pitchFamily="34" charset="-120"/>
              </a:rPr>
              <a:t>«Conjunto de instituciones, normas, requisitos, mecanismos y procesos deliberados y sistemáticos que desarrolla el sector salud para generar, mantener y mejorar la calidad de los servicios de salud en el país».</a:t>
            </a:r>
            <a:endParaRPr lang="en-US" sz="1500" dirty="0"/>
          </a:p>
        </p:txBody>
      </p:sp>
      <p:sp>
        <p:nvSpPr>
          <p:cNvPr id="7" name="texto-58"/>
          <p:cNvSpPr txBox="1"/>
          <p:nvPr/>
        </p:nvSpPr>
        <p:spPr>
          <a:xfrm>
            <a:off x="822960" y="4206240"/>
            <a:ext cx="4937760" cy="274320"/>
          </a:xfrm>
          <a:prstGeom prst="rect">
            <a:avLst/>
          </a:prstGeom>
          <a:noFill/>
          <a:ln/>
        </p:spPr>
        <p:txBody>
          <a:bodyPr wrap="square" lIns="0" tIns="0" rIns="0" bIns="0" rtlCol="0" anchor="t"/>
          <a:lstStyle/>
          <a:p>
            <a:pPr algn="l" indent="0" marL="0">
              <a:lnSpc>
                <a:spcPct val="110000"/>
              </a:lnSpc>
              <a:buNone/>
            </a:pPr>
            <a:r>
              <a:rPr lang="en-US" sz="1200" dirty="0">
                <a:solidFill>
                  <a:srgbClr val="5A6B70"/>
                </a:solidFill>
              </a:rPr>
              <a:t>(Decreto 1011, 2006, art. 2)</a:t>
            </a:r>
            <a:endParaRPr lang="en-US" sz="1200" dirty="0"/>
          </a:p>
        </p:txBody>
      </p:sp>
      <p:sp>
        <p:nvSpPr>
          <p:cNvPr id="8" name="texto-59"/>
          <p:cNvSpPr txBox="1"/>
          <p:nvPr/>
        </p:nvSpPr>
        <p:spPr>
          <a:xfrm>
            <a:off x="548640" y="4754880"/>
            <a:ext cx="5486400" cy="1188720"/>
          </a:xfrm>
          <a:prstGeom prst="rect">
            <a:avLst/>
          </a:prstGeom>
          <a:noFill/>
          <a:ln/>
        </p:spPr>
        <p:txBody>
          <a:bodyPr wrap="square" lIns="0" tIns="0" rIns="0" bIns="0" rtlCol="0" anchor="t"/>
          <a:lstStyle/>
          <a:p>
            <a:pPr indent="0" marL="0">
              <a:lnSpc>
                <a:spcPct val="115000"/>
              </a:lnSpc>
              <a:buNone/>
            </a:pPr>
            <a:r>
              <a:rPr lang="en-US" sz="1400" b="1" dirty="0">
                <a:solidFill>
                  <a:schemeClr val="tx2"/>
                </a:solidFill>
              </a:rPr>
              <a:t>Aplica a: </a:t>
            </a:r>
            <a:pPr indent="0" marL="0">
              <a:lnSpc>
                <a:spcPct val="115000"/>
              </a:lnSpc>
              <a:buNone/>
            </a:pPr>
            <a:r>
              <a:rPr lang="en-US" sz="1400" dirty="0">
                <a:solidFill>
                  <a:schemeClr val="tx2"/>
                </a:solidFill>
              </a:rPr>
              <a:t>prestadores de servicios de salud, EPS y demás entidades administradoras de planes de beneficios, entidades adaptadas, empresas de medicina prepagada y entidades territoriales de salud.</a:t>
            </a:r>
            <a:endParaRPr lang="en-US" sz="1400" dirty="0"/>
          </a:p>
        </p:txBody>
      </p:sp>
      <p:sp>
        <p:nvSpPr>
          <p:cNvPr id="9" name="texto-60"/>
          <p:cNvSpPr txBox="1"/>
          <p:nvPr/>
        </p:nvSpPr>
        <p:spPr>
          <a:xfrm>
            <a:off x="6492240" y="1783080"/>
            <a:ext cx="5120640" cy="27432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23675F"/>
                </a:solidFill>
              </a:rPr>
              <a:t>CARACTERÍSTICAS DE LA CALIDAD (ART. 3)</a:t>
            </a:r>
            <a:endParaRPr lang="en-US" sz="1200" dirty="0"/>
          </a:p>
        </p:txBody>
      </p:sp>
      <p:sp>
        <p:nvSpPr>
          <p:cNvPr id="10" name="circulo-61"/>
          <p:cNvSpPr/>
          <p:nvPr/>
        </p:nvSpPr>
        <p:spPr>
          <a:xfrm>
            <a:off x="6492240" y="2240280"/>
            <a:ext cx="512064" cy="512064"/>
          </a:xfrm>
          <a:prstGeom prst="ellipse">
            <a:avLst/>
          </a:prstGeom>
          <a:solidFill>
            <a:srgbClr val="E7EFEC"/>
          </a:solidFill>
          <a:ln/>
        </p:spPr>
      </p:sp>
      <p:pic>
        <p:nvPicPr>
          <p:cNvPr id="11" name="icono-62" descr="Users">    </p:cNvPr>
          <p:cNvPicPr>
            <a:picLocks noChangeAspect="1"/>
          </p:cNvPicPr>
          <p:nvPr/>
        </p:nvPicPr>
        <p:blipFill>
          <a:blip r:embed="rId2"/>
          <a:stretch>
            <a:fillRect/>
          </a:stretch>
        </p:blipFill>
        <p:spPr>
          <a:xfrm>
            <a:off x="6620256" y="2368296"/>
            <a:ext cx="256032" cy="256032"/>
          </a:xfrm>
          <a:prstGeom prst="rect">
            <a:avLst/>
          </a:prstGeom>
        </p:spPr>
      </p:pic>
      <p:sp>
        <p:nvSpPr>
          <p:cNvPr id="12" name="texto-63"/>
          <p:cNvSpPr txBox="1"/>
          <p:nvPr/>
        </p:nvSpPr>
        <p:spPr>
          <a:xfrm>
            <a:off x="7178040" y="2221992"/>
            <a:ext cx="4462272" cy="640080"/>
          </a:xfrm>
          <a:prstGeom prst="rect">
            <a:avLst/>
          </a:prstGeom>
          <a:noFill/>
          <a:ln/>
        </p:spPr>
        <p:txBody>
          <a:bodyPr wrap="square" lIns="0" tIns="0" rIns="0" bIns="0" rtlCol="0" anchor="t"/>
          <a:lstStyle/>
          <a:p>
            <a:pPr indent="0" marL="0">
              <a:lnSpc>
                <a:spcPct val="110000"/>
              </a:lnSpc>
              <a:buNone/>
            </a:pPr>
            <a:r>
              <a:rPr lang="en-US" sz="1400" b="1" dirty="0">
                <a:solidFill>
                  <a:schemeClr val="tx1"/>
                </a:solidFill>
              </a:rPr>
              <a:t>Accesibilidad:</a:t>
            </a:r>
            <a:pPr indent="0" marL="0">
              <a:lnSpc>
                <a:spcPct val="110000"/>
              </a:lnSpc>
              <a:buNone/>
            </a:pPr>
            <a:r>
              <a:rPr lang="en-US" sz="1400" dirty="0">
                <a:solidFill>
                  <a:schemeClr val="tx2"/>
                </a:solidFill>
              </a:rPr>
              <a:t> usar los servicios que garantiza el SGSSS.</a:t>
            </a:r>
            <a:endParaRPr lang="en-US" sz="1400" dirty="0"/>
          </a:p>
        </p:txBody>
      </p:sp>
      <p:sp>
        <p:nvSpPr>
          <p:cNvPr id="13" name="circulo-64"/>
          <p:cNvSpPr/>
          <p:nvPr/>
        </p:nvSpPr>
        <p:spPr>
          <a:xfrm>
            <a:off x="6492240" y="3008376"/>
            <a:ext cx="512064" cy="512064"/>
          </a:xfrm>
          <a:prstGeom prst="ellipse">
            <a:avLst/>
          </a:prstGeom>
          <a:solidFill>
            <a:srgbClr val="E7EFEC"/>
          </a:solidFill>
          <a:ln/>
        </p:spPr>
      </p:sp>
      <p:pic>
        <p:nvPicPr>
          <p:cNvPr id="14" name="icono-65" descr="Clock">    </p:cNvPr>
          <p:cNvPicPr>
            <a:picLocks noChangeAspect="1"/>
          </p:cNvPicPr>
          <p:nvPr/>
        </p:nvPicPr>
        <p:blipFill>
          <a:blip r:embed="rId3"/>
          <a:stretch>
            <a:fillRect/>
          </a:stretch>
        </p:blipFill>
        <p:spPr>
          <a:xfrm>
            <a:off x="6620256" y="3136392"/>
            <a:ext cx="256032" cy="256032"/>
          </a:xfrm>
          <a:prstGeom prst="rect">
            <a:avLst/>
          </a:prstGeom>
        </p:spPr>
      </p:pic>
      <p:sp>
        <p:nvSpPr>
          <p:cNvPr id="15" name="texto-66"/>
          <p:cNvSpPr txBox="1"/>
          <p:nvPr/>
        </p:nvSpPr>
        <p:spPr>
          <a:xfrm>
            <a:off x="7178040" y="2990088"/>
            <a:ext cx="4462272" cy="640080"/>
          </a:xfrm>
          <a:prstGeom prst="rect">
            <a:avLst/>
          </a:prstGeom>
          <a:noFill/>
          <a:ln/>
        </p:spPr>
        <p:txBody>
          <a:bodyPr wrap="square" lIns="0" tIns="0" rIns="0" bIns="0" rtlCol="0" anchor="t"/>
          <a:lstStyle/>
          <a:p>
            <a:pPr indent="0" marL="0">
              <a:lnSpc>
                <a:spcPct val="110000"/>
              </a:lnSpc>
              <a:buNone/>
            </a:pPr>
            <a:r>
              <a:rPr lang="en-US" sz="1400" b="1" dirty="0">
                <a:solidFill>
                  <a:schemeClr val="tx1"/>
                </a:solidFill>
              </a:rPr>
              <a:t>Oportunidad:</a:t>
            </a:r>
            <a:pPr indent="0" marL="0">
              <a:lnSpc>
                <a:spcPct val="110000"/>
              </a:lnSpc>
              <a:buNone/>
            </a:pPr>
            <a:r>
              <a:rPr lang="en-US" sz="1400" dirty="0">
                <a:solidFill>
                  <a:schemeClr val="tx2"/>
                </a:solidFill>
              </a:rPr>
              <a:t> recibir la atención sin retrasos que pongan en riesgo la vida o la salud.</a:t>
            </a:r>
            <a:endParaRPr lang="en-US" sz="1400" dirty="0"/>
          </a:p>
        </p:txBody>
      </p:sp>
      <p:sp>
        <p:nvSpPr>
          <p:cNvPr id="16" name="circulo-67"/>
          <p:cNvSpPr/>
          <p:nvPr/>
        </p:nvSpPr>
        <p:spPr>
          <a:xfrm>
            <a:off x="6492240" y="3776472"/>
            <a:ext cx="512064" cy="512064"/>
          </a:xfrm>
          <a:prstGeom prst="ellipse">
            <a:avLst/>
          </a:prstGeom>
          <a:solidFill>
            <a:srgbClr val="E7EFEC"/>
          </a:solidFill>
          <a:ln/>
        </p:spPr>
      </p:sp>
      <p:pic>
        <p:nvPicPr>
          <p:cNvPr id="17" name="icono-68" descr="Lock">    </p:cNvPr>
          <p:cNvPicPr>
            <a:picLocks noChangeAspect="1"/>
          </p:cNvPicPr>
          <p:nvPr/>
        </p:nvPicPr>
        <p:blipFill>
          <a:blip r:embed="rId4"/>
          <a:stretch>
            <a:fillRect/>
          </a:stretch>
        </p:blipFill>
        <p:spPr>
          <a:xfrm>
            <a:off x="6620256" y="3904488"/>
            <a:ext cx="256032" cy="256032"/>
          </a:xfrm>
          <a:prstGeom prst="rect">
            <a:avLst/>
          </a:prstGeom>
        </p:spPr>
      </p:pic>
      <p:sp>
        <p:nvSpPr>
          <p:cNvPr id="18" name="texto-69"/>
          <p:cNvSpPr txBox="1"/>
          <p:nvPr/>
        </p:nvSpPr>
        <p:spPr>
          <a:xfrm>
            <a:off x="7178040" y="3758184"/>
            <a:ext cx="4462272" cy="640080"/>
          </a:xfrm>
          <a:prstGeom prst="rect">
            <a:avLst/>
          </a:prstGeom>
          <a:noFill/>
          <a:ln/>
        </p:spPr>
        <p:txBody>
          <a:bodyPr wrap="square" lIns="0" tIns="0" rIns="0" bIns="0" rtlCol="0" anchor="t"/>
          <a:lstStyle/>
          <a:p>
            <a:pPr indent="0" marL="0">
              <a:lnSpc>
                <a:spcPct val="110000"/>
              </a:lnSpc>
              <a:buNone/>
            </a:pPr>
            <a:r>
              <a:rPr lang="en-US" sz="1400" b="1" dirty="0">
                <a:solidFill>
                  <a:schemeClr val="tx1"/>
                </a:solidFill>
              </a:rPr>
              <a:t>Seguridad:</a:t>
            </a:r>
            <a:pPr indent="0" marL="0">
              <a:lnSpc>
                <a:spcPct val="110000"/>
              </a:lnSpc>
              <a:buNone/>
            </a:pPr>
            <a:r>
              <a:rPr lang="en-US" sz="1400" dirty="0">
                <a:solidFill>
                  <a:schemeClr val="tx2"/>
                </a:solidFill>
              </a:rPr>
              <a:t> procesos que minimizan el riesgo de eventos adversos.</a:t>
            </a:r>
            <a:endParaRPr lang="en-US" sz="1400" dirty="0"/>
          </a:p>
        </p:txBody>
      </p:sp>
      <p:sp>
        <p:nvSpPr>
          <p:cNvPr id="19" name="circulo-70"/>
          <p:cNvSpPr/>
          <p:nvPr/>
        </p:nvSpPr>
        <p:spPr>
          <a:xfrm>
            <a:off x="6492240" y="4544568"/>
            <a:ext cx="512064" cy="512064"/>
          </a:xfrm>
          <a:prstGeom prst="ellipse">
            <a:avLst/>
          </a:prstGeom>
          <a:solidFill>
            <a:srgbClr val="E7EFEC"/>
          </a:solidFill>
          <a:ln/>
        </p:spPr>
      </p:sp>
      <p:pic>
        <p:nvPicPr>
          <p:cNvPr id="20" name="icono-71" descr="CheckCircle">    </p:cNvPr>
          <p:cNvPicPr>
            <a:picLocks noChangeAspect="1"/>
          </p:cNvPicPr>
          <p:nvPr/>
        </p:nvPicPr>
        <p:blipFill>
          <a:blip r:embed="rId5"/>
          <a:stretch>
            <a:fillRect/>
          </a:stretch>
        </p:blipFill>
        <p:spPr>
          <a:xfrm>
            <a:off x="6620256" y="4672584"/>
            <a:ext cx="256032" cy="256032"/>
          </a:xfrm>
          <a:prstGeom prst="rect">
            <a:avLst/>
          </a:prstGeom>
        </p:spPr>
      </p:pic>
      <p:sp>
        <p:nvSpPr>
          <p:cNvPr id="21" name="texto-72"/>
          <p:cNvSpPr txBox="1"/>
          <p:nvPr/>
        </p:nvSpPr>
        <p:spPr>
          <a:xfrm>
            <a:off x="7178040" y="4526280"/>
            <a:ext cx="4462272" cy="640080"/>
          </a:xfrm>
          <a:prstGeom prst="rect">
            <a:avLst/>
          </a:prstGeom>
          <a:noFill/>
          <a:ln/>
        </p:spPr>
        <p:txBody>
          <a:bodyPr wrap="square" lIns="0" tIns="0" rIns="0" bIns="0" rtlCol="0" anchor="t"/>
          <a:lstStyle/>
          <a:p>
            <a:pPr indent="0" marL="0">
              <a:lnSpc>
                <a:spcPct val="110000"/>
              </a:lnSpc>
              <a:buNone/>
            </a:pPr>
            <a:r>
              <a:rPr lang="en-US" sz="1400" b="1" dirty="0">
                <a:solidFill>
                  <a:schemeClr val="tx1"/>
                </a:solidFill>
              </a:rPr>
              <a:t>Pertinencia:</a:t>
            </a:r>
            <a:pPr indent="0" marL="0">
              <a:lnSpc>
                <a:spcPct val="110000"/>
              </a:lnSpc>
              <a:buNone/>
            </a:pPr>
            <a:r>
              <a:rPr lang="en-US" sz="1400" dirty="0">
                <a:solidFill>
                  <a:schemeClr val="tx2"/>
                </a:solidFill>
              </a:rPr>
              <a:t> recibir lo que se requiere según la evidencia científica.</a:t>
            </a:r>
            <a:endParaRPr lang="en-US" sz="1400" dirty="0"/>
          </a:p>
        </p:txBody>
      </p:sp>
      <p:sp>
        <p:nvSpPr>
          <p:cNvPr id="22" name="circulo-73"/>
          <p:cNvSpPr/>
          <p:nvPr/>
        </p:nvSpPr>
        <p:spPr>
          <a:xfrm>
            <a:off x="6492240" y="5312664"/>
            <a:ext cx="512064" cy="512064"/>
          </a:xfrm>
          <a:prstGeom prst="ellipse">
            <a:avLst/>
          </a:prstGeom>
          <a:solidFill>
            <a:srgbClr val="E7EFEC"/>
          </a:solidFill>
          <a:ln/>
        </p:spPr>
      </p:sp>
      <p:pic>
        <p:nvPicPr>
          <p:cNvPr id="23" name="icono-74" descr="Link">    </p:cNvPr>
          <p:cNvPicPr>
            <a:picLocks noChangeAspect="1"/>
          </p:cNvPicPr>
          <p:nvPr/>
        </p:nvPicPr>
        <p:blipFill>
          <a:blip r:embed="rId6"/>
          <a:stretch>
            <a:fillRect/>
          </a:stretch>
        </p:blipFill>
        <p:spPr>
          <a:xfrm>
            <a:off x="6620256" y="5440680"/>
            <a:ext cx="256032" cy="256032"/>
          </a:xfrm>
          <a:prstGeom prst="rect">
            <a:avLst/>
          </a:prstGeom>
        </p:spPr>
      </p:pic>
      <p:sp>
        <p:nvSpPr>
          <p:cNvPr id="24" name="texto-75"/>
          <p:cNvSpPr txBox="1"/>
          <p:nvPr/>
        </p:nvSpPr>
        <p:spPr>
          <a:xfrm>
            <a:off x="7178040" y="5294376"/>
            <a:ext cx="4462272" cy="640080"/>
          </a:xfrm>
          <a:prstGeom prst="rect">
            <a:avLst/>
          </a:prstGeom>
          <a:noFill/>
          <a:ln/>
        </p:spPr>
        <p:txBody>
          <a:bodyPr wrap="square" lIns="0" tIns="0" rIns="0" bIns="0" rtlCol="0" anchor="t"/>
          <a:lstStyle/>
          <a:p>
            <a:pPr indent="0" marL="0">
              <a:lnSpc>
                <a:spcPct val="110000"/>
              </a:lnSpc>
              <a:buNone/>
            </a:pPr>
            <a:r>
              <a:rPr lang="en-US" sz="1400" b="1" dirty="0">
                <a:solidFill>
                  <a:schemeClr val="tx1"/>
                </a:solidFill>
              </a:rPr>
              <a:t>Continuidad:</a:t>
            </a:r>
            <a:pPr indent="0" marL="0">
              <a:lnSpc>
                <a:spcPct val="110000"/>
              </a:lnSpc>
              <a:buNone/>
            </a:pPr>
            <a:r>
              <a:rPr lang="en-US" sz="1400" dirty="0">
                <a:solidFill>
                  <a:schemeClr val="tx2"/>
                </a:solidFill>
              </a:rPr>
              <a:t> una secuencia lógica de intervenciones, sin interrupciones.</a:t>
            </a:r>
            <a:endParaRPr lang="en-US" sz="14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3"/>
                </a:solidFill>
              </a:rPr>
              <a:t>ESTRUCTURA DEL SOGC · DECRETO 1011 DE 2006</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rgbClr val="F6F4EF"/>
                </a:solidFill>
                <a:latin typeface="Cambria" pitchFamily="34" charset="0"/>
                <a:ea typeface="Cambria" pitchFamily="34" charset="-122"/>
                <a:cs typeface="Cambria" pitchFamily="34" charset="-120"/>
              </a:rPr>
              <a:t>Cuatro componentes, un solo sistema</a:t>
            </a:r>
            <a:endParaRPr lang="en-US" sz="3200" dirty="0"/>
          </a:p>
        </p:txBody>
      </p:sp>
      <p:sp>
        <p:nvSpPr>
          <p:cNvPr id="4" name="tarjeta-76"/>
          <p:cNvSpPr/>
          <p:nvPr/>
        </p:nvSpPr>
        <p:spPr>
          <a:xfrm>
            <a:off x="548640" y="1783080"/>
            <a:ext cx="2601468" cy="4206240"/>
          </a:xfrm>
          <a:prstGeom prst="roundRect">
            <a:avLst>
              <a:gd name="adj" fmla="val 5272"/>
            </a:avLst>
          </a:prstGeom>
          <a:solidFill>
            <a:srgbClr val="1D4850"/>
          </a:solidFill>
          <a:ln/>
        </p:spPr>
      </p:sp>
      <p:sp>
        <p:nvSpPr>
          <p:cNvPr id="5" name="texto-77"/>
          <p:cNvSpPr txBox="1"/>
          <p:nvPr/>
        </p:nvSpPr>
        <p:spPr>
          <a:xfrm>
            <a:off x="822960" y="2039112"/>
            <a:ext cx="1371600" cy="457200"/>
          </a:xfrm>
          <a:prstGeom prst="rect">
            <a:avLst/>
          </a:prstGeom>
          <a:noFill/>
          <a:ln/>
        </p:spPr>
        <p:txBody>
          <a:bodyPr wrap="square" lIns="0" tIns="0" rIns="0" bIns="0" rtlCol="0" anchor="t"/>
          <a:lstStyle/>
          <a:p>
            <a:pPr algn="l" indent="0" marL="0">
              <a:lnSpc>
                <a:spcPct val="110000"/>
              </a:lnSpc>
              <a:buNone/>
            </a:pPr>
            <a:r>
              <a:rPr lang="en-US" sz="2600" b="1" dirty="0">
                <a:solidFill>
                  <a:srgbClr val="F0A46C"/>
                </a:solidFill>
                <a:latin typeface="Cambria" pitchFamily="34" charset="0"/>
                <a:ea typeface="Cambria" pitchFamily="34" charset="-122"/>
                <a:cs typeface="Cambria" pitchFamily="34" charset="-120"/>
              </a:rPr>
              <a:t>01</a:t>
            </a:r>
            <a:endParaRPr lang="en-US" sz="2600" dirty="0"/>
          </a:p>
        </p:txBody>
      </p:sp>
      <p:sp>
        <p:nvSpPr>
          <p:cNvPr id="6" name="texto-78"/>
          <p:cNvSpPr txBox="1"/>
          <p:nvPr/>
        </p:nvSpPr>
        <p:spPr>
          <a:xfrm>
            <a:off x="822960" y="2560320"/>
            <a:ext cx="2052828" cy="914400"/>
          </a:xfrm>
          <a:prstGeom prst="rect">
            <a:avLst/>
          </a:prstGeom>
          <a:noFill/>
          <a:ln/>
        </p:spPr>
        <p:txBody>
          <a:bodyPr wrap="square" lIns="0" tIns="0" rIns="0" bIns="0" rtlCol="0" anchor="t"/>
          <a:lstStyle/>
          <a:p>
            <a:pPr algn="l" indent="0" marL="0">
              <a:lnSpc>
                <a:spcPct val="105000"/>
              </a:lnSpc>
              <a:buNone/>
            </a:pPr>
            <a:r>
              <a:rPr lang="en-US" sz="1700" b="1" dirty="0">
                <a:solidFill>
                  <a:srgbClr val="F6F4EF"/>
                </a:solidFill>
                <a:latin typeface="Cambria" pitchFamily="34" charset="0"/>
                <a:ea typeface="Cambria" pitchFamily="34" charset="-122"/>
                <a:cs typeface="Cambria" pitchFamily="34" charset="-120"/>
              </a:rPr>
              <a:t>Sistema Único de Habilitación</a:t>
            </a:r>
            <a:endParaRPr lang="en-US" sz="1700" dirty="0"/>
          </a:p>
        </p:txBody>
      </p:sp>
      <p:sp>
        <p:nvSpPr>
          <p:cNvPr id="7" name="etiqueta-79"/>
          <p:cNvSpPr/>
          <p:nvPr/>
        </p:nvSpPr>
        <p:spPr>
          <a:xfrm>
            <a:off x="822960" y="3566160"/>
            <a:ext cx="1325880" cy="347472"/>
          </a:xfrm>
          <a:prstGeom prst="roundRect">
            <a:avLst>
              <a:gd name="adj" fmla="val 50000"/>
            </a:avLst>
          </a:prstGeom>
          <a:solidFill>
            <a:srgbClr val="F0A46C"/>
          </a:solidFill>
          <a:ln/>
        </p:spPr>
      </p:sp>
      <p:sp>
        <p:nvSpPr>
          <p:cNvPr id="8" name="texto-80"/>
          <p:cNvSpPr txBox="1"/>
          <p:nvPr/>
        </p:nvSpPr>
        <p:spPr>
          <a:xfrm>
            <a:off x="822960" y="3566160"/>
            <a:ext cx="1325880" cy="347472"/>
          </a:xfrm>
          <a:prstGeom prst="rect">
            <a:avLst/>
          </a:prstGeom>
          <a:noFill/>
          <a:ln/>
        </p:spPr>
        <p:txBody>
          <a:bodyPr wrap="square" lIns="0" tIns="0" rIns="0" bIns="0" rtlCol="0" anchor="ctr"/>
          <a:lstStyle/>
          <a:p>
            <a:pPr algn="ctr" indent="0" marL="0">
              <a:lnSpc>
                <a:spcPct val="110000"/>
              </a:lnSpc>
              <a:buNone/>
            </a:pPr>
            <a:r>
              <a:rPr lang="en-US" sz="1200" b="1" dirty="0">
                <a:solidFill>
                  <a:srgbClr val="12343B"/>
                </a:solidFill>
              </a:rPr>
              <a:t>Obligatorio</a:t>
            </a:r>
            <a:endParaRPr lang="en-US" sz="1200" dirty="0"/>
          </a:p>
        </p:txBody>
      </p:sp>
      <p:sp>
        <p:nvSpPr>
          <p:cNvPr id="9" name="texto-81"/>
          <p:cNvSpPr txBox="1"/>
          <p:nvPr/>
        </p:nvSpPr>
        <p:spPr>
          <a:xfrm>
            <a:off x="822960" y="4114800"/>
            <a:ext cx="2052828" cy="1188720"/>
          </a:xfrm>
          <a:prstGeom prst="rect">
            <a:avLst/>
          </a:prstGeom>
          <a:noFill/>
          <a:ln/>
        </p:spPr>
        <p:txBody>
          <a:bodyPr wrap="square" lIns="0" tIns="0" rIns="0" bIns="0" rtlCol="0" anchor="t"/>
          <a:lstStyle/>
          <a:p>
            <a:pPr algn="l" indent="0" marL="0">
              <a:lnSpc>
                <a:spcPct val="115000"/>
              </a:lnSpc>
              <a:buNone/>
            </a:pPr>
            <a:r>
              <a:rPr lang="en-US" sz="1400" dirty="0">
                <a:solidFill>
                  <a:srgbClr val="BFD6D1"/>
                </a:solidFill>
              </a:rPr>
              <a:t>Verifica las condiciones mínimas para entrar y permanecer en el sistema.</a:t>
            </a:r>
            <a:endParaRPr lang="en-US" sz="1400" dirty="0"/>
          </a:p>
        </p:txBody>
      </p:sp>
      <p:sp>
        <p:nvSpPr>
          <p:cNvPr id="10" name="texto-82"/>
          <p:cNvSpPr txBox="1"/>
          <p:nvPr/>
        </p:nvSpPr>
        <p:spPr>
          <a:xfrm>
            <a:off x="822960" y="5486400"/>
            <a:ext cx="2052828" cy="320040"/>
          </a:xfrm>
          <a:prstGeom prst="rect">
            <a:avLst/>
          </a:prstGeom>
          <a:noFill/>
          <a:ln/>
        </p:spPr>
        <p:txBody>
          <a:bodyPr wrap="square" lIns="0" tIns="0" rIns="0" bIns="0" rtlCol="0" anchor="t"/>
          <a:lstStyle/>
          <a:p>
            <a:pPr algn="l" indent="0" marL="0">
              <a:lnSpc>
                <a:spcPct val="110000"/>
              </a:lnSpc>
              <a:buNone/>
            </a:pPr>
            <a:r>
              <a:rPr lang="en-US" sz="1200" dirty="0">
                <a:solidFill>
                  <a:srgbClr val="8FB3AD"/>
                </a:solidFill>
              </a:rPr>
              <a:t>Res. 3100 de 2019</a:t>
            </a:r>
            <a:endParaRPr lang="en-US" sz="1200" dirty="0"/>
          </a:p>
        </p:txBody>
      </p:sp>
      <p:sp>
        <p:nvSpPr>
          <p:cNvPr id="11" name="tarjeta-83"/>
          <p:cNvSpPr/>
          <p:nvPr/>
        </p:nvSpPr>
        <p:spPr>
          <a:xfrm>
            <a:off x="3378708" y="1783080"/>
            <a:ext cx="2601468" cy="4206240"/>
          </a:xfrm>
          <a:prstGeom prst="roundRect">
            <a:avLst>
              <a:gd name="adj" fmla="val 5272"/>
            </a:avLst>
          </a:prstGeom>
          <a:solidFill>
            <a:srgbClr val="1D4850"/>
          </a:solidFill>
          <a:ln/>
        </p:spPr>
      </p:sp>
      <p:sp>
        <p:nvSpPr>
          <p:cNvPr id="12" name="texto-84"/>
          <p:cNvSpPr txBox="1"/>
          <p:nvPr/>
        </p:nvSpPr>
        <p:spPr>
          <a:xfrm>
            <a:off x="3653028" y="2039112"/>
            <a:ext cx="1371600" cy="457200"/>
          </a:xfrm>
          <a:prstGeom prst="rect">
            <a:avLst/>
          </a:prstGeom>
          <a:noFill/>
          <a:ln/>
        </p:spPr>
        <p:txBody>
          <a:bodyPr wrap="square" lIns="0" tIns="0" rIns="0" bIns="0" rtlCol="0" anchor="t"/>
          <a:lstStyle/>
          <a:p>
            <a:pPr algn="l" indent="0" marL="0">
              <a:lnSpc>
                <a:spcPct val="110000"/>
              </a:lnSpc>
              <a:buNone/>
            </a:pPr>
            <a:r>
              <a:rPr lang="en-US" sz="2600" b="1" dirty="0">
                <a:solidFill>
                  <a:srgbClr val="F0A46C"/>
                </a:solidFill>
                <a:latin typeface="Cambria" pitchFamily="34" charset="0"/>
                <a:ea typeface="Cambria" pitchFamily="34" charset="-122"/>
                <a:cs typeface="Cambria" pitchFamily="34" charset="-120"/>
              </a:rPr>
              <a:t>02</a:t>
            </a:r>
            <a:endParaRPr lang="en-US" sz="2600" dirty="0"/>
          </a:p>
        </p:txBody>
      </p:sp>
      <p:sp>
        <p:nvSpPr>
          <p:cNvPr id="13" name="texto-85"/>
          <p:cNvSpPr txBox="1"/>
          <p:nvPr/>
        </p:nvSpPr>
        <p:spPr>
          <a:xfrm>
            <a:off x="3653028" y="2560320"/>
            <a:ext cx="2052828" cy="914400"/>
          </a:xfrm>
          <a:prstGeom prst="rect">
            <a:avLst/>
          </a:prstGeom>
          <a:noFill/>
          <a:ln/>
        </p:spPr>
        <p:txBody>
          <a:bodyPr wrap="square" lIns="0" tIns="0" rIns="0" bIns="0" rtlCol="0" anchor="t"/>
          <a:lstStyle/>
          <a:p>
            <a:pPr algn="l" indent="0" marL="0">
              <a:lnSpc>
                <a:spcPct val="105000"/>
              </a:lnSpc>
              <a:buNone/>
            </a:pPr>
            <a:r>
              <a:rPr lang="en-US" sz="1700" b="1" dirty="0">
                <a:solidFill>
                  <a:srgbClr val="F6F4EF"/>
                </a:solidFill>
                <a:latin typeface="Cambria" pitchFamily="34" charset="0"/>
                <a:ea typeface="Cambria" pitchFamily="34" charset="-122"/>
                <a:cs typeface="Cambria" pitchFamily="34" charset="-120"/>
              </a:rPr>
              <a:t>Auditoría para el Mejoramiento (PAMEC)</a:t>
            </a:r>
            <a:endParaRPr lang="en-US" sz="1700" dirty="0"/>
          </a:p>
        </p:txBody>
      </p:sp>
      <p:sp>
        <p:nvSpPr>
          <p:cNvPr id="14" name="etiqueta-86"/>
          <p:cNvSpPr/>
          <p:nvPr/>
        </p:nvSpPr>
        <p:spPr>
          <a:xfrm>
            <a:off x="3653028" y="3566160"/>
            <a:ext cx="1325880" cy="347472"/>
          </a:xfrm>
          <a:prstGeom prst="roundRect">
            <a:avLst>
              <a:gd name="adj" fmla="val 50000"/>
            </a:avLst>
          </a:prstGeom>
          <a:solidFill>
            <a:srgbClr val="F0A46C"/>
          </a:solidFill>
          <a:ln/>
        </p:spPr>
      </p:sp>
      <p:sp>
        <p:nvSpPr>
          <p:cNvPr id="15" name="texto-87"/>
          <p:cNvSpPr txBox="1"/>
          <p:nvPr/>
        </p:nvSpPr>
        <p:spPr>
          <a:xfrm>
            <a:off x="3653028" y="3566160"/>
            <a:ext cx="1325880" cy="347472"/>
          </a:xfrm>
          <a:prstGeom prst="rect">
            <a:avLst/>
          </a:prstGeom>
          <a:noFill/>
          <a:ln/>
        </p:spPr>
        <p:txBody>
          <a:bodyPr wrap="square" lIns="0" tIns="0" rIns="0" bIns="0" rtlCol="0" anchor="ctr"/>
          <a:lstStyle/>
          <a:p>
            <a:pPr algn="ctr" indent="0" marL="0">
              <a:lnSpc>
                <a:spcPct val="110000"/>
              </a:lnSpc>
              <a:buNone/>
            </a:pPr>
            <a:r>
              <a:rPr lang="en-US" sz="1200" b="1" dirty="0">
                <a:solidFill>
                  <a:srgbClr val="12343B"/>
                </a:solidFill>
              </a:rPr>
              <a:t>Obligatorio</a:t>
            </a:r>
            <a:endParaRPr lang="en-US" sz="1200" dirty="0"/>
          </a:p>
        </p:txBody>
      </p:sp>
      <p:sp>
        <p:nvSpPr>
          <p:cNvPr id="16" name="texto-88"/>
          <p:cNvSpPr txBox="1"/>
          <p:nvPr/>
        </p:nvSpPr>
        <p:spPr>
          <a:xfrm>
            <a:off x="3653028" y="4114800"/>
            <a:ext cx="2052828" cy="1188720"/>
          </a:xfrm>
          <a:prstGeom prst="rect">
            <a:avLst/>
          </a:prstGeom>
          <a:noFill/>
          <a:ln/>
        </p:spPr>
        <p:txBody>
          <a:bodyPr wrap="square" lIns="0" tIns="0" rIns="0" bIns="0" rtlCol="0" anchor="t"/>
          <a:lstStyle/>
          <a:p>
            <a:pPr algn="l" indent="0" marL="0">
              <a:lnSpc>
                <a:spcPct val="115000"/>
              </a:lnSpc>
              <a:buNone/>
            </a:pPr>
            <a:r>
              <a:rPr lang="en-US" sz="1400" dirty="0">
                <a:solidFill>
                  <a:srgbClr val="BFD6D1"/>
                </a:solidFill>
              </a:rPr>
              <a:t>Compara la calidad observada con la esperada y corrige las brechas.</a:t>
            </a:r>
            <a:endParaRPr lang="en-US" sz="1400" dirty="0"/>
          </a:p>
        </p:txBody>
      </p:sp>
      <p:sp>
        <p:nvSpPr>
          <p:cNvPr id="17" name="texto-89"/>
          <p:cNvSpPr txBox="1"/>
          <p:nvPr/>
        </p:nvSpPr>
        <p:spPr>
          <a:xfrm>
            <a:off x="3653028" y="5486400"/>
            <a:ext cx="2052828" cy="320040"/>
          </a:xfrm>
          <a:prstGeom prst="rect">
            <a:avLst/>
          </a:prstGeom>
          <a:noFill/>
          <a:ln/>
        </p:spPr>
        <p:txBody>
          <a:bodyPr wrap="square" lIns="0" tIns="0" rIns="0" bIns="0" rtlCol="0" anchor="t"/>
          <a:lstStyle/>
          <a:p>
            <a:pPr algn="l" indent="0" marL="0">
              <a:lnSpc>
                <a:spcPct val="110000"/>
              </a:lnSpc>
              <a:buNone/>
            </a:pPr>
            <a:r>
              <a:rPr lang="en-US" sz="1200" dirty="0">
                <a:solidFill>
                  <a:srgbClr val="8FB3AD"/>
                </a:solidFill>
              </a:rPr>
              <a:t>Pautas de auditoría · MinSalud</a:t>
            </a:r>
            <a:endParaRPr lang="en-US" sz="1200" dirty="0"/>
          </a:p>
        </p:txBody>
      </p:sp>
      <p:sp>
        <p:nvSpPr>
          <p:cNvPr id="18" name="tarjeta-90"/>
          <p:cNvSpPr/>
          <p:nvPr/>
        </p:nvSpPr>
        <p:spPr>
          <a:xfrm>
            <a:off x="6208776" y="1783080"/>
            <a:ext cx="2601468" cy="4206240"/>
          </a:xfrm>
          <a:prstGeom prst="roundRect">
            <a:avLst>
              <a:gd name="adj" fmla="val 5272"/>
            </a:avLst>
          </a:prstGeom>
          <a:solidFill>
            <a:srgbClr val="1D4850"/>
          </a:solidFill>
          <a:ln/>
        </p:spPr>
      </p:sp>
      <p:sp>
        <p:nvSpPr>
          <p:cNvPr id="19" name="texto-91"/>
          <p:cNvSpPr txBox="1"/>
          <p:nvPr/>
        </p:nvSpPr>
        <p:spPr>
          <a:xfrm>
            <a:off x="6483096" y="2039112"/>
            <a:ext cx="1371600" cy="457200"/>
          </a:xfrm>
          <a:prstGeom prst="rect">
            <a:avLst/>
          </a:prstGeom>
          <a:noFill/>
          <a:ln/>
        </p:spPr>
        <p:txBody>
          <a:bodyPr wrap="square" lIns="0" tIns="0" rIns="0" bIns="0" rtlCol="0" anchor="t"/>
          <a:lstStyle/>
          <a:p>
            <a:pPr algn="l" indent="0" marL="0">
              <a:lnSpc>
                <a:spcPct val="110000"/>
              </a:lnSpc>
              <a:buNone/>
            </a:pPr>
            <a:r>
              <a:rPr lang="en-US" sz="2600" b="1" dirty="0">
                <a:solidFill>
                  <a:srgbClr val="F0A46C"/>
                </a:solidFill>
                <a:latin typeface="Cambria" pitchFamily="34" charset="0"/>
                <a:ea typeface="Cambria" pitchFamily="34" charset="-122"/>
                <a:cs typeface="Cambria" pitchFamily="34" charset="-120"/>
              </a:rPr>
              <a:t>03</a:t>
            </a:r>
            <a:endParaRPr lang="en-US" sz="2600" dirty="0"/>
          </a:p>
        </p:txBody>
      </p:sp>
      <p:sp>
        <p:nvSpPr>
          <p:cNvPr id="20" name="texto-92"/>
          <p:cNvSpPr txBox="1"/>
          <p:nvPr/>
        </p:nvSpPr>
        <p:spPr>
          <a:xfrm>
            <a:off x="6483096" y="2560320"/>
            <a:ext cx="2052828" cy="914400"/>
          </a:xfrm>
          <a:prstGeom prst="rect">
            <a:avLst/>
          </a:prstGeom>
          <a:noFill/>
          <a:ln/>
        </p:spPr>
        <p:txBody>
          <a:bodyPr wrap="square" lIns="0" tIns="0" rIns="0" bIns="0" rtlCol="0" anchor="t"/>
          <a:lstStyle/>
          <a:p>
            <a:pPr algn="l" indent="0" marL="0">
              <a:lnSpc>
                <a:spcPct val="105000"/>
              </a:lnSpc>
              <a:buNone/>
            </a:pPr>
            <a:r>
              <a:rPr lang="en-US" sz="1700" b="1" dirty="0">
                <a:solidFill>
                  <a:srgbClr val="F6F4EF"/>
                </a:solidFill>
                <a:latin typeface="Cambria" pitchFamily="34" charset="0"/>
                <a:ea typeface="Cambria" pitchFamily="34" charset="-122"/>
                <a:cs typeface="Cambria" pitchFamily="34" charset="-120"/>
              </a:rPr>
              <a:t>Sistema de Información para la Calidad</a:t>
            </a:r>
            <a:endParaRPr lang="en-US" sz="1700" dirty="0"/>
          </a:p>
        </p:txBody>
      </p:sp>
      <p:sp>
        <p:nvSpPr>
          <p:cNvPr id="21" name="etiqueta-93"/>
          <p:cNvSpPr/>
          <p:nvPr/>
        </p:nvSpPr>
        <p:spPr>
          <a:xfrm>
            <a:off x="6483096" y="3566160"/>
            <a:ext cx="1325880" cy="347472"/>
          </a:xfrm>
          <a:prstGeom prst="roundRect">
            <a:avLst>
              <a:gd name="adj" fmla="val 50000"/>
            </a:avLst>
          </a:prstGeom>
          <a:solidFill>
            <a:srgbClr val="F0A46C"/>
          </a:solidFill>
          <a:ln/>
        </p:spPr>
      </p:sp>
      <p:sp>
        <p:nvSpPr>
          <p:cNvPr id="22" name="texto-94"/>
          <p:cNvSpPr txBox="1"/>
          <p:nvPr/>
        </p:nvSpPr>
        <p:spPr>
          <a:xfrm>
            <a:off x="6483096" y="3566160"/>
            <a:ext cx="1325880" cy="347472"/>
          </a:xfrm>
          <a:prstGeom prst="rect">
            <a:avLst/>
          </a:prstGeom>
          <a:noFill/>
          <a:ln/>
        </p:spPr>
        <p:txBody>
          <a:bodyPr wrap="square" lIns="0" tIns="0" rIns="0" bIns="0" rtlCol="0" anchor="ctr"/>
          <a:lstStyle/>
          <a:p>
            <a:pPr algn="ctr" indent="0" marL="0">
              <a:lnSpc>
                <a:spcPct val="110000"/>
              </a:lnSpc>
              <a:buNone/>
            </a:pPr>
            <a:r>
              <a:rPr lang="en-US" sz="1200" b="1" dirty="0">
                <a:solidFill>
                  <a:srgbClr val="12343B"/>
                </a:solidFill>
              </a:rPr>
              <a:t>Obligatorio</a:t>
            </a:r>
            <a:endParaRPr lang="en-US" sz="1200" dirty="0"/>
          </a:p>
        </p:txBody>
      </p:sp>
      <p:sp>
        <p:nvSpPr>
          <p:cNvPr id="23" name="texto-95"/>
          <p:cNvSpPr txBox="1"/>
          <p:nvPr/>
        </p:nvSpPr>
        <p:spPr>
          <a:xfrm>
            <a:off x="6483096" y="4114800"/>
            <a:ext cx="2052828" cy="1188720"/>
          </a:xfrm>
          <a:prstGeom prst="rect">
            <a:avLst/>
          </a:prstGeom>
          <a:noFill/>
          <a:ln/>
        </p:spPr>
        <p:txBody>
          <a:bodyPr wrap="square" lIns="0" tIns="0" rIns="0" bIns="0" rtlCol="0" anchor="t"/>
          <a:lstStyle/>
          <a:p>
            <a:pPr algn="l" indent="0" marL="0">
              <a:lnSpc>
                <a:spcPct val="115000"/>
              </a:lnSpc>
              <a:buNone/>
            </a:pPr>
            <a:r>
              <a:rPr lang="en-US" sz="1400" dirty="0">
                <a:solidFill>
                  <a:srgbClr val="BFD6D1"/>
                </a:solidFill>
              </a:rPr>
              <a:t>Mide indicadores y orienta decisiones informadas de usuarios y entidades.</a:t>
            </a:r>
            <a:endParaRPr lang="en-US" sz="1400" dirty="0"/>
          </a:p>
        </p:txBody>
      </p:sp>
      <p:sp>
        <p:nvSpPr>
          <p:cNvPr id="24" name="texto-96"/>
          <p:cNvSpPr txBox="1"/>
          <p:nvPr/>
        </p:nvSpPr>
        <p:spPr>
          <a:xfrm>
            <a:off x="6483096" y="5486400"/>
            <a:ext cx="2052828" cy="320040"/>
          </a:xfrm>
          <a:prstGeom prst="rect">
            <a:avLst/>
          </a:prstGeom>
          <a:noFill/>
          <a:ln/>
        </p:spPr>
        <p:txBody>
          <a:bodyPr wrap="square" lIns="0" tIns="0" rIns="0" bIns="0" rtlCol="0" anchor="t"/>
          <a:lstStyle/>
          <a:p>
            <a:pPr algn="l" indent="0" marL="0">
              <a:lnSpc>
                <a:spcPct val="110000"/>
              </a:lnSpc>
              <a:buNone/>
            </a:pPr>
            <a:r>
              <a:rPr lang="en-US" sz="1200" dirty="0">
                <a:solidFill>
                  <a:srgbClr val="8FB3AD"/>
                </a:solidFill>
              </a:rPr>
              <a:t>Res. 256 de 2016</a:t>
            </a:r>
            <a:endParaRPr lang="en-US" sz="1200" dirty="0"/>
          </a:p>
        </p:txBody>
      </p:sp>
      <p:sp>
        <p:nvSpPr>
          <p:cNvPr id="25" name="tarjeta-97"/>
          <p:cNvSpPr/>
          <p:nvPr/>
        </p:nvSpPr>
        <p:spPr>
          <a:xfrm>
            <a:off x="9038844" y="1783080"/>
            <a:ext cx="2601468" cy="4206240"/>
          </a:xfrm>
          <a:prstGeom prst="roundRect">
            <a:avLst>
              <a:gd name="adj" fmla="val 5272"/>
            </a:avLst>
          </a:prstGeom>
          <a:solidFill>
            <a:srgbClr val="F6F4EF"/>
          </a:solidFill>
          <a:ln/>
        </p:spPr>
      </p:sp>
      <p:sp>
        <p:nvSpPr>
          <p:cNvPr id="26" name="texto-98"/>
          <p:cNvSpPr txBox="1"/>
          <p:nvPr/>
        </p:nvSpPr>
        <p:spPr>
          <a:xfrm>
            <a:off x="9313164" y="2039112"/>
            <a:ext cx="1371600" cy="457200"/>
          </a:xfrm>
          <a:prstGeom prst="rect">
            <a:avLst/>
          </a:prstGeom>
          <a:noFill/>
          <a:ln/>
        </p:spPr>
        <p:txBody>
          <a:bodyPr wrap="square" lIns="0" tIns="0" rIns="0" bIns="0" rtlCol="0" anchor="t"/>
          <a:lstStyle/>
          <a:p>
            <a:pPr algn="l" indent="0" marL="0">
              <a:lnSpc>
                <a:spcPct val="110000"/>
              </a:lnSpc>
              <a:buNone/>
            </a:pPr>
            <a:r>
              <a:rPr lang="en-US" sz="2600" b="1" dirty="0">
                <a:solidFill>
                  <a:srgbClr val="A9501F"/>
                </a:solidFill>
                <a:latin typeface="Cambria" pitchFamily="34" charset="0"/>
                <a:ea typeface="Cambria" pitchFamily="34" charset="-122"/>
                <a:cs typeface="Cambria" pitchFamily="34" charset="-120"/>
              </a:rPr>
              <a:t>04</a:t>
            </a:r>
            <a:endParaRPr lang="en-US" sz="2600" dirty="0"/>
          </a:p>
        </p:txBody>
      </p:sp>
      <p:sp>
        <p:nvSpPr>
          <p:cNvPr id="27" name="texto-99"/>
          <p:cNvSpPr txBox="1"/>
          <p:nvPr/>
        </p:nvSpPr>
        <p:spPr>
          <a:xfrm>
            <a:off x="9313164" y="2560320"/>
            <a:ext cx="2052828" cy="914400"/>
          </a:xfrm>
          <a:prstGeom prst="rect">
            <a:avLst/>
          </a:prstGeom>
          <a:noFill/>
          <a:ln/>
        </p:spPr>
        <p:txBody>
          <a:bodyPr wrap="square" lIns="0" tIns="0" rIns="0" bIns="0" rtlCol="0" anchor="t"/>
          <a:lstStyle/>
          <a:p>
            <a:pPr algn="l" indent="0" marL="0">
              <a:lnSpc>
                <a:spcPct val="105000"/>
              </a:lnSpc>
              <a:buNone/>
            </a:pPr>
            <a:r>
              <a:rPr lang="en-US" sz="1700" b="1" dirty="0">
                <a:solidFill>
                  <a:srgbClr val="12343B"/>
                </a:solidFill>
                <a:latin typeface="Cambria" pitchFamily="34" charset="0"/>
                <a:ea typeface="Cambria" pitchFamily="34" charset="-122"/>
                <a:cs typeface="Cambria" pitchFamily="34" charset="-120"/>
              </a:rPr>
              <a:t>Sistema Único de Acreditación</a:t>
            </a:r>
            <a:endParaRPr lang="en-US" sz="1700" dirty="0"/>
          </a:p>
        </p:txBody>
      </p:sp>
      <p:sp>
        <p:nvSpPr>
          <p:cNvPr id="28" name="etiqueta-100"/>
          <p:cNvSpPr/>
          <p:nvPr/>
        </p:nvSpPr>
        <p:spPr>
          <a:xfrm>
            <a:off x="9313164" y="3566160"/>
            <a:ext cx="1325880" cy="347472"/>
          </a:xfrm>
          <a:prstGeom prst="roundRect">
            <a:avLst>
              <a:gd name="adj" fmla="val 50000"/>
            </a:avLst>
          </a:prstGeom>
          <a:solidFill>
            <a:srgbClr val="23675F"/>
          </a:solidFill>
          <a:ln/>
        </p:spPr>
      </p:sp>
      <p:sp>
        <p:nvSpPr>
          <p:cNvPr id="29" name="texto-101"/>
          <p:cNvSpPr txBox="1"/>
          <p:nvPr/>
        </p:nvSpPr>
        <p:spPr>
          <a:xfrm>
            <a:off x="9313164" y="3566160"/>
            <a:ext cx="1325880" cy="347472"/>
          </a:xfrm>
          <a:prstGeom prst="rect">
            <a:avLst/>
          </a:prstGeom>
          <a:noFill/>
          <a:ln/>
        </p:spPr>
        <p:txBody>
          <a:bodyPr wrap="square" lIns="0" tIns="0" rIns="0" bIns="0" rtlCol="0" anchor="ctr"/>
          <a:lstStyle/>
          <a:p>
            <a:pPr algn="ctr" indent="0" marL="0">
              <a:lnSpc>
                <a:spcPct val="110000"/>
              </a:lnSpc>
              <a:buNone/>
            </a:pPr>
            <a:r>
              <a:rPr lang="en-US" sz="1200" b="1" dirty="0">
                <a:solidFill>
                  <a:srgbClr val="F6F4EF"/>
                </a:solidFill>
              </a:rPr>
              <a:t>Voluntario</a:t>
            </a:r>
            <a:endParaRPr lang="en-US" sz="1200" dirty="0"/>
          </a:p>
        </p:txBody>
      </p:sp>
      <p:sp>
        <p:nvSpPr>
          <p:cNvPr id="30" name="texto-102"/>
          <p:cNvSpPr txBox="1"/>
          <p:nvPr/>
        </p:nvSpPr>
        <p:spPr>
          <a:xfrm>
            <a:off x="9313164" y="4114800"/>
            <a:ext cx="2052828" cy="1188720"/>
          </a:xfrm>
          <a:prstGeom prst="rect">
            <a:avLst/>
          </a:prstGeom>
          <a:noFill/>
          <a:ln/>
        </p:spPr>
        <p:txBody>
          <a:bodyPr wrap="square" lIns="0" tIns="0" rIns="0" bIns="0" rtlCol="0" anchor="t"/>
          <a:lstStyle/>
          <a:p>
            <a:pPr algn="l" indent="0" marL="0">
              <a:lnSpc>
                <a:spcPct val="115000"/>
              </a:lnSpc>
              <a:buNone/>
            </a:pPr>
            <a:r>
              <a:rPr lang="en-US" sz="1400" dirty="0">
                <a:solidFill>
                  <a:srgbClr val="3B4A50"/>
                </a:solidFill>
              </a:rPr>
              <a:t>Reconoce niveles superiores de calidad en quienes lo solicitan.</a:t>
            </a:r>
            <a:endParaRPr lang="en-US" sz="1400" dirty="0"/>
          </a:p>
        </p:txBody>
      </p:sp>
      <p:sp>
        <p:nvSpPr>
          <p:cNvPr id="31" name="texto-103"/>
          <p:cNvSpPr txBox="1"/>
          <p:nvPr/>
        </p:nvSpPr>
        <p:spPr>
          <a:xfrm>
            <a:off x="9313164" y="5486400"/>
            <a:ext cx="2052828" cy="320040"/>
          </a:xfrm>
          <a:prstGeom prst="rect">
            <a:avLst/>
          </a:prstGeom>
          <a:noFill/>
          <a:ln/>
        </p:spPr>
        <p:txBody>
          <a:bodyPr wrap="square" lIns="0" tIns="0" rIns="0" bIns="0" rtlCol="0" anchor="t"/>
          <a:lstStyle/>
          <a:p>
            <a:pPr algn="l" indent="0" marL="0">
              <a:lnSpc>
                <a:spcPct val="110000"/>
              </a:lnSpc>
              <a:buNone/>
            </a:pPr>
            <a:r>
              <a:rPr lang="en-US" sz="1200" dirty="0">
                <a:solidFill>
                  <a:srgbClr val="5A6B70"/>
                </a:solidFill>
              </a:rPr>
              <a:t>Res. 5095 de 2018</a:t>
            </a:r>
            <a:endParaRPr lang="en-US" sz="12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FB3A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COMPONENTE 1 · OBLIGATORIO · LA PUERTA DE ENTRADA</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Sistema Único de Habilitación</a:t>
            </a:r>
            <a:endParaRPr lang="en-US" sz="3200" dirty="0"/>
          </a:p>
        </p:txBody>
      </p:sp>
      <p:sp>
        <p:nvSpPr>
          <p:cNvPr id="4" name="texto-104"/>
          <p:cNvSpPr txBox="1"/>
          <p:nvPr/>
        </p:nvSpPr>
        <p:spPr>
          <a:xfrm>
            <a:off x="548640" y="1783080"/>
            <a:ext cx="5303520" cy="160020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Registra, verifica y controla las condiciones básicas de capacidad tecnológica y científica, suficiencia patrimonial y financiera y capacidad técnico-administrativa para que un prestador </a:t>
            </a:r>
            <a:pPr indent="0" marL="0">
              <a:lnSpc>
                <a:spcPct val="120000"/>
              </a:lnSpc>
              <a:buNone/>
            </a:pPr>
            <a:r>
              <a:rPr lang="en-US" sz="1400" b="1" dirty="0">
                <a:solidFill>
                  <a:schemeClr val="tx2"/>
                </a:solidFill>
              </a:rPr>
              <a:t>entre y permanezca</a:t>
            </a:r>
            <a:pPr indent="0" marL="0">
              <a:lnSpc>
                <a:spcPct val="120000"/>
              </a:lnSpc>
              <a:buNone/>
            </a:pPr>
            <a:r>
              <a:rPr lang="en-US" sz="1400" dirty="0">
                <a:solidFill>
                  <a:schemeClr val="tx2"/>
                </a:solidFill>
              </a:rPr>
              <a:t> en el sistema (Decreto 1011, 2006).</a:t>
            </a:r>
            <a:endParaRPr lang="en-US" sz="1400" dirty="0"/>
          </a:p>
        </p:txBody>
      </p:sp>
      <p:sp>
        <p:nvSpPr>
          <p:cNvPr id="5" name="tarjeta-105"/>
          <p:cNvSpPr/>
          <p:nvPr/>
        </p:nvSpPr>
        <p:spPr>
          <a:xfrm>
            <a:off x="548640" y="3520440"/>
            <a:ext cx="5303520" cy="493776"/>
          </a:xfrm>
          <a:prstGeom prst="roundRect">
            <a:avLst>
              <a:gd name="adj" fmla="val 18519"/>
            </a:avLst>
          </a:prstGeom>
          <a:solidFill>
            <a:srgbClr val="E7EFEC"/>
          </a:solidFill>
          <a:ln/>
        </p:spPr>
      </p:sp>
      <p:sp>
        <p:nvSpPr>
          <p:cNvPr id="6" name="texto-106"/>
          <p:cNvSpPr txBox="1"/>
          <p:nvPr/>
        </p:nvSpPr>
        <p:spPr>
          <a:xfrm>
            <a:off x="731520" y="3520440"/>
            <a:ext cx="365760" cy="493776"/>
          </a:xfrm>
          <a:prstGeom prst="rect">
            <a:avLst/>
          </a:prstGeom>
          <a:noFill/>
          <a:ln/>
        </p:spPr>
        <p:txBody>
          <a:bodyPr wrap="square" lIns="0" tIns="0" rIns="0" bIns="0" rtlCol="0" anchor="ctr"/>
          <a:lstStyle/>
          <a:p>
            <a:pPr algn="l" indent="0" marL="0">
              <a:lnSpc>
                <a:spcPct val="110000"/>
              </a:lnSpc>
              <a:buNone/>
            </a:pPr>
            <a:r>
              <a:rPr lang="en-US" sz="1600" b="1" dirty="0">
                <a:solidFill>
                  <a:srgbClr val="A9501F"/>
                </a:solidFill>
                <a:latin typeface="Cambria" pitchFamily="34" charset="0"/>
                <a:ea typeface="Cambria" pitchFamily="34" charset="-122"/>
                <a:cs typeface="Cambria" pitchFamily="34" charset="-120"/>
              </a:rPr>
              <a:t>1</a:t>
            </a:r>
            <a:endParaRPr lang="en-US" sz="1600" dirty="0"/>
          </a:p>
        </p:txBody>
      </p:sp>
      <p:sp>
        <p:nvSpPr>
          <p:cNvPr id="7" name="texto-107"/>
          <p:cNvSpPr txBox="1"/>
          <p:nvPr/>
        </p:nvSpPr>
        <p:spPr>
          <a:xfrm>
            <a:off x="1143000" y="3520440"/>
            <a:ext cx="4572000" cy="493776"/>
          </a:xfrm>
          <a:prstGeom prst="rect">
            <a:avLst/>
          </a:prstGeom>
          <a:noFill/>
          <a:ln/>
        </p:spPr>
        <p:txBody>
          <a:bodyPr wrap="square" lIns="0" tIns="0" rIns="0" bIns="0" rtlCol="0" anchor="ctr"/>
          <a:lstStyle/>
          <a:p>
            <a:pPr indent="0" marL="0">
              <a:buNone/>
            </a:pPr>
            <a:r>
              <a:rPr lang="en-US" sz="1400" b="1" dirty="0">
                <a:solidFill>
                  <a:schemeClr val="tx1"/>
                </a:solidFill>
              </a:rPr>
              <a:t>Autoevaluación</a:t>
            </a:r>
            <a:pPr indent="0" marL="0">
              <a:buNone/>
            </a:pPr>
            <a:r>
              <a:rPr lang="en-US" sz="1400" dirty="0">
                <a:solidFill>
                  <a:schemeClr val="tx1"/>
                </a:solidFill>
              </a:rPr>
              <a:t> de los estándares por el prestador</a:t>
            </a:r>
            <a:endParaRPr lang="en-US" sz="1400" dirty="0"/>
          </a:p>
        </p:txBody>
      </p:sp>
      <p:sp>
        <p:nvSpPr>
          <p:cNvPr id="8" name="tarjeta-108"/>
          <p:cNvSpPr/>
          <p:nvPr/>
        </p:nvSpPr>
        <p:spPr>
          <a:xfrm>
            <a:off x="548640" y="4123944"/>
            <a:ext cx="5303520" cy="493776"/>
          </a:xfrm>
          <a:prstGeom prst="roundRect">
            <a:avLst>
              <a:gd name="adj" fmla="val 18519"/>
            </a:avLst>
          </a:prstGeom>
          <a:solidFill>
            <a:srgbClr val="E7EFEC"/>
          </a:solidFill>
          <a:ln/>
        </p:spPr>
      </p:sp>
      <p:sp>
        <p:nvSpPr>
          <p:cNvPr id="9" name="texto-109"/>
          <p:cNvSpPr txBox="1"/>
          <p:nvPr/>
        </p:nvSpPr>
        <p:spPr>
          <a:xfrm>
            <a:off x="731520" y="4123944"/>
            <a:ext cx="365760" cy="493776"/>
          </a:xfrm>
          <a:prstGeom prst="rect">
            <a:avLst/>
          </a:prstGeom>
          <a:noFill/>
          <a:ln/>
        </p:spPr>
        <p:txBody>
          <a:bodyPr wrap="square" lIns="0" tIns="0" rIns="0" bIns="0" rtlCol="0" anchor="ctr"/>
          <a:lstStyle/>
          <a:p>
            <a:pPr algn="l" indent="0" marL="0">
              <a:lnSpc>
                <a:spcPct val="110000"/>
              </a:lnSpc>
              <a:buNone/>
            </a:pPr>
            <a:r>
              <a:rPr lang="en-US" sz="1600" b="1" dirty="0">
                <a:solidFill>
                  <a:srgbClr val="A9501F"/>
                </a:solidFill>
                <a:latin typeface="Cambria" pitchFamily="34" charset="0"/>
                <a:ea typeface="Cambria" pitchFamily="34" charset="-122"/>
                <a:cs typeface="Cambria" pitchFamily="34" charset="-120"/>
              </a:rPr>
              <a:t>2</a:t>
            </a:r>
            <a:endParaRPr lang="en-US" sz="1600" dirty="0"/>
          </a:p>
        </p:txBody>
      </p:sp>
      <p:sp>
        <p:nvSpPr>
          <p:cNvPr id="10" name="texto-110"/>
          <p:cNvSpPr txBox="1"/>
          <p:nvPr/>
        </p:nvSpPr>
        <p:spPr>
          <a:xfrm>
            <a:off x="1143000" y="4123944"/>
            <a:ext cx="4572000" cy="493776"/>
          </a:xfrm>
          <a:prstGeom prst="rect">
            <a:avLst/>
          </a:prstGeom>
          <a:noFill/>
          <a:ln/>
        </p:spPr>
        <p:txBody>
          <a:bodyPr wrap="square" lIns="0" tIns="0" rIns="0" bIns="0" rtlCol="0" anchor="ctr"/>
          <a:lstStyle/>
          <a:p>
            <a:pPr indent="0" marL="0">
              <a:buNone/>
            </a:pPr>
            <a:r>
              <a:rPr lang="en-US" sz="1400" b="1" dirty="0">
                <a:solidFill>
                  <a:schemeClr val="tx1"/>
                </a:solidFill>
              </a:rPr>
              <a:t>Inscripción</a:t>
            </a:r>
            <a:pPr indent="0" marL="0">
              <a:buNone/>
            </a:pPr>
            <a:r>
              <a:rPr lang="en-US" sz="1400" dirty="0">
                <a:solidFill>
                  <a:schemeClr val="tx1"/>
                </a:solidFill>
              </a:rPr>
              <a:t> en el REPS (vigencia de 4 años)</a:t>
            </a:r>
            <a:endParaRPr lang="en-US" sz="1400" dirty="0"/>
          </a:p>
        </p:txBody>
      </p:sp>
      <p:sp>
        <p:nvSpPr>
          <p:cNvPr id="11" name="tarjeta-111"/>
          <p:cNvSpPr/>
          <p:nvPr/>
        </p:nvSpPr>
        <p:spPr>
          <a:xfrm>
            <a:off x="548640" y="4727448"/>
            <a:ext cx="5303520" cy="493776"/>
          </a:xfrm>
          <a:prstGeom prst="roundRect">
            <a:avLst>
              <a:gd name="adj" fmla="val 18519"/>
            </a:avLst>
          </a:prstGeom>
          <a:solidFill>
            <a:srgbClr val="E7EFEC"/>
          </a:solidFill>
          <a:ln/>
        </p:spPr>
      </p:sp>
      <p:sp>
        <p:nvSpPr>
          <p:cNvPr id="12" name="texto-112"/>
          <p:cNvSpPr txBox="1"/>
          <p:nvPr/>
        </p:nvSpPr>
        <p:spPr>
          <a:xfrm>
            <a:off x="731520" y="4727448"/>
            <a:ext cx="365760" cy="493776"/>
          </a:xfrm>
          <a:prstGeom prst="rect">
            <a:avLst/>
          </a:prstGeom>
          <a:noFill/>
          <a:ln/>
        </p:spPr>
        <p:txBody>
          <a:bodyPr wrap="square" lIns="0" tIns="0" rIns="0" bIns="0" rtlCol="0" anchor="ctr"/>
          <a:lstStyle/>
          <a:p>
            <a:pPr algn="l" indent="0" marL="0">
              <a:lnSpc>
                <a:spcPct val="110000"/>
              </a:lnSpc>
              <a:buNone/>
            </a:pPr>
            <a:r>
              <a:rPr lang="en-US" sz="1600" b="1" dirty="0">
                <a:solidFill>
                  <a:srgbClr val="A9501F"/>
                </a:solidFill>
                <a:latin typeface="Cambria" pitchFamily="34" charset="0"/>
                <a:ea typeface="Cambria" pitchFamily="34" charset="-122"/>
                <a:cs typeface="Cambria" pitchFamily="34" charset="-120"/>
              </a:rPr>
              <a:t>3</a:t>
            </a:r>
            <a:endParaRPr lang="en-US" sz="1600" dirty="0"/>
          </a:p>
        </p:txBody>
      </p:sp>
      <p:sp>
        <p:nvSpPr>
          <p:cNvPr id="13" name="texto-113"/>
          <p:cNvSpPr txBox="1"/>
          <p:nvPr/>
        </p:nvSpPr>
        <p:spPr>
          <a:xfrm>
            <a:off x="1143000" y="4727448"/>
            <a:ext cx="4572000" cy="493776"/>
          </a:xfrm>
          <a:prstGeom prst="rect">
            <a:avLst/>
          </a:prstGeom>
          <a:noFill/>
          <a:ln/>
        </p:spPr>
        <p:txBody>
          <a:bodyPr wrap="square" lIns="0" tIns="0" rIns="0" bIns="0" rtlCol="0" anchor="ctr"/>
          <a:lstStyle/>
          <a:p>
            <a:pPr indent="0" marL="0">
              <a:buNone/>
            </a:pPr>
            <a:r>
              <a:rPr lang="en-US" sz="1400" b="1" dirty="0">
                <a:solidFill>
                  <a:schemeClr val="tx1"/>
                </a:solidFill>
              </a:rPr>
              <a:t>Verificación</a:t>
            </a:r>
            <a:pPr indent="0" marL="0">
              <a:buNone/>
            </a:pPr>
            <a:r>
              <a:rPr lang="en-US" sz="1400" dirty="0">
                <a:solidFill>
                  <a:schemeClr val="tx1"/>
                </a:solidFill>
              </a:rPr>
              <a:t> por la secretaría de salud</a:t>
            </a:r>
            <a:endParaRPr lang="en-US" sz="1400" dirty="0"/>
          </a:p>
        </p:txBody>
      </p:sp>
      <p:sp>
        <p:nvSpPr>
          <p:cNvPr id="14" name="tarjeta-114"/>
          <p:cNvSpPr/>
          <p:nvPr/>
        </p:nvSpPr>
        <p:spPr>
          <a:xfrm>
            <a:off x="548640" y="5330952"/>
            <a:ext cx="5303520" cy="493776"/>
          </a:xfrm>
          <a:prstGeom prst="roundRect">
            <a:avLst>
              <a:gd name="adj" fmla="val 18519"/>
            </a:avLst>
          </a:prstGeom>
          <a:solidFill>
            <a:srgbClr val="12343B"/>
          </a:solidFill>
          <a:ln/>
        </p:spPr>
      </p:sp>
      <p:sp>
        <p:nvSpPr>
          <p:cNvPr id="15" name="texto-115"/>
          <p:cNvSpPr txBox="1"/>
          <p:nvPr/>
        </p:nvSpPr>
        <p:spPr>
          <a:xfrm>
            <a:off x="731520" y="5330952"/>
            <a:ext cx="365760" cy="493776"/>
          </a:xfrm>
          <a:prstGeom prst="rect">
            <a:avLst/>
          </a:prstGeom>
          <a:noFill/>
          <a:ln/>
        </p:spPr>
        <p:txBody>
          <a:bodyPr wrap="square" lIns="0" tIns="0" rIns="0" bIns="0" rtlCol="0" anchor="ctr"/>
          <a:lstStyle/>
          <a:p>
            <a:pPr algn="l" indent="0" marL="0">
              <a:lnSpc>
                <a:spcPct val="110000"/>
              </a:lnSpc>
              <a:buNone/>
            </a:pPr>
            <a:r>
              <a:rPr lang="en-US" sz="1600" b="1" dirty="0">
                <a:solidFill>
                  <a:srgbClr val="F0A46C"/>
                </a:solidFill>
                <a:latin typeface="Cambria" pitchFamily="34" charset="0"/>
                <a:ea typeface="Cambria" pitchFamily="34" charset="-122"/>
                <a:cs typeface="Cambria" pitchFamily="34" charset="-120"/>
              </a:rPr>
              <a:t>4</a:t>
            </a:r>
            <a:endParaRPr lang="en-US" sz="1600" dirty="0"/>
          </a:p>
        </p:txBody>
      </p:sp>
      <p:sp>
        <p:nvSpPr>
          <p:cNvPr id="16" name="texto-116"/>
          <p:cNvSpPr txBox="1"/>
          <p:nvPr/>
        </p:nvSpPr>
        <p:spPr>
          <a:xfrm>
            <a:off x="1143000" y="5330952"/>
            <a:ext cx="4572000" cy="493776"/>
          </a:xfrm>
          <a:prstGeom prst="rect">
            <a:avLst/>
          </a:prstGeom>
          <a:noFill/>
          <a:ln/>
        </p:spPr>
        <p:txBody>
          <a:bodyPr wrap="square" lIns="0" tIns="0" rIns="0" bIns="0" rtlCol="0" anchor="ctr"/>
          <a:lstStyle/>
          <a:p>
            <a:pPr indent="0" marL="0">
              <a:buNone/>
            </a:pPr>
            <a:r>
              <a:rPr lang="en-US" sz="1400" b="1" dirty="0">
                <a:solidFill>
                  <a:srgbClr val="F6F4EF"/>
                </a:solidFill>
              </a:rPr>
              <a:t>Servicio habilitado</a:t>
            </a:r>
            <a:pPr indent="0" marL="0">
              <a:buNone/>
            </a:pPr>
            <a:r>
              <a:rPr lang="en-US" sz="1400" dirty="0">
                <a:solidFill>
                  <a:srgbClr val="F6F4EF"/>
                </a:solidFill>
              </a:rPr>
              <a:t> y bajo vigilancia</a:t>
            </a:r>
            <a:endParaRPr lang="en-US" sz="1400" dirty="0"/>
          </a:p>
        </p:txBody>
      </p:sp>
      <p:sp>
        <p:nvSpPr>
          <p:cNvPr id="17" name="texto-117"/>
          <p:cNvSpPr txBox="1"/>
          <p:nvPr/>
        </p:nvSpPr>
        <p:spPr>
          <a:xfrm>
            <a:off x="6263640" y="1783080"/>
            <a:ext cx="5303520" cy="27432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23675F"/>
                </a:solidFill>
              </a:rPr>
              <a:t>7 ESTÁNDARES (MINSALUD, 2019)</a:t>
            </a:r>
            <a:endParaRPr lang="en-US" sz="1200" dirty="0"/>
          </a:p>
        </p:txBody>
      </p:sp>
      <p:sp>
        <p:nvSpPr>
          <p:cNvPr id="18" name="tarjeta-118"/>
          <p:cNvSpPr/>
          <p:nvPr/>
        </p:nvSpPr>
        <p:spPr>
          <a:xfrm>
            <a:off x="6263640" y="2194560"/>
            <a:ext cx="2615184" cy="713232"/>
          </a:xfrm>
          <a:prstGeom prst="roundRect">
            <a:avLst>
              <a:gd name="adj" fmla="val 12821"/>
            </a:avLst>
          </a:prstGeom>
          <a:solidFill>
            <a:srgbClr val="F6F4EF"/>
          </a:solidFill>
          <a:ln w="15875">
            <a:solidFill>
              <a:srgbClr val="D5DEDB"/>
            </a:solidFill>
            <a:prstDash val="solid"/>
          </a:ln>
        </p:spPr>
      </p:sp>
      <p:pic>
        <p:nvPicPr>
          <p:cNvPr id="19" name="icono-119" descr="Users">    </p:cNvPr>
          <p:cNvPicPr>
            <a:picLocks noChangeAspect="1"/>
          </p:cNvPicPr>
          <p:nvPr/>
        </p:nvPicPr>
        <p:blipFill>
          <a:blip r:embed="rId1"/>
          <a:stretch>
            <a:fillRect/>
          </a:stretch>
        </p:blipFill>
        <p:spPr>
          <a:xfrm>
            <a:off x="6446520" y="2395728"/>
            <a:ext cx="310896" cy="310896"/>
          </a:xfrm>
          <a:prstGeom prst="rect">
            <a:avLst/>
          </a:prstGeom>
        </p:spPr>
      </p:pic>
      <p:sp>
        <p:nvSpPr>
          <p:cNvPr id="20" name="texto-120"/>
          <p:cNvSpPr txBox="1"/>
          <p:nvPr/>
        </p:nvSpPr>
        <p:spPr>
          <a:xfrm>
            <a:off x="6903720" y="2194560"/>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Talento humano</a:t>
            </a:r>
            <a:endParaRPr lang="en-US" sz="1400" dirty="0"/>
          </a:p>
        </p:txBody>
      </p:sp>
      <p:sp>
        <p:nvSpPr>
          <p:cNvPr id="21" name="tarjeta-121"/>
          <p:cNvSpPr/>
          <p:nvPr/>
        </p:nvSpPr>
        <p:spPr>
          <a:xfrm>
            <a:off x="9025128" y="2194560"/>
            <a:ext cx="2615184" cy="713232"/>
          </a:xfrm>
          <a:prstGeom prst="roundRect">
            <a:avLst>
              <a:gd name="adj" fmla="val 12821"/>
            </a:avLst>
          </a:prstGeom>
          <a:solidFill>
            <a:srgbClr val="F6F4EF"/>
          </a:solidFill>
          <a:ln w="15875">
            <a:solidFill>
              <a:srgbClr val="D5DEDB"/>
            </a:solidFill>
            <a:prstDash val="solid"/>
          </a:ln>
        </p:spPr>
      </p:sp>
      <p:pic>
        <p:nvPicPr>
          <p:cNvPr id="22" name="icono-122" descr="Home">    </p:cNvPr>
          <p:cNvPicPr>
            <a:picLocks noChangeAspect="1"/>
          </p:cNvPicPr>
          <p:nvPr/>
        </p:nvPicPr>
        <p:blipFill>
          <a:blip r:embed="rId2"/>
          <a:stretch>
            <a:fillRect/>
          </a:stretch>
        </p:blipFill>
        <p:spPr>
          <a:xfrm>
            <a:off x="9208008" y="2395728"/>
            <a:ext cx="310896" cy="310896"/>
          </a:xfrm>
          <a:prstGeom prst="rect">
            <a:avLst/>
          </a:prstGeom>
        </p:spPr>
      </p:pic>
      <p:sp>
        <p:nvSpPr>
          <p:cNvPr id="23" name="texto-123"/>
          <p:cNvSpPr txBox="1"/>
          <p:nvPr/>
        </p:nvSpPr>
        <p:spPr>
          <a:xfrm>
            <a:off x="9665208" y="2194560"/>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Infraestructura</a:t>
            </a:r>
            <a:endParaRPr lang="en-US" sz="1400" dirty="0"/>
          </a:p>
        </p:txBody>
      </p:sp>
      <p:sp>
        <p:nvSpPr>
          <p:cNvPr id="24" name="tarjeta-124"/>
          <p:cNvSpPr/>
          <p:nvPr/>
        </p:nvSpPr>
        <p:spPr>
          <a:xfrm>
            <a:off x="6263640" y="3035808"/>
            <a:ext cx="2615184" cy="713232"/>
          </a:xfrm>
          <a:prstGeom prst="roundRect">
            <a:avLst>
              <a:gd name="adj" fmla="val 12821"/>
            </a:avLst>
          </a:prstGeom>
          <a:solidFill>
            <a:srgbClr val="F6F4EF"/>
          </a:solidFill>
          <a:ln w="15875">
            <a:solidFill>
              <a:srgbClr val="D5DEDB"/>
            </a:solidFill>
            <a:prstDash val="solid"/>
          </a:ln>
        </p:spPr>
      </p:sp>
      <p:pic>
        <p:nvPicPr>
          <p:cNvPr id="25" name="icono-125" descr="Wrench">    </p:cNvPr>
          <p:cNvPicPr>
            <a:picLocks noChangeAspect="1"/>
          </p:cNvPicPr>
          <p:nvPr/>
        </p:nvPicPr>
        <p:blipFill>
          <a:blip r:embed="rId3"/>
          <a:stretch>
            <a:fillRect/>
          </a:stretch>
        </p:blipFill>
        <p:spPr>
          <a:xfrm>
            <a:off x="6446520" y="3236976"/>
            <a:ext cx="310896" cy="310896"/>
          </a:xfrm>
          <a:prstGeom prst="rect">
            <a:avLst/>
          </a:prstGeom>
        </p:spPr>
      </p:pic>
      <p:sp>
        <p:nvSpPr>
          <p:cNvPr id="26" name="texto-126"/>
          <p:cNvSpPr txBox="1"/>
          <p:nvPr/>
        </p:nvSpPr>
        <p:spPr>
          <a:xfrm>
            <a:off x="6903720" y="3035808"/>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Dotación</a:t>
            </a:r>
            <a:endParaRPr lang="en-US" sz="1400" dirty="0"/>
          </a:p>
        </p:txBody>
      </p:sp>
      <p:sp>
        <p:nvSpPr>
          <p:cNvPr id="27" name="tarjeta-127"/>
          <p:cNvSpPr/>
          <p:nvPr/>
        </p:nvSpPr>
        <p:spPr>
          <a:xfrm>
            <a:off x="9025128" y="3035808"/>
            <a:ext cx="2615184" cy="713232"/>
          </a:xfrm>
          <a:prstGeom prst="roundRect">
            <a:avLst>
              <a:gd name="adj" fmla="val 12821"/>
            </a:avLst>
          </a:prstGeom>
          <a:solidFill>
            <a:srgbClr val="F6F4EF"/>
          </a:solidFill>
          <a:ln w="15875">
            <a:solidFill>
              <a:srgbClr val="D5DEDB"/>
            </a:solidFill>
            <a:prstDash val="solid"/>
          </a:ln>
        </p:spPr>
      </p:sp>
      <p:pic>
        <p:nvPicPr>
          <p:cNvPr id="28" name="icono-128" descr="Database">    </p:cNvPr>
          <p:cNvPicPr>
            <a:picLocks noChangeAspect="1"/>
          </p:cNvPicPr>
          <p:nvPr/>
        </p:nvPicPr>
        <p:blipFill>
          <a:blip r:embed="rId4"/>
          <a:stretch>
            <a:fillRect/>
          </a:stretch>
        </p:blipFill>
        <p:spPr>
          <a:xfrm>
            <a:off x="9208008" y="3236976"/>
            <a:ext cx="310896" cy="310896"/>
          </a:xfrm>
          <a:prstGeom prst="rect">
            <a:avLst/>
          </a:prstGeom>
        </p:spPr>
      </p:pic>
      <p:sp>
        <p:nvSpPr>
          <p:cNvPr id="29" name="texto-129"/>
          <p:cNvSpPr txBox="1"/>
          <p:nvPr/>
        </p:nvSpPr>
        <p:spPr>
          <a:xfrm>
            <a:off x="9665208" y="3035808"/>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Medicamentos, dispositivos e insumos</a:t>
            </a:r>
            <a:endParaRPr lang="en-US" sz="1400" dirty="0"/>
          </a:p>
        </p:txBody>
      </p:sp>
      <p:sp>
        <p:nvSpPr>
          <p:cNvPr id="30" name="tarjeta-130"/>
          <p:cNvSpPr/>
          <p:nvPr/>
        </p:nvSpPr>
        <p:spPr>
          <a:xfrm>
            <a:off x="6263640" y="3877056"/>
            <a:ext cx="2615184" cy="713232"/>
          </a:xfrm>
          <a:prstGeom prst="roundRect">
            <a:avLst>
              <a:gd name="adj" fmla="val 12821"/>
            </a:avLst>
          </a:prstGeom>
          <a:solidFill>
            <a:srgbClr val="F6F4EF"/>
          </a:solidFill>
          <a:ln w="15875">
            <a:solidFill>
              <a:srgbClr val="D5DEDB"/>
            </a:solidFill>
            <a:prstDash val="solid"/>
          </a:ln>
        </p:spPr>
      </p:sp>
      <p:pic>
        <p:nvPicPr>
          <p:cNvPr id="31" name="icono-131" descr="Settings">    </p:cNvPr>
          <p:cNvPicPr>
            <a:picLocks noChangeAspect="1"/>
          </p:cNvPicPr>
          <p:nvPr/>
        </p:nvPicPr>
        <p:blipFill>
          <a:blip r:embed="rId5"/>
          <a:stretch>
            <a:fillRect/>
          </a:stretch>
        </p:blipFill>
        <p:spPr>
          <a:xfrm>
            <a:off x="6446520" y="4078224"/>
            <a:ext cx="310896" cy="310896"/>
          </a:xfrm>
          <a:prstGeom prst="rect">
            <a:avLst/>
          </a:prstGeom>
        </p:spPr>
      </p:pic>
      <p:sp>
        <p:nvSpPr>
          <p:cNvPr id="32" name="texto-132"/>
          <p:cNvSpPr txBox="1"/>
          <p:nvPr/>
        </p:nvSpPr>
        <p:spPr>
          <a:xfrm>
            <a:off x="6903720" y="3877056"/>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Procesos prioritarios</a:t>
            </a:r>
            <a:endParaRPr lang="en-US" sz="1400" dirty="0"/>
          </a:p>
        </p:txBody>
      </p:sp>
      <p:sp>
        <p:nvSpPr>
          <p:cNvPr id="33" name="tarjeta-133"/>
          <p:cNvSpPr/>
          <p:nvPr/>
        </p:nvSpPr>
        <p:spPr>
          <a:xfrm>
            <a:off x="9025128" y="3877056"/>
            <a:ext cx="2615184" cy="713232"/>
          </a:xfrm>
          <a:prstGeom prst="roundRect">
            <a:avLst>
              <a:gd name="adj" fmla="val 12821"/>
            </a:avLst>
          </a:prstGeom>
          <a:solidFill>
            <a:srgbClr val="F6F4EF"/>
          </a:solidFill>
          <a:ln w="15875">
            <a:solidFill>
              <a:srgbClr val="D5DEDB"/>
            </a:solidFill>
            <a:prstDash val="solid"/>
          </a:ln>
        </p:spPr>
      </p:sp>
      <p:pic>
        <p:nvPicPr>
          <p:cNvPr id="34" name="icono-134" descr="Book">    </p:cNvPr>
          <p:cNvPicPr>
            <a:picLocks noChangeAspect="1"/>
          </p:cNvPicPr>
          <p:nvPr/>
        </p:nvPicPr>
        <p:blipFill>
          <a:blip r:embed="rId6"/>
          <a:stretch>
            <a:fillRect/>
          </a:stretch>
        </p:blipFill>
        <p:spPr>
          <a:xfrm>
            <a:off x="9208008" y="4078224"/>
            <a:ext cx="310896" cy="310896"/>
          </a:xfrm>
          <a:prstGeom prst="rect">
            <a:avLst/>
          </a:prstGeom>
        </p:spPr>
      </p:pic>
      <p:sp>
        <p:nvSpPr>
          <p:cNvPr id="35" name="texto-135"/>
          <p:cNvSpPr txBox="1"/>
          <p:nvPr/>
        </p:nvSpPr>
        <p:spPr>
          <a:xfrm>
            <a:off x="9665208" y="3877056"/>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Historia clínica y registros</a:t>
            </a:r>
            <a:endParaRPr lang="en-US" sz="1400" dirty="0"/>
          </a:p>
        </p:txBody>
      </p:sp>
      <p:sp>
        <p:nvSpPr>
          <p:cNvPr id="36" name="tarjeta-136"/>
          <p:cNvSpPr/>
          <p:nvPr/>
        </p:nvSpPr>
        <p:spPr>
          <a:xfrm>
            <a:off x="6263640" y="4718304"/>
            <a:ext cx="2615184" cy="713232"/>
          </a:xfrm>
          <a:prstGeom prst="roundRect">
            <a:avLst>
              <a:gd name="adj" fmla="val 12821"/>
            </a:avLst>
          </a:prstGeom>
          <a:solidFill>
            <a:srgbClr val="F6F4EF"/>
          </a:solidFill>
          <a:ln w="15875">
            <a:solidFill>
              <a:srgbClr val="D5DEDB"/>
            </a:solidFill>
            <a:prstDash val="solid"/>
          </a:ln>
        </p:spPr>
      </p:sp>
      <p:pic>
        <p:nvPicPr>
          <p:cNvPr id="37" name="icono-137" descr="Link">    </p:cNvPr>
          <p:cNvPicPr>
            <a:picLocks noChangeAspect="1"/>
          </p:cNvPicPr>
          <p:nvPr/>
        </p:nvPicPr>
        <p:blipFill>
          <a:blip r:embed="rId7"/>
          <a:stretch>
            <a:fillRect/>
          </a:stretch>
        </p:blipFill>
        <p:spPr>
          <a:xfrm>
            <a:off x="6446520" y="4919472"/>
            <a:ext cx="310896" cy="310896"/>
          </a:xfrm>
          <a:prstGeom prst="rect">
            <a:avLst/>
          </a:prstGeom>
        </p:spPr>
      </p:pic>
      <p:sp>
        <p:nvSpPr>
          <p:cNvPr id="38" name="texto-138"/>
          <p:cNvSpPr txBox="1"/>
          <p:nvPr/>
        </p:nvSpPr>
        <p:spPr>
          <a:xfrm>
            <a:off x="6903720" y="4718304"/>
            <a:ext cx="1837944" cy="71323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Interdependencia</a:t>
            </a:r>
            <a:endParaRPr lang="en-US" sz="1400" dirty="0"/>
          </a:p>
        </p:txBody>
      </p:sp>
      <p:sp>
        <p:nvSpPr>
          <p:cNvPr id="39" name="tarjeta-139"/>
          <p:cNvSpPr/>
          <p:nvPr/>
        </p:nvSpPr>
        <p:spPr>
          <a:xfrm>
            <a:off x="9025128" y="4718304"/>
            <a:ext cx="2615184" cy="713232"/>
          </a:xfrm>
          <a:prstGeom prst="roundRect">
            <a:avLst>
              <a:gd name="adj" fmla="val 12821"/>
            </a:avLst>
          </a:prstGeom>
          <a:solidFill>
            <a:srgbClr val="F0A46C"/>
          </a:solidFill>
          <a:ln/>
        </p:spPr>
      </p:sp>
      <p:pic>
        <p:nvPicPr>
          <p:cNvPr id="40" name="icono-140" descr="Warning">    </p:cNvPr>
          <p:cNvPicPr>
            <a:picLocks noChangeAspect="1"/>
          </p:cNvPicPr>
          <p:nvPr/>
        </p:nvPicPr>
        <p:blipFill>
          <a:blip r:embed="rId8"/>
          <a:stretch>
            <a:fillRect/>
          </a:stretch>
        </p:blipFill>
        <p:spPr>
          <a:xfrm>
            <a:off x="9208008" y="4919472"/>
            <a:ext cx="310896" cy="310896"/>
          </a:xfrm>
          <a:prstGeom prst="rect">
            <a:avLst/>
          </a:prstGeom>
        </p:spPr>
      </p:pic>
      <p:sp>
        <p:nvSpPr>
          <p:cNvPr id="41" name="texto-141"/>
          <p:cNvSpPr txBox="1"/>
          <p:nvPr/>
        </p:nvSpPr>
        <p:spPr>
          <a:xfrm>
            <a:off x="9665208" y="4718304"/>
            <a:ext cx="1837944" cy="713232"/>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Sin habilitación, no se presta</a:t>
            </a:r>
            <a:endParaRPr lang="en-US" sz="14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COMPONENTE 2 · OBLIGATORIO · EL MOTOR DEL MEJORAMIENTO</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Auditoría para el Mejoramiento de la Calidad</a:t>
            </a:r>
            <a:endParaRPr lang="en-US" sz="3200" dirty="0"/>
          </a:p>
        </p:txBody>
      </p:sp>
      <p:sp>
        <p:nvSpPr>
          <p:cNvPr id="4" name="texto-142"/>
          <p:cNvSpPr txBox="1"/>
          <p:nvPr/>
        </p:nvSpPr>
        <p:spPr>
          <a:xfrm>
            <a:off x="548640" y="1783080"/>
            <a:ext cx="4846320" cy="1097280"/>
          </a:xfrm>
          <a:prstGeom prst="rect">
            <a:avLst/>
          </a:prstGeom>
          <a:noFill/>
          <a:ln/>
        </p:spPr>
        <p:txBody>
          <a:bodyPr wrap="square" lIns="0" tIns="0" rIns="0" bIns="0" rtlCol="0" anchor="t"/>
          <a:lstStyle/>
          <a:p>
            <a:pPr indent="0" marL="0">
              <a:lnSpc>
                <a:spcPct val="120000"/>
              </a:lnSpc>
              <a:buNone/>
            </a:pPr>
            <a:r>
              <a:rPr lang="en-US" sz="1500" dirty="0">
                <a:solidFill>
                  <a:schemeClr val="tx2"/>
                </a:solidFill>
              </a:rPr>
              <a:t>Mecanismo sistemático y continuo de evaluación y mejoramiento de la </a:t>
            </a:r>
            <a:pPr indent="0" marL="0">
              <a:lnSpc>
                <a:spcPct val="120000"/>
              </a:lnSpc>
              <a:buNone/>
            </a:pPr>
            <a:r>
              <a:rPr lang="en-US" sz="1500" b="1" dirty="0">
                <a:solidFill>
                  <a:schemeClr val="tx2"/>
                </a:solidFill>
              </a:rPr>
              <a:t>calidad observada</a:t>
            </a:r>
            <a:pPr indent="0" marL="0">
              <a:lnSpc>
                <a:spcPct val="120000"/>
              </a:lnSpc>
              <a:buNone/>
            </a:pPr>
            <a:r>
              <a:rPr lang="en-US" sz="1500" dirty="0">
                <a:solidFill>
                  <a:schemeClr val="tx2"/>
                </a:solidFill>
              </a:rPr>
              <a:t> frente a la </a:t>
            </a:r>
            <a:pPr indent="0" marL="0">
              <a:lnSpc>
                <a:spcPct val="120000"/>
              </a:lnSpc>
              <a:buNone/>
            </a:pPr>
            <a:r>
              <a:rPr lang="en-US" sz="1500" b="1" dirty="0">
                <a:solidFill>
                  <a:schemeClr val="tx2"/>
                </a:solidFill>
              </a:rPr>
              <a:t>calidad esperada</a:t>
            </a:r>
            <a:pPr indent="0" marL="0">
              <a:lnSpc>
                <a:spcPct val="120000"/>
              </a:lnSpc>
              <a:buNone/>
            </a:pPr>
            <a:r>
              <a:rPr lang="en-US" sz="1500" dirty="0">
                <a:solidFill>
                  <a:schemeClr val="tx2"/>
                </a:solidFill>
              </a:rPr>
              <a:t> (Decreto 1011, 2006).</a:t>
            </a:r>
            <a:endParaRPr lang="en-US" sz="1500" dirty="0"/>
          </a:p>
        </p:txBody>
      </p:sp>
      <p:sp>
        <p:nvSpPr>
          <p:cNvPr id="5" name="texto-143"/>
          <p:cNvSpPr txBox="1"/>
          <p:nvPr/>
        </p:nvSpPr>
        <p:spPr>
          <a:xfrm>
            <a:off x="548640" y="3063240"/>
            <a:ext cx="4846320"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Niveles de operación</a:t>
            </a:r>
            <a:endParaRPr lang="en-US" sz="1400" dirty="0"/>
          </a:p>
        </p:txBody>
      </p:sp>
      <p:sp>
        <p:nvSpPr>
          <p:cNvPr id="6" name="pastilla-144"/>
          <p:cNvSpPr/>
          <p:nvPr/>
        </p:nvSpPr>
        <p:spPr>
          <a:xfrm>
            <a:off x="548640" y="3447288"/>
            <a:ext cx="1275588" cy="384048"/>
          </a:xfrm>
          <a:prstGeom prst="roundRect">
            <a:avLst>
              <a:gd name="adj" fmla="val 50000"/>
            </a:avLst>
          </a:prstGeom>
          <a:solidFill>
            <a:srgbClr val="F6F4EF"/>
          </a:solidFill>
          <a:ln/>
        </p:spPr>
      </p:sp>
      <p:sp>
        <p:nvSpPr>
          <p:cNvPr id="7" name="texto-145"/>
          <p:cNvSpPr txBox="1"/>
          <p:nvPr/>
        </p:nvSpPr>
        <p:spPr>
          <a:xfrm>
            <a:off x="548640" y="3447288"/>
            <a:ext cx="1275588" cy="384048"/>
          </a:xfrm>
          <a:prstGeom prst="rect">
            <a:avLst/>
          </a:prstGeom>
          <a:noFill/>
          <a:ln/>
        </p:spPr>
        <p:txBody>
          <a:bodyPr wrap="square" lIns="0" tIns="0" rIns="0" bIns="0" rtlCol="0" anchor="ctr"/>
          <a:lstStyle/>
          <a:p>
            <a:pPr algn="ctr" indent="0" marL="0">
              <a:lnSpc>
                <a:spcPct val="110000"/>
              </a:lnSpc>
              <a:buNone/>
            </a:pPr>
            <a:r>
              <a:rPr lang="en-US" sz="1300" dirty="0">
                <a:solidFill>
                  <a:srgbClr val="12343B"/>
                </a:solidFill>
              </a:rPr>
              <a:t>Autocontrol</a:t>
            </a:r>
            <a:endParaRPr lang="en-US" sz="1300" dirty="0"/>
          </a:p>
        </p:txBody>
      </p:sp>
      <p:sp>
        <p:nvSpPr>
          <p:cNvPr id="8" name="pastilla-146"/>
          <p:cNvSpPr/>
          <p:nvPr/>
        </p:nvSpPr>
        <p:spPr>
          <a:xfrm>
            <a:off x="1961388" y="3447288"/>
            <a:ext cx="1796796" cy="384048"/>
          </a:xfrm>
          <a:prstGeom prst="roundRect">
            <a:avLst>
              <a:gd name="adj" fmla="val 50000"/>
            </a:avLst>
          </a:prstGeom>
          <a:solidFill>
            <a:srgbClr val="F6F4EF"/>
          </a:solidFill>
          <a:ln/>
        </p:spPr>
      </p:sp>
      <p:sp>
        <p:nvSpPr>
          <p:cNvPr id="9" name="texto-147"/>
          <p:cNvSpPr txBox="1"/>
          <p:nvPr/>
        </p:nvSpPr>
        <p:spPr>
          <a:xfrm>
            <a:off x="1961388" y="3447288"/>
            <a:ext cx="1796796" cy="384048"/>
          </a:xfrm>
          <a:prstGeom prst="rect">
            <a:avLst/>
          </a:prstGeom>
          <a:noFill/>
          <a:ln/>
        </p:spPr>
        <p:txBody>
          <a:bodyPr wrap="square" lIns="0" tIns="0" rIns="0" bIns="0" rtlCol="0" anchor="ctr"/>
          <a:lstStyle/>
          <a:p>
            <a:pPr algn="ctr" indent="0" marL="0">
              <a:lnSpc>
                <a:spcPct val="110000"/>
              </a:lnSpc>
              <a:buNone/>
            </a:pPr>
            <a:r>
              <a:rPr lang="en-US" sz="1300" dirty="0">
                <a:solidFill>
                  <a:srgbClr val="12343B"/>
                </a:solidFill>
              </a:rPr>
              <a:t>Auditoría interna</a:t>
            </a:r>
            <a:endParaRPr lang="en-US" sz="1300" dirty="0"/>
          </a:p>
        </p:txBody>
      </p:sp>
      <p:sp>
        <p:nvSpPr>
          <p:cNvPr id="10" name="pastilla-148"/>
          <p:cNvSpPr/>
          <p:nvPr/>
        </p:nvSpPr>
        <p:spPr>
          <a:xfrm>
            <a:off x="3895344" y="3447288"/>
            <a:ext cx="1796796" cy="384048"/>
          </a:xfrm>
          <a:prstGeom prst="roundRect">
            <a:avLst>
              <a:gd name="adj" fmla="val 50000"/>
            </a:avLst>
          </a:prstGeom>
          <a:solidFill>
            <a:srgbClr val="F6F4EF"/>
          </a:solidFill>
          <a:ln/>
        </p:spPr>
      </p:sp>
      <p:sp>
        <p:nvSpPr>
          <p:cNvPr id="11" name="texto-149"/>
          <p:cNvSpPr txBox="1"/>
          <p:nvPr/>
        </p:nvSpPr>
        <p:spPr>
          <a:xfrm>
            <a:off x="3895344" y="3447288"/>
            <a:ext cx="1796796" cy="384048"/>
          </a:xfrm>
          <a:prstGeom prst="rect">
            <a:avLst/>
          </a:prstGeom>
          <a:noFill/>
          <a:ln/>
        </p:spPr>
        <p:txBody>
          <a:bodyPr wrap="square" lIns="0" tIns="0" rIns="0" bIns="0" rtlCol="0" anchor="ctr"/>
          <a:lstStyle/>
          <a:p>
            <a:pPr algn="ctr" indent="0" marL="0">
              <a:lnSpc>
                <a:spcPct val="110000"/>
              </a:lnSpc>
              <a:buNone/>
            </a:pPr>
            <a:r>
              <a:rPr lang="en-US" sz="1300" dirty="0">
                <a:solidFill>
                  <a:srgbClr val="12343B"/>
                </a:solidFill>
              </a:rPr>
              <a:t>Auditoría externa</a:t>
            </a:r>
            <a:endParaRPr lang="en-US" sz="1300" dirty="0"/>
          </a:p>
        </p:txBody>
      </p:sp>
      <p:sp>
        <p:nvSpPr>
          <p:cNvPr id="12" name="texto-150"/>
          <p:cNvSpPr txBox="1"/>
          <p:nvPr/>
        </p:nvSpPr>
        <p:spPr>
          <a:xfrm>
            <a:off x="548640" y="4114800"/>
            <a:ext cx="4846320" cy="292608"/>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Tipos de acciones</a:t>
            </a:r>
            <a:endParaRPr lang="en-US" sz="1400" dirty="0"/>
          </a:p>
        </p:txBody>
      </p:sp>
      <p:sp>
        <p:nvSpPr>
          <p:cNvPr id="13" name="pastilla-151"/>
          <p:cNvSpPr/>
          <p:nvPr/>
        </p:nvSpPr>
        <p:spPr>
          <a:xfrm>
            <a:off x="548640" y="4498848"/>
            <a:ext cx="1275588" cy="384048"/>
          </a:xfrm>
          <a:prstGeom prst="roundRect">
            <a:avLst>
              <a:gd name="adj" fmla="val 50000"/>
            </a:avLst>
          </a:prstGeom>
          <a:solidFill>
            <a:srgbClr val="12343B"/>
          </a:solidFill>
          <a:ln/>
        </p:spPr>
      </p:sp>
      <p:sp>
        <p:nvSpPr>
          <p:cNvPr id="14" name="texto-152"/>
          <p:cNvSpPr txBox="1"/>
          <p:nvPr/>
        </p:nvSpPr>
        <p:spPr>
          <a:xfrm>
            <a:off x="548640" y="4498848"/>
            <a:ext cx="1275588" cy="384048"/>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Preventivas</a:t>
            </a:r>
            <a:endParaRPr lang="en-US" sz="1300" dirty="0"/>
          </a:p>
        </p:txBody>
      </p:sp>
      <p:sp>
        <p:nvSpPr>
          <p:cNvPr id="15" name="pastilla-153"/>
          <p:cNvSpPr/>
          <p:nvPr/>
        </p:nvSpPr>
        <p:spPr>
          <a:xfrm>
            <a:off x="1961388" y="4498848"/>
            <a:ext cx="1536192" cy="384048"/>
          </a:xfrm>
          <a:prstGeom prst="roundRect">
            <a:avLst>
              <a:gd name="adj" fmla="val 50000"/>
            </a:avLst>
          </a:prstGeom>
          <a:solidFill>
            <a:srgbClr val="12343B"/>
          </a:solidFill>
          <a:ln/>
        </p:spPr>
      </p:sp>
      <p:sp>
        <p:nvSpPr>
          <p:cNvPr id="16" name="texto-154"/>
          <p:cNvSpPr txBox="1"/>
          <p:nvPr/>
        </p:nvSpPr>
        <p:spPr>
          <a:xfrm>
            <a:off x="1961388" y="4498848"/>
            <a:ext cx="1536192" cy="384048"/>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De seguimiento</a:t>
            </a:r>
            <a:endParaRPr lang="en-US" sz="1300" dirty="0"/>
          </a:p>
        </p:txBody>
      </p:sp>
      <p:sp>
        <p:nvSpPr>
          <p:cNvPr id="17" name="pastilla-155"/>
          <p:cNvSpPr/>
          <p:nvPr/>
        </p:nvSpPr>
        <p:spPr>
          <a:xfrm>
            <a:off x="3634740" y="4498848"/>
            <a:ext cx="1362456" cy="384048"/>
          </a:xfrm>
          <a:prstGeom prst="roundRect">
            <a:avLst>
              <a:gd name="adj" fmla="val 50000"/>
            </a:avLst>
          </a:prstGeom>
          <a:solidFill>
            <a:srgbClr val="12343B"/>
          </a:solidFill>
          <a:ln/>
        </p:spPr>
      </p:sp>
      <p:sp>
        <p:nvSpPr>
          <p:cNvPr id="18" name="texto-156"/>
          <p:cNvSpPr txBox="1"/>
          <p:nvPr/>
        </p:nvSpPr>
        <p:spPr>
          <a:xfrm>
            <a:off x="3634740" y="4498848"/>
            <a:ext cx="1362456" cy="384048"/>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Coyunturales</a:t>
            </a:r>
            <a:endParaRPr lang="en-US" sz="1300" dirty="0"/>
          </a:p>
        </p:txBody>
      </p:sp>
      <p:sp>
        <p:nvSpPr>
          <p:cNvPr id="19" name="texto-157"/>
          <p:cNvSpPr txBox="1"/>
          <p:nvPr/>
        </p:nvSpPr>
        <p:spPr>
          <a:xfrm>
            <a:off x="5760720" y="1783080"/>
            <a:ext cx="5852160" cy="27432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23675F"/>
                </a:solidFill>
              </a:rPr>
              <a:t>RUTA CRÍTICA DEL PAMEC</a:t>
            </a:r>
            <a:endParaRPr lang="en-US" sz="1200" dirty="0"/>
          </a:p>
        </p:txBody>
      </p:sp>
      <p:sp>
        <p:nvSpPr>
          <p:cNvPr id="20" name="tarjeta-158"/>
          <p:cNvSpPr/>
          <p:nvPr/>
        </p:nvSpPr>
        <p:spPr>
          <a:xfrm>
            <a:off x="5760720" y="2194560"/>
            <a:ext cx="1868424" cy="1097280"/>
          </a:xfrm>
          <a:prstGeom prst="roundRect">
            <a:avLst>
              <a:gd name="adj" fmla="val 8333"/>
            </a:avLst>
          </a:prstGeom>
          <a:solidFill>
            <a:srgbClr val="F6F4EF"/>
          </a:solidFill>
          <a:ln/>
        </p:spPr>
      </p:sp>
      <p:sp>
        <p:nvSpPr>
          <p:cNvPr id="21" name="texto-159"/>
          <p:cNvSpPr txBox="1"/>
          <p:nvPr/>
        </p:nvSpPr>
        <p:spPr>
          <a:xfrm>
            <a:off x="5961888" y="233172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1</a:t>
            </a:r>
            <a:endParaRPr lang="en-US" sz="2000" dirty="0"/>
          </a:p>
        </p:txBody>
      </p:sp>
      <p:sp>
        <p:nvSpPr>
          <p:cNvPr id="22" name="texto-160"/>
          <p:cNvSpPr txBox="1"/>
          <p:nvPr/>
        </p:nvSpPr>
        <p:spPr>
          <a:xfrm>
            <a:off x="5961888" y="274320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Autoevaluación</a:t>
            </a:r>
            <a:endParaRPr lang="en-US" sz="1300" dirty="0"/>
          </a:p>
        </p:txBody>
      </p:sp>
      <p:sp>
        <p:nvSpPr>
          <p:cNvPr id="23" name="tarjeta-161"/>
          <p:cNvSpPr/>
          <p:nvPr/>
        </p:nvSpPr>
        <p:spPr>
          <a:xfrm>
            <a:off x="7766304" y="2194560"/>
            <a:ext cx="1868424" cy="1097280"/>
          </a:xfrm>
          <a:prstGeom prst="roundRect">
            <a:avLst>
              <a:gd name="adj" fmla="val 8333"/>
            </a:avLst>
          </a:prstGeom>
          <a:solidFill>
            <a:srgbClr val="F6F4EF"/>
          </a:solidFill>
          <a:ln/>
        </p:spPr>
      </p:sp>
      <p:sp>
        <p:nvSpPr>
          <p:cNvPr id="24" name="texto-162"/>
          <p:cNvSpPr txBox="1"/>
          <p:nvPr/>
        </p:nvSpPr>
        <p:spPr>
          <a:xfrm>
            <a:off x="7967472" y="233172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2</a:t>
            </a:r>
            <a:endParaRPr lang="en-US" sz="2000" dirty="0"/>
          </a:p>
        </p:txBody>
      </p:sp>
      <p:sp>
        <p:nvSpPr>
          <p:cNvPr id="25" name="texto-163"/>
          <p:cNvSpPr txBox="1"/>
          <p:nvPr/>
        </p:nvSpPr>
        <p:spPr>
          <a:xfrm>
            <a:off x="7967472" y="274320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Selección de procesos</a:t>
            </a:r>
            <a:endParaRPr lang="en-US" sz="1300" dirty="0"/>
          </a:p>
        </p:txBody>
      </p:sp>
      <p:sp>
        <p:nvSpPr>
          <p:cNvPr id="26" name="tarjeta-164"/>
          <p:cNvSpPr/>
          <p:nvPr/>
        </p:nvSpPr>
        <p:spPr>
          <a:xfrm>
            <a:off x="9771888" y="2194560"/>
            <a:ext cx="1868424" cy="1097280"/>
          </a:xfrm>
          <a:prstGeom prst="roundRect">
            <a:avLst>
              <a:gd name="adj" fmla="val 8333"/>
            </a:avLst>
          </a:prstGeom>
          <a:solidFill>
            <a:srgbClr val="F6F4EF"/>
          </a:solidFill>
          <a:ln/>
        </p:spPr>
      </p:sp>
      <p:sp>
        <p:nvSpPr>
          <p:cNvPr id="27" name="texto-165"/>
          <p:cNvSpPr txBox="1"/>
          <p:nvPr/>
        </p:nvSpPr>
        <p:spPr>
          <a:xfrm>
            <a:off x="9973056" y="233172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3</a:t>
            </a:r>
            <a:endParaRPr lang="en-US" sz="2000" dirty="0"/>
          </a:p>
        </p:txBody>
      </p:sp>
      <p:sp>
        <p:nvSpPr>
          <p:cNvPr id="28" name="texto-166"/>
          <p:cNvSpPr txBox="1"/>
          <p:nvPr/>
        </p:nvSpPr>
        <p:spPr>
          <a:xfrm>
            <a:off x="9973056" y="274320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Priorización</a:t>
            </a:r>
            <a:endParaRPr lang="en-US" sz="1300" dirty="0"/>
          </a:p>
        </p:txBody>
      </p:sp>
      <p:sp>
        <p:nvSpPr>
          <p:cNvPr id="29" name="tarjeta-167"/>
          <p:cNvSpPr/>
          <p:nvPr/>
        </p:nvSpPr>
        <p:spPr>
          <a:xfrm>
            <a:off x="5760720" y="3429000"/>
            <a:ext cx="1868424" cy="1097280"/>
          </a:xfrm>
          <a:prstGeom prst="roundRect">
            <a:avLst>
              <a:gd name="adj" fmla="val 8333"/>
            </a:avLst>
          </a:prstGeom>
          <a:solidFill>
            <a:srgbClr val="F6F4EF"/>
          </a:solidFill>
          <a:ln/>
        </p:spPr>
      </p:sp>
      <p:sp>
        <p:nvSpPr>
          <p:cNvPr id="30" name="texto-168"/>
          <p:cNvSpPr txBox="1"/>
          <p:nvPr/>
        </p:nvSpPr>
        <p:spPr>
          <a:xfrm>
            <a:off x="5961888" y="356616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4</a:t>
            </a:r>
            <a:endParaRPr lang="en-US" sz="2000" dirty="0"/>
          </a:p>
        </p:txBody>
      </p:sp>
      <p:sp>
        <p:nvSpPr>
          <p:cNvPr id="31" name="texto-169"/>
          <p:cNvSpPr txBox="1"/>
          <p:nvPr/>
        </p:nvSpPr>
        <p:spPr>
          <a:xfrm>
            <a:off x="5961888" y="397764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Calidad esperada</a:t>
            </a:r>
            <a:endParaRPr lang="en-US" sz="1300" dirty="0"/>
          </a:p>
        </p:txBody>
      </p:sp>
      <p:sp>
        <p:nvSpPr>
          <p:cNvPr id="32" name="tarjeta-170"/>
          <p:cNvSpPr/>
          <p:nvPr/>
        </p:nvSpPr>
        <p:spPr>
          <a:xfrm>
            <a:off x="7766304" y="3429000"/>
            <a:ext cx="1868424" cy="1097280"/>
          </a:xfrm>
          <a:prstGeom prst="roundRect">
            <a:avLst>
              <a:gd name="adj" fmla="val 8333"/>
            </a:avLst>
          </a:prstGeom>
          <a:solidFill>
            <a:srgbClr val="F6F4EF"/>
          </a:solidFill>
          <a:ln/>
        </p:spPr>
      </p:sp>
      <p:sp>
        <p:nvSpPr>
          <p:cNvPr id="33" name="texto-171"/>
          <p:cNvSpPr txBox="1"/>
          <p:nvPr/>
        </p:nvSpPr>
        <p:spPr>
          <a:xfrm>
            <a:off x="7967472" y="356616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5</a:t>
            </a:r>
            <a:endParaRPr lang="en-US" sz="2000" dirty="0"/>
          </a:p>
        </p:txBody>
      </p:sp>
      <p:sp>
        <p:nvSpPr>
          <p:cNvPr id="34" name="texto-172"/>
          <p:cNvSpPr txBox="1"/>
          <p:nvPr/>
        </p:nvSpPr>
        <p:spPr>
          <a:xfrm>
            <a:off x="7967472" y="397764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Medición inicial</a:t>
            </a:r>
            <a:endParaRPr lang="en-US" sz="1300" dirty="0"/>
          </a:p>
        </p:txBody>
      </p:sp>
      <p:sp>
        <p:nvSpPr>
          <p:cNvPr id="35" name="tarjeta-173"/>
          <p:cNvSpPr/>
          <p:nvPr/>
        </p:nvSpPr>
        <p:spPr>
          <a:xfrm>
            <a:off x="9771888" y="3429000"/>
            <a:ext cx="1868424" cy="1097280"/>
          </a:xfrm>
          <a:prstGeom prst="roundRect">
            <a:avLst>
              <a:gd name="adj" fmla="val 8333"/>
            </a:avLst>
          </a:prstGeom>
          <a:solidFill>
            <a:srgbClr val="F6F4EF"/>
          </a:solidFill>
          <a:ln/>
        </p:spPr>
      </p:sp>
      <p:sp>
        <p:nvSpPr>
          <p:cNvPr id="36" name="texto-174"/>
          <p:cNvSpPr txBox="1"/>
          <p:nvPr/>
        </p:nvSpPr>
        <p:spPr>
          <a:xfrm>
            <a:off x="9973056" y="356616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6</a:t>
            </a:r>
            <a:endParaRPr lang="en-US" sz="2000" dirty="0"/>
          </a:p>
        </p:txBody>
      </p:sp>
      <p:sp>
        <p:nvSpPr>
          <p:cNvPr id="37" name="texto-175"/>
          <p:cNvSpPr txBox="1"/>
          <p:nvPr/>
        </p:nvSpPr>
        <p:spPr>
          <a:xfrm>
            <a:off x="9973056" y="397764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Plan de acción</a:t>
            </a:r>
            <a:endParaRPr lang="en-US" sz="1300" dirty="0"/>
          </a:p>
        </p:txBody>
      </p:sp>
      <p:sp>
        <p:nvSpPr>
          <p:cNvPr id="38" name="tarjeta-176"/>
          <p:cNvSpPr/>
          <p:nvPr/>
        </p:nvSpPr>
        <p:spPr>
          <a:xfrm>
            <a:off x="5760720" y="4663440"/>
            <a:ext cx="1868424" cy="1097280"/>
          </a:xfrm>
          <a:prstGeom prst="roundRect">
            <a:avLst>
              <a:gd name="adj" fmla="val 8333"/>
            </a:avLst>
          </a:prstGeom>
          <a:solidFill>
            <a:srgbClr val="F6F4EF"/>
          </a:solidFill>
          <a:ln/>
        </p:spPr>
      </p:sp>
      <p:sp>
        <p:nvSpPr>
          <p:cNvPr id="39" name="texto-177"/>
          <p:cNvSpPr txBox="1"/>
          <p:nvPr/>
        </p:nvSpPr>
        <p:spPr>
          <a:xfrm>
            <a:off x="5961888" y="480060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7</a:t>
            </a:r>
            <a:endParaRPr lang="en-US" sz="2000" dirty="0"/>
          </a:p>
        </p:txBody>
      </p:sp>
      <p:sp>
        <p:nvSpPr>
          <p:cNvPr id="40" name="texto-178"/>
          <p:cNvSpPr txBox="1"/>
          <p:nvPr/>
        </p:nvSpPr>
        <p:spPr>
          <a:xfrm>
            <a:off x="5961888" y="521208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Ejecución</a:t>
            </a:r>
            <a:endParaRPr lang="en-US" sz="1300" dirty="0"/>
          </a:p>
        </p:txBody>
      </p:sp>
      <p:sp>
        <p:nvSpPr>
          <p:cNvPr id="41" name="tarjeta-179"/>
          <p:cNvSpPr/>
          <p:nvPr/>
        </p:nvSpPr>
        <p:spPr>
          <a:xfrm>
            <a:off x="7766304" y="4663440"/>
            <a:ext cx="1868424" cy="1097280"/>
          </a:xfrm>
          <a:prstGeom prst="roundRect">
            <a:avLst>
              <a:gd name="adj" fmla="val 8333"/>
            </a:avLst>
          </a:prstGeom>
          <a:solidFill>
            <a:srgbClr val="F6F4EF"/>
          </a:solidFill>
          <a:ln/>
        </p:spPr>
      </p:sp>
      <p:sp>
        <p:nvSpPr>
          <p:cNvPr id="42" name="texto-180"/>
          <p:cNvSpPr txBox="1"/>
          <p:nvPr/>
        </p:nvSpPr>
        <p:spPr>
          <a:xfrm>
            <a:off x="7967472" y="480060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A9501F"/>
                </a:solidFill>
                <a:latin typeface="Cambria" pitchFamily="34" charset="0"/>
                <a:ea typeface="Cambria" pitchFamily="34" charset="-122"/>
                <a:cs typeface="Cambria" pitchFamily="34" charset="-120"/>
              </a:rPr>
              <a:t>8</a:t>
            </a:r>
            <a:endParaRPr lang="en-US" sz="2000" dirty="0"/>
          </a:p>
        </p:txBody>
      </p:sp>
      <p:sp>
        <p:nvSpPr>
          <p:cNvPr id="43" name="texto-181"/>
          <p:cNvSpPr txBox="1"/>
          <p:nvPr/>
        </p:nvSpPr>
        <p:spPr>
          <a:xfrm>
            <a:off x="7967472" y="521208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Evaluación</a:t>
            </a:r>
            <a:endParaRPr lang="en-US" sz="1300" dirty="0"/>
          </a:p>
        </p:txBody>
      </p:sp>
      <p:sp>
        <p:nvSpPr>
          <p:cNvPr id="44" name="tarjeta-182"/>
          <p:cNvSpPr/>
          <p:nvPr/>
        </p:nvSpPr>
        <p:spPr>
          <a:xfrm>
            <a:off x="9771888" y="4663440"/>
            <a:ext cx="1868424" cy="1097280"/>
          </a:xfrm>
          <a:prstGeom prst="roundRect">
            <a:avLst>
              <a:gd name="adj" fmla="val 8333"/>
            </a:avLst>
          </a:prstGeom>
          <a:solidFill>
            <a:srgbClr val="12343B"/>
          </a:solidFill>
          <a:ln/>
        </p:spPr>
      </p:sp>
      <p:sp>
        <p:nvSpPr>
          <p:cNvPr id="45" name="texto-183"/>
          <p:cNvSpPr txBox="1"/>
          <p:nvPr/>
        </p:nvSpPr>
        <p:spPr>
          <a:xfrm>
            <a:off x="9973056" y="4800600"/>
            <a:ext cx="548640" cy="411480"/>
          </a:xfrm>
          <a:prstGeom prst="rect">
            <a:avLst/>
          </a:prstGeom>
          <a:noFill/>
          <a:ln/>
        </p:spPr>
        <p:txBody>
          <a:bodyPr wrap="square" lIns="0" tIns="0" rIns="0" bIns="0" rtlCol="0" anchor="t"/>
          <a:lstStyle/>
          <a:p>
            <a:pPr algn="l" indent="0" marL="0">
              <a:lnSpc>
                <a:spcPct val="110000"/>
              </a:lnSpc>
              <a:buNone/>
            </a:pPr>
            <a:r>
              <a:rPr lang="en-US" sz="2000" b="1" dirty="0">
                <a:solidFill>
                  <a:srgbClr val="F0A46C"/>
                </a:solidFill>
                <a:latin typeface="Cambria" pitchFamily="34" charset="0"/>
                <a:ea typeface="Cambria" pitchFamily="34" charset="-122"/>
                <a:cs typeface="Cambria" pitchFamily="34" charset="-120"/>
              </a:rPr>
              <a:t>9</a:t>
            </a:r>
            <a:endParaRPr lang="en-US" sz="2000" dirty="0"/>
          </a:p>
        </p:txBody>
      </p:sp>
      <p:sp>
        <p:nvSpPr>
          <p:cNvPr id="46" name="texto-184"/>
          <p:cNvSpPr txBox="1"/>
          <p:nvPr/>
        </p:nvSpPr>
        <p:spPr>
          <a:xfrm>
            <a:off x="9973056" y="5212080"/>
            <a:ext cx="1502664" cy="502920"/>
          </a:xfrm>
          <a:prstGeom prst="rect">
            <a:avLst/>
          </a:prstGeom>
          <a:noFill/>
          <a:ln/>
        </p:spPr>
        <p:txBody>
          <a:bodyPr wrap="square" lIns="0" tIns="0" rIns="0" bIns="0" rtlCol="0" anchor="t"/>
          <a:lstStyle/>
          <a:p>
            <a:pPr algn="l" indent="0" marL="0">
              <a:lnSpc>
                <a:spcPct val="100000"/>
              </a:lnSpc>
              <a:buNone/>
            </a:pPr>
            <a:r>
              <a:rPr lang="en-US" sz="1300" dirty="0">
                <a:solidFill>
                  <a:srgbClr val="F6F4EF"/>
                </a:solidFill>
              </a:rPr>
              <a:t>Aprendizaje organizacional</a:t>
            </a:r>
            <a:endParaRPr lang="en-US" sz="13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COMPONENTE 3 · OBLIGATORIO · MEDIR PARA DECIDIR</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Sistema de Información para la Calidad</a:t>
            </a:r>
            <a:endParaRPr lang="en-US" sz="3200" dirty="0"/>
          </a:p>
        </p:txBody>
      </p:sp>
      <p:sp>
        <p:nvSpPr>
          <p:cNvPr id="4" name="tarjeta-185"/>
          <p:cNvSpPr/>
          <p:nvPr/>
        </p:nvSpPr>
        <p:spPr>
          <a:xfrm>
            <a:off x="548640" y="1783080"/>
            <a:ext cx="2635758" cy="1920240"/>
          </a:xfrm>
          <a:prstGeom prst="roundRect">
            <a:avLst>
              <a:gd name="adj" fmla="val 5714"/>
            </a:avLst>
          </a:prstGeom>
          <a:solidFill>
            <a:srgbClr val="E7EFEC"/>
          </a:solidFill>
          <a:ln/>
        </p:spPr>
      </p:sp>
      <p:pic>
        <p:nvPicPr>
          <p:cNvPr id="5" name="icono-186" descr="Activity">    </p:cNvPr>
          <p:cNvPicPr>
            <a:picLocks noChangeAspect="1"/>
          </p:cNvPicPr>
          <p:nvPr/>
        </p:nvPicPr>
        <p:blipFill>
          <a:blip r:embed="rId1"/>
          <a:stretch>
            <a:fillRect/>
          </a:stretch>
        </p:blipFill>
        <p:spPr>
          <a:xfrm>
            <a:off x="804672" y="2011680"/>
            <a:ext cx="365760" cy="365760"/>
          </a:xfrm>
          <a:prstGeom prst="rect">
            <a:avLst/>
          </a:prstGeom>
        </p:spPr>
      </p:pic>
      <p:sp>
        <p:nvSpPr>
          <p:cNvPr id="6" name="texto-187"/>
          <p:cNvSpPr txBox="1"/>
          <p:nvPr/>
        </p:nvSpPr>
        <p:spPr>
          <a:xfrm>
            <a:off x="804672" y="2514600"/>
            <a:ext cx="2178558"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Monitorear</a:t>
            </a:r>
            <a:endParaRPr lang="en-US" sz="1700" dirty="0"/>
          </a:p>
        </p:txBody>
      </p:sp>
      <p:sp>
        <p:nvSpPr>
          <p:cNvPr id="7" name="texto-188"/>
          <p:cNvSpPr txBox="1"/>
          <p:nvPr/>
        </p:nvSpPr>
        <p:spPr>
          <a:xfrm>
            <a:off x="804672" y="2926080"/>
            <a:ext cx="2178558" cy="73152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rPr>
              <a:t>Hacer seguimiento a la calidad de los servicios.</a:t>
            </a:r>
            <a:endParaRPr lang="en-US" sz="1400" dirty="0"/>
          </a:p>
        </p:txBody>
      </p:sp>
      <p:sp>
        <p:nvSpPr>
          <p:cNvPr id="8" name="tarjeta-189"/>
          <p:cNvSpPr/>
          <p:nvPr/>
        </p:nvSpPr>
        <p:spPr>
          <a:xfrm>
            <a:off x="3367278" y="1783080"/>
            <a:ext cx="2635758" cy="1920240"/>
          </a:xfrm>
          <a:prstGeom prst="roundRect">
            <a:avLst>
              <a:gd name="adj" fmla="val 5714"/>
            </a:avLst>
          </a:prstGeom>
          <a:solidFill>
            <a:srgbClr val="E7EFEC"/>
          </a:solidFill>
          <a:ln/>
        </p:spPr>
      </p:sp>
      <p:pic>
        <p:nvPicPr>
          <p:cNvPr id="9" name="icono-190" descr="Users">    </p:cNvPr>
          <p:cNvPicPr>
            <a:picLocks noChangeAspect="1"/>
          </p:cNvPicPr>
          <p:nvPr/>
        </p:nvPicPr>
        <p:blipFill>
          <a:blip r:embed="rId2"/>
          <a:stretch>
            <a:fillRect/>
          </a:stretch>
        </p:blipFill>
        <p:spPr>
          <a:xfrm>
            <a:off x="3623310" y="2011680"/>
            <a:ext cx="365760" cy="365760"/>
          </a:xfrm>
          <a:prstGeom prst="rect">
            <a:avLst/>
          </a:prstGeom>
        </p:spPr>
      </p:pic>
      <p:sp>
        <p:nvSpPr>
          <p:cNvPr id="10" name="texto-191"/>
          <p:cNvSpPr txBox="1"/>
          <p:nvPr/>
        </p:nvSpPr>
        <p:spPr>
          <a:xfrm>
            <a:off x="3623310" y="2514600"/>
            <a:ext cx="2178558"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Orientar</a:t>
            </a:r>
            <a:endParaRPr lang="en-US" sz="1700" dirty="0"/>
          </a:p>
        </p:txBody>
      </p:sp>
      <p:sp>
        <p:nvSpPr>
          <p:cNvPr id="11" name="texto-192"/>
          <p:cNvSpPr txBox="1"/>
          <p:nvPr/>
        </p:nvSpPr>
        <p:spPr>
          <a:xfrm>
            <a:off x="3623310" y="2926080"/>
            <a:ext cx="2178558" cy="73152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rPr>
              <a:t>Informar a los usuarios para que elijan con criterio.</a:t>
            </a:r>
            <a:endParaRPr lang="en-US" sz="1400" dirty="0"/>
          </a:p>
        </p:txBody>
      </p:sp>
      <p:sp>
        <p:nvSpPr>
          <p:cNvPr id="12" name="tarjeta-193"/>
          <p:cNvSpPr/>
          <p:nvPr/>
        </p:nvSpPr>
        <p:spPr>
          <a:xfrm>
            <a:off x="6185916" y="1783080"/>
            <a:ext cx="2635758" cy="1920240"/>
          </a:xfrm>
          <a:prstGeom prst="roundRect">
            <a:avLst>
              <a:gd name="adj" fmla="val 5714"/>
            </a:avLst>
          </a:prstGeom>
          <a:solidFill>
            <a:srgbClr val="E7EFEC"/>
          </a:solidFill>
          <a:ln/>
        </p:spPr>
      </p:sp>
      <p:pic>
        <p:nvPicPr>
          <p:cNvPr id="13" name="icono-194" descr="Chart">    </p:cNvPr>
          <p:cNvPicPr>
            <a:picLocks noChangeAspect="1"/>
          </p:cNvPicPr>
          <p:nvPr/>
        </p:nvPicPr>
        <p:blipFill>
          <a:blip r:embed="rId3"/>
          <a:stretch>
            <a:fillRect/>
          </a:stretch>
        </p:blipFill>
        <p:spPr>
          <a:xfrm>
            <a:off x="6441948" y="2011680"/>
            <a:ext cx="365760" cy="365760"/>
          </a:xfrm>
          <a:prstGeom prst="rect">
            <a:avLst/>
          </a:prstGeom>
        </p:spPr>
      </p:pic>
      <p:sp>
        <p:nvSpPr>
          <p:cNvPr id="14" name="texto-195"/>
          <p:cNvSpPr txBox="1"/>
          <p:nvPr/>
        </p:nvSpPr>
        <p:spPr>
          <a:xfrm>
            <a:off x="6441948" y="2514600"/>
            <a:ext cx="2178558"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Referenciar</a:t>
            </a:r>
            <a:endParaRPr lang="en-US" sz="1700" dirty="0"/>
          </a:p>
        </p:txBody>
      </p:sp>
      <p:sp>
        <p:nvSpPr>
          <p:cNvPr id="15" name="texto-196"/>
          <p:cNvSpPr txBox="1"/>
          <p:nvPr/>
        </p:nvSpPr>
        <p:spPr>
          <a:xfrm>
            <a:off x="6441948" y="2926080"/>
            <a:ext cx="2178558" cy="73152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rPr>
              <a:t>Comparar el desempeño entre EPS, IPS y territorios.</a:t>
            </a:r>
            <a:endParaRPr lang="en-US" sz="1400" dirty="0"/>
          </a:p>
        </p:txBody>
      </p:sp>
      <p:sp>
        <p:nvSpPr>
          <p:cNvPr id="16" name="tarjeta-197"/>
          <p:cNvSpPr/>
          <p:nvPr/>
        </p:nvSpPr>
        <p:spPr>
          <a:xfrm>
            <a:off x="9004554" y="1783080"/>
            <a:ext cx="2635758" cy="1920240"/>
          </a:xfrm>
          <a:prstGeom prst="roundRect">
            <a:avLst>
              <a:gd name="adj" fmla="val 5714"/>
            </a:avLst>
          </a:prstGeom>
          <a:solidFill>
            <a:srgbClr val="E7EFEC"/>
          </a:solidFill>
          <a:ln/>
        </p:spPr>
      </p:sp>
      <p:pic>
        <p:nvPicPr>
          <p:cNvPr id="17" name="icono-198" descr="Lightbulb">    </p:cNvPr>
          <p:cNvPicPr>
            <a:picLocks noChangeAspect="1"/>
          </p:cNvPicPr>
          <p:nvPr/>
        </p:nvPicPr>
        <p:blipFill>
          <a:blip r:embed="rId4"/>
          <a:stretch>
            <a:fillRect/>
          </a:stretch>
        </p:blipFill>
        <p:spPr>
          <a:xfrm>
            <a:off x="9260586" y="2011680"/>
            <a:ext cx="365760" cy="365760"/>
          </a:xfrm>
          <a:prstGeom prst="rect">
            <a:avLst/>
          </a:prstGeom>
        </p:spPr>
      </p:pic>
      <p:sp>
        <p:nvSpPr>
          <p:cNvPr id="18" name="texto-199"/>
          <p:cNvSpPr txBox="1"/>
          <p:nvPr/>
        </p:nvSpPr>
        <p:spPr>
          <a:xfrm>
            <a:off x="9260586" y="2514600"/>
            <a:ext cx="2178558"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Estimular</a:t>
            </a:r>
            <a:endParaRPr lang="en-US" sz="1700" dirty="0"/>
          </a:p>
        </p:txBody>
      </p:sp>
      <p:sp>
        <p:nvSpPr>
          <p:cNvPr id="19" name="texto-200"/>
          <p:cNvSpPr txBox="1"/>
          <p:nvPr/>
        </p:nvSpPr>
        <p:spPr>
          <a:xfrm>
            <a:off x="9260586" y="2926080"/>
            <a:ext cx="2178558" cy="73152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rPr>
              <a:t>Impulsar la búsqueda permanente del mejoramiento.</a:t>
            </a:r>
            <a:endParaRPr lang="en-US" sz="1400" dirty="0"/>
          </a:p>
        </p:txBody>
      </p:sp>
      <p:sp>
        <p:nvSpPr>
          <p:cNvPr id="20" name="texto-201"/>
          <p:cNvSpPr txBox="1"/>
          <p:nvPr/>
        </p:nvSpPr>
        <p:spPr>
          <a:xfrm>
            <a:off x="548640" y="4023360"/>
            <a:ext cx="5120640" cy="27432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23675F"/>
                </a:solidFill>
              </a:rPr>
              <a:t>DOMINIOS DE INDICADORES · RES. 256 DE 2016</a:t>
            </a:r>
            <a:endParaRPr lang="en-US" sz="1200" dirty="0"/>
          </a:p>
        </p:txBody>
      </p:sp>
      <p:sp>
        <p:nvSpPr>
          <p:cNvPr id="21" name="pastilla-202"/>
          <p:cNvSpPr/>
          <p:nvPr/>
        </p:nvSpPr>
        <p:spPr>
          <a:xfrm>
            <a:off x="548640" y="4434840"/>
            <a:ext cx="2377440" cy="420624"/>
          </a:xfrm>
          <a:prstGeom prst="roundRect">
            <a:avLst>
              <a:gd name="adj" fmla="val 50000"/>
            </a:avLst>
          </a:prstGeom>
          <a:solidFill>
            <a:srgbClr val="12343B"/>
          </a:solidFill>
          <a:ln/>
        </p:spPr>
      </p:sp>
      <p:sp>
        <p:nvSpPr>
          <p:cNvPr id="22" name="texto-203"/>
          <p:cNvSpPr txBox="1"/>
          <p:nvPr/>
        </p:nvSpPr>
        <p:spPr>
          <a:xfrm>
            <a:off x="548640" y="4434840"/>
            <a:ext cx="2377440" cy="420624"/>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Efectividad</a:t>
            </a:r>
            <a:endParaRPr lang="en-US" sz="1300" dirty="0"/>
          </a:p>
        </p:txBody>
      </p:sp>
      <p:sp>
        <p:nvSpPr>
          <p:cNvPr id="23" name="pastilla-204"/>
          <p:cNvSpPr/>
          <p:nvPr/>
        </p:nvSpPr>
        <p:spPr>
          <a:xfrm>
            <a:off x="3063240" y="4434840"/>
            <a:ext cx="2377440" cy="420624"/>
          </a:xfrm>
          <a:prstGeom prst="roundRect">
            <a:avLst>
              <a:gd name="adj" fmla="val 50000"/>
            </a:avLst>
          </a:prstGeom>
          <a:solidFill>
            <a:srgbClr val="12343B"/>
          </a:solidFill>
          <a:ln/>
        </p:spPr>
      </p:sp>
      <p:sp>
        <p:nvSpPr>
          <p:cNvPr id="24" name="texto-205"/>
          <p:cNvSpPr txBox="1"/>
          <p:nvPr/>
        </p:nvSpPr>
        <p:spPr>
          <a:xfrm>
            <a:off x="3063240" y="4434840"/>
            <a:ext cx="2377440" cy="420624"/>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Seguridad</a:t>
            </a:r>
            <a:endParaRPr lang="en-US" sz="1300" dirty="0"/>
          </a:p>
        </p:txBody>
      </p:sp>
      <p:sp>
        <p:nvSpPr>
          <p:cNvPr id="25" name="pastilla-206"/>
          <p:cNvSpPr/>
          <p:nvPr/>
        </p:nvSpPr>
        <p:spPr>
          <a:xfrm>
            <a:off x="548640" y="4983480"/>
            <a:ext cx="2377440" cy="420624"/>
          </a:xfrm>
          <a:prstGeom prst="roundRect">
            <a:avLst>
              <a:gd name="adj" fmla="val 50000"/>
            </a:avLst>
          </a:prstGeom>
          <a:solidFill>
            <a:srgbClr val="12343B"/>
          </a:solidFill>
          <a:ln/>
        </p:spPr>
      </p:sp>
      <p:sp>
        <p:nvSpPr>
          <p:cNvPr id="26" name="texto-207"/>
          <p:cNvSpPr txBox="1"/>
          <p:nvPr/>
        </p:nvSpPr>
        <p:spPr>
          <a:xfrm>
            <a:off x="548640" y="4983480"/>
            <a:ext cx="2377440" cy="420624"/>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Experiencia de la atención</a:t>
            </a:r>
            <a:endParaRPr lang="en-US" sz="1300" dirty="0"/>
          </a:p>
        </p:txBody>
      </p:sp>
      <p:sp>
        <p:nvSpPr>
          <p:cNvPr id="27" name="pastilla-208"/>
          <p:cNvSpPr/>
          <p:nvPr/>
        </p:nvSpPr>
        <p:spPr>
          <a:xfrm>
            <a:off x="3063240" y="4983480"/>
            <a:ext cx="2377440" cy="420624"/>
          </a:xfrm>
          <a:prstGeom prst="roundRect">
            <a:avLst>
              <a:gd name="adj" fmla="val 50000"/>
            </a:avLst>
          </a:prstGeom>
          <a:solidFill>
            <a:srgbClr val="12343B"/>
          </a:solidFill>
          <a:ln/>
        </p:spPr>
      </p:sp>
      <p:sp>
        <p:nvSpPr>
          <p:cNvPr id="28" name="texto-209"/>
          <p:cNvSpPr txBox="1"/>
          <p:nvPr/>
        </p:nvSpPr>
        <p:spPr>
          <a:xfrm>
            <a:off x="3063240" y="4983480"/>
            <a:ext cx="2377440" cy="420624"/>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Gestión del riesgo</a:t>
            </a:r>
            <a:endParaRPr lang="en-US" sz="1300" dirty="0"/>
          </a:p>
        </p:txBody>
      </p:sp>
      <p:sp>
        <p:nvSpPr>
          <p:cNvPr id="29" name="tarjeta-210"/>
          <p:cNvSpPr/>
          <p:nvPr/>
        </p:nvSpPr>
        <p:spPr>
          <a:xfrm>
            <a:off x="5989320" y="4343400"/>
            <a:ext cx="1600200" cy="1051560"/>
          </a:xfrm>
          <a:prstGeom prst="roundRect">
            <a:avLst>
              <a:gd name="adj" fmla="val 8696"/>
            </a:avLst>
          </a:prstGeom>
          <a:solidFill>
            <a:srgbClr val="F6F4EF"/>
          </a:solidFill>
          <a:ln w="15875">
            <a:solidFill>
              <a:srgbClr val="23675F"/>
            </a:solidFill>
            <a:prstDash val="solid"/>
          </a:ln>
        </p:spPr>
      </p:sp>
      <p:sp>
        <p:nvSpPr>
          <p:cNvPr id="30" name="texto-211"/>
          <p:cNvSpPr txBox="1"/>
          <p:nvPr/>
        </p:nvSpPr>
        <p:spPr>
          <a:xfrm>
            <a:off x="6080760" y="4343400"/>
            <a:ext cx="1417320" cy="1051560"/>
          </a:xfrm>
          <a:prstGeom prst="rect">
            <a:avLst/>
          </a:prstGeom>
          <a:noFill/>
          <a:ln/>
        </p:spPr>
        <p:txBody>
          <a:bodyPr wrap="square" lIns="0" tIns="0" rIns="0" bIns="0" rtlCol="0" anchor="ctr"/>
          <a:lstStyle/>
          <a:p>
            <a:pPr algn="ctr" indent="0" marL="0">
              <a:lnSpc>
                <a:spcPct val="110000"/>
              </a:lnSpc>
              <a:buNone/>
            </a:pPr>
            <a:r>
              <a:rPr lang="en-US" sz="1300" dirty="0">
                <a:solidFill>
                  <a:schemeClr val="tx1"/>
                </a:solidFill>
              </a:rPr>
              <a:t>IPS · EPS · entes territoriales</a:t>
            </a:r>
            <a:endParaRPr lang="en-US" sz="1300" dirty="0"/>
          </a:p>
        </p:txBody>
      </p:sp>
      <p:sp>
        <p:nvSpPr>
          <p:cNvPr id="31" name="flecha-212"/>
          <p:cNvSpPr/>
          <p:nvPr/>
        </p:nvSpPr>
        <p:spPr>
          <a:xfrm>
            <a:off x="7653528" y="4754880"/>
            <a:ext cx="228600" cy="228600"/>
          </a:xfrm>
          <a:prstGeom prst="rightArrow">
            <a:avLst/>
          </a:prstGeom>
          <a:solidFill>
            <a:srgbClr val="A9501F"/>
          </a:solidFill>
          <a:ln/>
        </p:spPr>
      </p:sp>
      <p:sp>
        <p:nvSpPr>
          <p:cNvPr id="32" name="tarjeta-213"/>
          <p:cNvSpPr/>
          <p:nvPr/>
        </p:nvSpPr>
        <p:spPr>
          <a:xfrm>
            <a:off x="7936992" y="4343400"/>
            <a:ext cx="1600200" cy="1051560"/>
          </a:xfrm>
          <a:prstGeom prst="roundRect">
            <a:avLst>
              <a:gd name="adj" fmla="val 8696"/>
            </a:avLst>
          </a:prstGeom>
          <a:solidFill>
            <a:srgbClr val="F6F4EF"/>
          </a:solidFill>
          <a:ln w="15875">
            <a:solidFill>
              <a:srgbClr val="23675F"/>
            </a:solidFill>
            <a:prstDash val="solid"/>
          </a:ln>
        </p:spPr>
      </p:sp>
      <p:sp>
        <p:nvSpPr>
          <p:cNvPr id="33" name="texto-214"/>
          <p:cNvSpPr txBox="1"/>
          <p:nvPr/>
        </p:nvSpPr>
        <p:spPr>
          <a:xfrm>
            <a:off x="8028432" y="4343400"/>
            <a:ext cx="1417320" cy="1051560"/>
          </a:xfrm>
          <a:prstGeom prst="rect">
            <a:avLst/>
          </a:prstGeom>
          <a:noFill/>
          <a:ln/>
        </p:spPr>
        <p:txBody>
          <a:bodyPr wrap="square" lIns="0" tIns="0" rIns="0" bIns="0" rtlCol="0" anchor="ctr"/>
          <a:lstStyle/>
          <a:p>
            <a:pPr algn="ctr" indent="0" marL="0">
              <a:lnSpc>
                <a:spcPct val="110000"/>
              </a:lnSpc>
              <a:buNone/>
            </a:pPr>
            <a:r>
              <a:rPr lang="en-US" sz="1300" dirty="0">
                <a:solidFill>
                  <a:schemeClr val="tx1"/>
                </a:solidFill>
              </a:rPr>
              <a:t>MinSalud · Observatorio de Calidad</a:t>
            </a:r>
            <a:endParaRPr lang="en-US" sz="1300" dirty="0"/>
          </a:p>
        </p:txBody>
      </p:sp>
      <p:sp>
        <p:nvSpPr>
          <p:cNvPr id="34" name="flecha-215"/>
          <p:cNvSpPr/>
          <p:nvPr/>
        </p:nvSpPr>
        <p:spPr>
          <a:xfrm>
            <a:off x="9601200" y="4754880"/>
            <a:ext cx="228600" cy="228600"/>
          </a:xfrm>
          <a:prstGeom prst="rightArrow">
            <a:avLst/>
          </a:prstGeom>
          <a:solidFill>
            <a:srgbClr val="A9501F"/>
          </a:solidFill>
          <a:ln/>
        </p:spPr>
      </p:sp>
      <p:sp>
        <p:nvSpPr>
          <p:cNvPr id="35" name="tarjeta-216"/>
          <p:cNvSpPr/>
          <p:nvPr/>
        </p:nvSpPr>
        <p:spPr>
          <a:xfrm>
            <a:off x="9884664" y="4343400"/>
            <a:ext cx="1600200" cy="1051560"/>
          </a:xfrm>
          <a:prstGeom prst="roundRect">
            <a:avLst>
              <a:gd name="adj" fmla="val 8696"/>
            </a:avLst>
          </a:prstGeom>
          <a:solidFill>
            <a:srgbClr val="23675F"/>
          </a:solidFill>
          <a:ln/>
        </p:spPr>
      </p:sp>
      <p:sp>
        <p:nvSpPr>
          <p:cNvPr id="36" name="texto-217"/>
          <p:cNvSpPr txBox="1"/>
          <p:nvPr/>
        </p:nvSpPr>
        <p:spPr>
          <a:xfrm>
            <a:off x="9976104" y="4343400"/>
            <a:ext cx="1417320" cy="1051560"/>
          </a:xfrm>
          <a:prstGeom prst="rect">
            <a:avLst/>
          </a:prstGeom>
          <a:noFill/>
          <a:ln/>
        </p:spPr>
        <p:txBody>
          <a:bodyPr wrap="square" lIns="0" tIns="0" rIns="0" bIns="0" rtlCol="0" anchor="ctr"/>
          <a:lstStyle/>
          <a:p>
            <a:pPr algn="ctr" indent="0" marL="0">
              <a:lnSpc>
                <a:spcPct val="110000"/>
              </a:lnSpc>
              <a:buNone/>
            </a:pPr>
            <a:r>
              <a:rPr lang="en-US" sz="1300" dirty="0">
                <a:solidFill>
                  <a:srgbClr val="F6F4EF"/>
                </a:solidFill>
              </a:rPr>
              <a:t>Usuarios y decisores</a:t>
            </a:r>
            <a:endParaRPr lang="en-US" sz="13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COMPONENTE 4 · VOLUNTARIO · EL CAMINO A LA EXCELENCIA</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Sistema Único de Acreditación</a:t>
            </a:r>
            <a:endParaRPr lang="en-US" sz="3200" dirty="0"/>
          </a:p>
        </p:txBody>
      </p:sp>
      <p:sp>
        <p:nvSpPr>
          <p:cNvPr id="4" name="texto-218"/>
          <p:cNvSpPr txBox="1"/>
          <p:nvPr/>
        </p:nvSpPr>
        <p:spPr>
          <a:xfrm>
            <a:off x="548640" y="1783080"/>
            <a:ext cx="5852160" cy="1051560"/>
          </a:xfrm>
          <a:prstGeom prst="rect">
            <a:avLst/>
          </a:prstGeom>
          <a:noFill/>
          <a:ln/>
        </p:spPr>
        <p:txBody>
          <a:bodyPr wrap="square" lIns="0" tIns="0" rIns="0" bIns="0" rtlCol="0" anchor="t"/>
          <a:lstStyle/>
          <a:p>
            <a:pPr indent="0" marL="0">
              <a:lnSpc>
                <a:spcPct val="120000"/>
              </a:lnSpc>
              <a:buNone/>
            </a:pPr>
            <a:r>
              <a:rPr lang="en-US" sz="1500" dirty="0">
                <a:solidFill>
                  <a:schemeClr val="tx2"/>
                </a:solidFill>
              </a:rPr>
              <a:t>Procesos de autoevaluación, mejoramiento y evaluación externa para demostrar el cumplimiento de </a:t>
            </a:r>
            <a:pPr indent="0" marL="0">
              <a:lnSpc>
                <a:spcPct val="120000"/>
              </a:lnSpc>
              <a:buNone/>
            </a:pPr>
            <a:r>
              <a:rPr lang="en-US" sz="1500" b="1" dirty="0">
                <a:solidFill>
                  <a:schemeClr val="tx2"/>
                </a:solidFill>
              </a:rPr>
              <a:t>niveles superiores de calidad</a:t>
            </a:r>
            <a:pPr indent="0" marL="0">
              <a:lnSpc>
                <a:spcPct val="120000"/>
              </a:lnSpc>
              <a:buNone/>
            </a:pPr>
            <a:r>
              <a:rPr lang="en-US" sz="1500" dirty="0">
                <a:solidFill>
                  <a:schemeClr val="tx2"/>
                </a:solidFill>
              </a:rPr>
              <a:t> (Decreto 1011, 2006).</a:t>
            </a:r>
            <a:endParaRPr lang="en-US" sz="1500" dirty="0"/>
          </a:p>
        </p:txBody>
      </p:sp>
      <p:sp>
        <p:nvSpPr>
          <p:cNvPr id="5" name="tarjeta-219"/>
          <p:cNvSpPr/>
          <p:nvPr/>
        </p:nvSpPr>
        <p:spPr>
          <a:xfrm>
            <a:off x="548640" y="3017520"/>
            <a:ext cx="2852928" cy="1143000"/>
          </a:xfrm>
          <a:prstGeom prst="roundRect">
            <a:avLst>
              <a:gd name="adj" fmla="val 9600"/>
            </a:avLst>
          </a:prstGeom>
          <a:solidFill>
            <a:srgbClr val="F6F4EF"/>
          </a:solidFill>
          <a:ln/>
        </p:spPr>
      </p:sp>
      <p:sp>
        <p:nvSpPr>
          <p:cNvPr id="6" name="texto-220"/>
          <p:cNvSpPr txBox="1"/>
          <p:nvPr/>
        </p:nvSpPr>
        <p:spPr>
          <a:xfrm>
            <a:off x="777240" y="3200400"/>
            <a:ext cx="2468880" cy="274320"/>
          </a:xfrm>
          <a:prstGeom prst="rect">
            <a:avLst/>
          </a:prstGeom>
          <a:noFill/>
          <a:ln/>
        </p:spPr>
        <p:txBody>
          <a:bodyPr wrap="square" lIns="0" tIns="0" rIns="0" bIns="0" rtlCol="0" anchor="t"/>
          <a:lstStyle/>
          <a:p>
            <a:pPr algn="l" indent="0" marL="0">
              <a:lnSpc>
                <a:spcPct val="110000"/>
              </a:lnSpc>
              <a:buNone/>
            </a:pPr>
            <a:r>
              <a:rPr lang="en-US" sz="1200" b="1" dirty="0">
                <a:solidFill>
                  <a:srgbClr val="23675F"/>
                </a:solidFill>
              </a:rPr>
              <a:t>Carácter</a:t>
            </a:r>
            <a:endParaRPr lang="en-US" sz="1200" dirty="0"/>
          </a:p>
        </p:txBody>
      </p:sp>
      <p:sp>
        <p:nvSpPr>
          <p:cNvPr id="7" name="texto-221"/>
          <p:cNvSpPr txBox="1"/>
          <p:nvPr/>
        </p:nvSpPr>
        <p:spPr>
          <a:xfrm>
            <a:off x="777240" y="3493008"/>
            <a:ext cx="2468880" cy="594360"/>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Voluntario y periódico</a:t>
            </a:r>
            <a:endParaRPr lang="en-US" sz="1400" dirty="0"/>
          </a:p>
        </p:txBody>
      </p:sp>
      <p:sp>
        <p:nvSpPr>
          <p:cNvPr id="8" name="tarjeta-222"/>
          <p:cNvSpPr/>
          <p:nvPr/>
        </p:nvSpPr>
        <p:spPr>
          <a:xfrm>
            <a:off x="3547872" y="3017520"/>
            <a:ext cx="2852928" cy="1143000"/>
          </a:xfrm>
          <a:prstGeom prst="roundRect">
            <a:avLst>
              <a:gd name="adj" fmla="val 9600"/>
            </a:avLst>
          </a:prstGeom>
          <a:solidFill>
            <a:srgbClr val="F6F4EF"/>
          </a:solidFill>
          <a:ln/>
        </p:spPr>
      </p:sp>
      <p:sp>
        <p:nvSpPr>
          <p:cNvPr id="9" name="texto-223"/>
          <p:cNvSpPr txBox="1"/>
          <p:nvPr/>
        </p:nvSpPr>
        <p:spPr>
          <a:xfrm>
            <a:off x="3776472" y="3200400"/>
            <a:ext cx="2468880" cy="274320"/>
          </a:xfrm>
          <a:prstGeom prst="rect">
            <a:avLst/>
          </a:prstGeom>
          <a:noFill/>
          <a:ln/>
        </p:spPr>
        <p:txBody>
          <a:bodyPr wrap="square" lIns="0" tIns="0" rIns="0" bIns="0" rtlCol="0" anchor="t"/>
          <a:lstStyle/>
          <a:p>
            <a:pPr algn="l" indent="0" marL="0">
              <a:lnSpc>
                <a:spcPct val="110000"/>
              </a:lnSpc>
              <a:buNone/>
            </a:pPr>
            <a:r>
              <a:rPr lang="en-US" sz="1200" b="1" dirty="0">
                <a:solidFill>
                  <a:srgbClr val="23675F"/>
                </a:solidFill>
              </a:rPr>
              <a:t>Entidad acreditadora</a:t>
            </a:r>
            <a:endParaRPr lang="en-US" sz="1200" dirty="0"/>
          </a:p>
        </p:txBody>
      </p:sp>
      <p:sp>
        <p:nvSpPr>
          <p:cNvPr id="10" name="texto-224"/>
          <p:cNvSpPr txBox="1"/>
          <p:nvPr/>
        </p:nvSpPr>
        <p:spPr>
          <a:xfrm>
            <a:off x="3776472" y="3493008"/>
            <a:ext cx="2468880" cy="594360"/>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ICONTEC</a:t>
            </a:r>
            <a:endParaRPr lang="en-US" sz="1400" dirty="0"/>
          </a:p>
        </p:txBody>
      </p:sp>
      <p:sp>
        <p:nvSpPr>
          <p:cNvPr id="11" name="tarjeta-225"/>
          <p:cNvSpPr/>
          <p:nvPr/>
        </p:nvSpPr>
        <p:spPr>
          <a:xfrm>
            <a:off x="548640" y="4297680"/>
            <a:ext cx="2852928" cy="1143000"/>
          </a:xfrm>
          <a:prstGeom prst="roundRect">
            <a:avLst>
              <a:gd name="adj" fmla="val 9600"/>
            </a:avLst>
          </a:prstGeom>
          <a:solidFill>
            <a:srgbClr val="F6F4EF"/>
          </a:solidFill>
          <a:ln/>
        </p:spPr>
      </p:sp>
      <p:sp>
        <p:nvSpPr>
          <p:cNvPr id="12" name="texto-226"/>
          <p:cNvSpPr txBox="1"/>
          <p:nvPr/>
        </p:nvSpPr>
        <p:spPr>
          <a:xfrm>
            <a:off x="777240" y="4480560"/>
            <a:ext cx="2468880" cy="274320"/>
          </a:xfrm>
          <a:prstGeom prst="rect">
            <a:avLst/>
          </a:prstGeom>
          <a:noFill/>
          <a:ln/>
        </p:spPr>
        <p:txBody>
          <a:bodyPr wrap="square" lIns="0" tIns="0" rIns="0" bIns="0" rtlCol="0" anchor="t"/>
          <a:lstStyle/>
          <a:p>
            <a:pPr algn="l" indent="0" marL="0">
              <a:lnSpc>
                <a:spcPct val="110000"/>
              </a:lnSpc>
              <a:buNone/>
            </a:pPr>
            <a:r>
              <a:rPr lang="en-US" sz="1200" b="1" dirty="0">
                <a:solidFill>
                  <a:srgbClr val="23675F"/>
                </a:solidFill>
              </a:rPr>
              <a:t>Estándares</a:t>
            </a:r>
            <a:endParaRPr lang="en-US" sz="1200" dirty="0"/>
          </a:p>
        </p:txBody>
      </p:sp>
      <p:sp>
        <p:nvSpPr>
          <p:cNvPr id="13" name="texto-227"/>
          <p:cNvSpPr txBox="1"/>
          <p:nvPr/>
        </p:nvSpPr>
        <p:spPr>
          <a:xfrm>
            <a:off x="777240" y="4773168"/>
            <a:ext cx="2468880" cy="594360"/>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Manual versión 3.1 (Res. 5095, 2018)</a:t>
            </a:r>
            <a:endParaRPr lang="en-US" sz="1400" dirty="0"/>
          </a:p>
        </p:txBody>
      </p:sp>
      <p:sp>
        <p:nvSpPr>
          <p:cNvPr id="14" name="tarjeta-228"/>
          <p:cNvSpPr/>
          <p:nvPr/>
        </p:nvSpPr>
        <p:spPr>
          <a:xfrm>
            <a:off x="3547872" y="4297680"/>
            <a:ext cx="2852928" cy="1143000"/>
          </a:xfrm>
          <a:prstGeom prst="roundRect">
            <a:avLst>
              <a:gd name="adj" fmla="val 9600"/>
            </a:avLst>
          </a:prstGeom>
          <a:solidFill>
            <a:srgbClr val="F6F4EF"/>
          </a:solidFill>
          <a:ln/>
        </p:spPr>
      </p:sp>
      <p:sp>
        <p:nvSpPr>
          <p:cNvPr id="15" name="texto-229"/>
          <p:cNvSpPr txBox="1"/>
          <p:nvPr/>
        </p:nvSpPr>
        <p:spPr>
          <a:xfrm>
            <a:off x="3776472" y="4480560"/>
            <a:ext cx="2468880" cy="274320"/>
          </a:xfrm>
          <a:prstGeom prst="rect">
            <a:avLst/>
          </a:prstGeom>
          <a:noFill/>
          <a:ln/>
        </p:spPr>
        <p:txBody>
          <a:bodyPr wrap="square" lIns="0" tIns="0" rIns="0" bIns="0" rtlCol="0" anchor="t"/>
          <a:lstStyle/>
          <a:p>
            <a:pPr algn="l" indent="0" marL="0">
              <a:lnSpc>
                <a:spcPct val="110000"/>
              </a:lnSpc>
              <a:buNone/>
            </a:pPr>
            <a:r>
              <a:rPr lang="en-US" sz="1200" b="1" dirty="0">
                <a:solidFill>
                  <a:srgbClr val="23675F"/>
                </a:solidFill>
              </a:rPr>
              <a:t>Enfoque</a:t>
            </a:r>
            <a:endParaRPr lang="en-US" sz="1200" dirty="0"/>
          </a:p>
        </p:txBody>
      </p:sp>
      <p:sp>
        <p:nvSpPr>
          <p:cNvPr id="16" name="texto-230"/>
          <p:cNvSpPr txBox="1"/>
          <p:nvPr/>
        </p:nvSpPr>
        <p:spPr>
          <a:xfrm>
            <a:off x="3776472" y="4773168"/>
            <a:ext cx="2468880" cy="594360"/>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Mejoramiento continuo institucional</a:t>
            </a:r>
            <a:endParaRPr lang="en-US" sz="1400" dirty="0"/>
          </a:p>
        </p:txBody>
      </p:sp>
      <p:sp>
        <p:nvSpPr>
          <p:cNvPr id="17" name="tarjeta-231"/>
          <p:cNvSpPr/>
          <p:nvPr/>
        </p:nvSpPr>
        <p:spPr>
          <a:xfrm>
            <a:off x="6766560" y="1783080"/>
            <a:ext cx="4873752" cy="4251960"/>
          </a:xfrm>
          <a:prstGeom prst="roundRect">
            <a:avLst>
              <a:gd name="adj" fmla="val 3226"/>
            </a:avLst>
          </a:prstGeom>
          <a:solidFill>
            <a:srgbClr val="12343B"/>
          </a:solidFill>
          <a:ln/>
        </p:spPr>
      </p:sp>
      <p:sp>
        <p:nvSpPr>
          <p:cNvPr id="18" name="texto-232"/>
          <p:cNvSpPr txBox="1"/>
          <p:nvPr/>
        </p:nvSpPr>
        <p:spPr>
          <a:xfrm>
            <a:off x="7086600" y="2057400"/>
            <a:ext cx="4297680" cy="274320"/>
          </a:xfrm>
          <a:prstGeom prst="rect">
            <a:avLst/>
          </a:prstGeom>
          <a:noFill/>
          <a:ln/>
        </p:spPr>
        <p:txBody>
          <a:bodyPr wrap="square" lIns="0" tIns="0" rIns="0" bIns="0" rtlCol="0" anchor="t"/>
          <a:lstStyle/>
          <a:p>
            <a:pPr algn="l" indent="0" marL="0">
              <a:lnSpc>
                <a:spcPct val="110000"/>
              </a:lnSpc>
              <a:buNone/>
            </a:pPr>
            <a:r>
              <a:rPr lang="en-US" sz="1200" b="1" spc="150" kern="0" dirty="0">
                <a:solidFill>
                  <a:srgbClr val="F0A46C"/>
                </a:solidFill>
              </a:rPr>
              <a:t>EJES DEL MANUAL 3.1</a:t>
            </a:r>
            <a:endParaRPr lang="en-US" sz="1200" dirty="0"/>
          </a:p>
        </p:txBody>
      </p:sp>
      <p:pic>
        <p:nvPicPr>
          <p:cNvPr id="19" name="icono-233" descr="Check">    </p:cNvPr>
          <p:cNvPicPr>
            <a:picLocks noChangeAspect="1"/>
          </p:cNvPicPr>
          <p:nvPr/>
        </p:nvPicPr>
        <p:blipFill>
          <a:blip r:embed="rId1"/>
          <a:stretch>
            <a:fillRect/>
          </a:stretch>
        </p:blipFill>
        <p:spPr>
          <a:xfrm>
            <a:off x="7086600" y="2560320"/>
            <a:ext cx="237744" cy="237744"/>
          </a:xfrm>
          <a:prstGeom prst="rect">
            <a:avLst/>
          </a:prstGeom>
        </p:spPr>
      </p:pic>
      <p:sp>
        <p:nvSpPr>
          <p:cNvPr id="20" name="texto-234"/>
          <p:cNvSpPr txBox="1"/>
          <p:nvPr/>
        </p:nvSpPr>
        <p:spPr>
          <a:xfrm>
            <a:off x="7498080" y="2514600"/>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Atención centrada en el usuario</a:t>
            </a:r>
            <a:endParaRPr lang="en-US" sz="1400" dirty="0"/>
          </a:p>
        </p:txBody>
      </p:sp>
      <p:pic>
        <p:nvPicPr>
          <p:cNvPr id="21" name="icono-235" descr="Check">    </p:cNvPr>
          <p:cNvPicPr>
            <a:picLocks noChangeAspect="1"/>
          </p:cNvPicPr>
          <p:nvPr/>
        </p:nvPicPr>
        <p:blipFill>
          <a:blip r:embed="rId2"/>
          <a:stretch>
            <a:fillRect/>
          </a:stretch>
        </p:blipFill>
        <p:spPr>
          <a:xfrm>
            <a:off x="7086600" y="3044952"/>
            <a:ext cx="237744" cy="237744"/>
          </a:xfrm>
          <a:prstGeom prst="rect">
            <a:avLst/>
          </a:prstGeom>
        </p:spPr>
      </p:pic>
      <p:sp>
        <p:nvSpPr>
          <p:cNvPr id="22" name="texto-236"/>
          <p:cNvSpPr txBox="1"/>
          <p:nvPr/>
        </p:nvSpPr>
        <p:spPr>
          <a:xfrm>
            <a:off x="7498080" y="2999232"/>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Gestión clínica excelente y segura</a:t>
            </a:r>
            <a:endParaRPr lang="en-US" sz="1400" dirty="0"/>
          </a:p>
        </p:txBody>
      </p:sp>
      <p:pic>
        <p:nvPicPr>
          <p:cNvPr id="23" name="icono-237" descr="Check">    </p:cNvPr>
          <p:cNvPicPr>
            <a:picLocks noChangeAspect="1"/>
          </p:cNvPicPr>
          <p:nvPr/>
        </p:nvPicPr>
        <p:blipFill>
          <a:blip r:embed="rId3"/>
          <a:stretch>
            <a:fillRect/>
          </a:stretch>
        </p:blipFill>
        <p:spPr>
          <a:xfrm>
            <a:off x="7086600" y="3529584"/>
            <a:ext cx="237744" cy="237744"/>
          </a:xfrm>
          <a:prstGeom prst="rect">
            <a:avLst/>
          </a:prstGeom>
        </p:spPr>
      </p:pic>
      <p:sp>
        <p:nvSpPr>
          <p:cNvPr id="24" name="texto-238"/>
          <p:cNvSpPr txBox="1"/>
          <p:nvPr/>
        </p:nvSpPr>
        <p:spPr>
          <a:xfrm>
            <a:off x="7498080" y="3483864"/>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Humanización de la atención</a:t>
            </a:r>
            <a:endParaRPr lang="en-US" sz="1400" dirty="0"/>
          </a:p>
        </p:txBody>
      </p:sp>
      <p:pic>
        <p:nvPicPr>
          <p:cNvPr id="25" name="icono-239" descr="Check">    </p:cNvPr>
          <p:cNvPicPr>
            <a:picLocks noChangeAspect="1"/>
          </p:cNvPicPr>
          <p:nvPr/>
        </p:nvPicPr>
        <p:blipFill>
          <a:blip r:embed="rId4"/>
          <a:stretch>
            <a:fillRect/>
          </a:stretch>
        </p:blipFill>
        <p:spPr>
          <a:xfrm>
            <a:off x="7086600" y="4014216"/>
            <a:ext cx="237744" cy="237744"/>
          </a:xfrm>
          <a:prstGeom prst="rect">
            <a:avLst/>
          </a:prstGeom>
        </p:spPr>
      </p:pic>
      <p:sp>
        <p:nvSpPr>
          <p:cNvPr id="26" name="texto-240"/>
          <p:cNvSpPr txBox="1"/>
          <p:nvPr/>
        </p:nvSpPr>
        <p:spPr>
          <a:xfrm>
            <a:off x="7498080" y="3968496"/>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Gestión del riesgo</a:t>
            </a:r>
            <a:endParaRPr lang="en-US" sz="1400" dirty="0"/>
          </a:p>
        </p:txBody>
      </p:sp>
      <p:pic>
        <p:nvPicPr>
          <p:cNvPr id="27" name="icono-241" descr="Check">    </p:cNvPr>
          <p:cNvPicPr>
            <a:picLocks noChangeAspect="1"/>
          </p:cNvPicPr>
          <p:nvPr/>
        </p:nvPicPr>
        <p:blipFill>
          <a:blip r:embed="rId5"/>
          <a:stretch>
            <a:fillRect/>
          </a:stretch>
        </p:blipFill>
        <p:spPr>
          <a:xfrm>
            <a:off x="7086600" y="4498848"/>
            <a:ext cx="237744" cy="237744"/>
          </a:xfrm>
          <a:prstGeom prst="rect">
            <a:avLst/>
          </a:prstGeom>
        </p:spPr>
      </p:pic>
      <p:sp>
        <p:nvSpPr>
          <p:cNvPr id="28" name="texto-242"/>
          <p:cNvSpPr txBox="1"/>
          <p:nvPr/>
        </p:nvSpPr>
        <p:spPr>
          <a:xfrm>
            <a:off x="7498080" y="4453128"/>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Gestión de la tecnología</a:t>
            </a:r>
            <a:endParaRPr lang="en-US" sz="1400" dirty="0"/>
          </a:p>
        </p:txBody>
      </p:sp>
      <p:pic>
        <p:nvPicPr>
          <p:cNvPr id="29" name="icono-243" descr="Check">    </p:cNvPr>
          <p:cNvPicPr>
            <a:picLocks noChangeAspect="1"/>
          </p:cNvPicPr>
          <p:nvPr/>
        </p:nvPicPr>
        <p:blipFill>
          <a:blip r:embed="rId6"/>
          <a:stretch>
            <a:fillRect/>
          </a:stretch>
        </p:blipFill>
        <p:spPr>
          <a:xfrm>
            <a:off x="7086600" y="4983480"/>
            <a:ext cx="237744" cy="237744"/>
          </a:xfrm>
          <a:prstGeom prst="rect">
            <a:avLst/>
          </a:prstGeom>
        </p:spPr>
      </p:pic>
      <p:sp>
        <p:nvSpPr>
          <p:cNvPr id="30" name="texto-244"/>
          <p:cNvSpPr txBox="1"/>
          <p:nvPr/>
        </p:nvSpPr>
        <p:spPr>
          <a:xfrm>
            <a:off x="7498080" y="4937760"/>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Transformación cultural</a:t>
            </a:r>
            <a:endParaRPr lang="en-US" sz="1400" dirty="0"/>
          </a:p>
        </p:txBody>
      </p:sp>
      <p:pic>
        <p:nvPicPr>
          <p:cNvPr id="31" name="icono-245" descr="Check">    </p:cNvPr>
          <p:cNvPicPr>
            <a:picLocks noChangeAspect="1"/>
          </p:cNvPicPr>
          <p:nvPr/>
        </p:nvPicPr>
        <p:blipFill>
          <a:blip r:embed="rId7"/>
          <a:stretch>
            <a:fillRect/>
          </a:stretch>
        </p:blipFill>
        <p:spPr>
          <a:xfrm>
            <a:off x="7086600" y="5468112"/>
            <a:ext cx="237744" cy="237744"/>
          </a:xfrm>
          <a:prstGeom prst="rect">
            <a:avLst/>
          </a:prstGeom>
        </p:spPr>
      </p:pic>
      <p:sp>
        <p:nvSpPr>
          <p:cNvPr id="32" name="texto-246"/>
          <p:cNvSpPr txBox="1"/>
          <p:nvPr/>
        </p:nvSpPr>
        <p:spPr>
          <a:xfrm>
            <a:off x="7498080" y="5422392"/>
            <a:ext cx="3931920" cy="347472"/>
          </a:xfrm>
          <a:prstGeom prst="rect">
            <a:avLst/>
          </a:prstGeom>
          <a:noFill/>
          <a:ln/>
        </p:spPr>
        <p:txBody>
          <a:bodyPr wrap="square" lIns="0" tIns="0" rIns="0" bIns="0" rtlCol="0" anchor="ctr"/>
          <a:lstStyle/>
          <a:p>
            <a:pPr algn="l" indent="0" marL="0">
              <a:lnSpc>
                <a:spcPct val="110000"/>
              </a:lnSpc>
              <a:buNone/>
            </a:pPr>
            <a:r>
              <a:rPr lang="en-US" sz="1400" dirty="0">
                <a:solidFill>
                  <a:srgbClr val="F6F4EF"/>
                </a:solidFill>
              </a:rPr>
              <a:t>Responsabilidad social</a:t>
            </a:r>
            <a:endParaRPr lang="en-US" sz="14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APLICACIÓN POR ACTOR · RECTORÍA Y VIGILANCIA</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MinSalud y entes territoriales</a:t>
            </a:r>
            <a:endParaRPr lang="en-US" sz="3200" dirty="0"/>
          </a:p>
        </p:txBody>
      </p:sp>
      <p:sp>
        <p:nvSpPr>
          <p:cNvPr id="4" name="tarjeta-247"/>
          <p:cNvSpPr/>
          <p:nvPr/>
        </p:nvSpPr>
        <p:spPr>
          <a:xfrm>
            <a:off x="548640" y="1783080"/>
            <a:ext cx="5431536" cy="3291840"/>
          </a:xfrm>
          <a:prstGeom prst="roundRect">
            <a:avLst>
              <a:gd name="adj" fmla="val 4167"/>
            </a:avLst>
          </a:prstGeom>
          <a:solidFill>
            <a:srgbClr val="FFFDF8"/>
          </a:solidFill>
          <a:ln w="15875">
            <a:solidFill>
              <a:srgbClr val="D5DEDB"/>
            </a:solidFill>
            <a:prstDash val="solid"/>
          </a:ln>
        </p:spPr>
      </p:sp>
      <p:pic>
        <p:nvPicPr>
          <p:cNvPr id="5" name="icono-248" descr="Settings">    </p:cNvPr>
          <p:cNvPicPr>
            <a:picLocks noChangeAspect="1"/>
          </p:cNvPicPr>
          <p:nvPr/>
        </p:nvPicPr>
        <p:blipFill>
          <a:blip r:embed="rId1"/>
          <a:stretch>
            <a:fillRect/>
          </a:stretch>
        </p:blipFill>
        <p:spPr>
          <a:xfrm>
            <a:off x="868680" y="2057400"/>
            <a:ext cx="365760" cy="365760"/>
          </a:xfrm>
          <a:prstGeom prst="rect">
            <a:avLst/>
          </a:prstGeom>
        </p:spPr>
      </p:pic>
      <p:sp>
        <p:nvSpPr>
          <p:cNvPr id="6" name="texto-249"/>
          <p:cNvSpPr txBox="1"/>
          <p:nvPr/>
        </p:nvSpPr>
        <p:spPr>
          <a:xfrm>
            <a:off x="1371600" y="2011680"/>
            <a:ext cx="4389120" cy="457200"/>
          </a:xfrm>
          <a:prstGeom prst="rect">
            <a:avLst/>
          </a:prstGeom>
          <a:noFill/>
          <a:ln/>
        </p:spPr>
        <p:txBody>
          <a:bodyPr wrap="square" lIns="0" tIns="0" rIns="0" bIns="0" rtlCol="0" anchor="ctr"/>
          <a:lstStyle/>
          <a:p>
            <a:pPr algn="l" indent="0" marL="0">
              <a:lnSpc>
                <a:spcPct val="110000"/>
              </a:lnSpc>
              <a:buNone/>
            </a:pPr>
            <a:r>
              <a:rPr lang="en-US" sz="1900" b="1" dirty="0">
                <a:solidFill>
                  <a:schemeClr val="tx1"/>
                </a:solidFill>
                <a:latin typeface="Cambria" pitchFamily="34" charset="0"/>
                <a:ea typeface="Cambria" pitchFamily="34" charset="-122"/>
                <a:cs typeface="Cambria" pitchFamily="34" charset="-120"/>
              </a:rPr>
              <a:t>Ministerio de Salud · rector</a:t>
            </a:r>
            <a:endParaRPr lang="en-US" sz="1900" dirty="0"/>
          </a:p>
        </p:txBody>
      </p:sp>
      <p:sp>
        <p:nvSpPr>
          <p:cNvPr id="7" name="texto-250"/>
          <p:cNvSpPr txBox="1"/>
          <p:nvPr/>
        </p:nvSpPr>
        <p:spPr>
          <a:xfrm>
            <a:off x="868680" y="2697480"/>
            <a:ext cx="4800600" cy="2240280"/>
          </a:xfrm>
          <a:prstGeom prst="rect">
            <a:avLst/>
          </a:prstGeom>
          <a:noFill/>
          <a:ln/>
        </p:spPr>
        <p:txBody>
          <a:bodyPr wrap="square" lIns="0" tIns="0" rIns="0" bIns="0" rtlCol="0" anchor="t"/>
          <a:lstStyle/>
          <a:p>
            <a:pPr indent="0" marL="0">
              <a:lnSpc>
                <a:spcPct val="110000"/>
              </a:lnSpc>
              <a:spcAft>
                <a:spcPts val="1000"/>
              </a:spcAft>
              <a:buNone/>
            </a:pPr>
            <a:r>
              <a:rPr lang="en-US" sz="1400" b="1" dirty="0">
                <a:solidFill>
                  <a:schemeClr val="tx1"/>
                </a:solidFill>
              </a:rPr>
              <a:t>Habilitación: </a:t>
            </a:r>
            <a:pPr indent="0" marL="0">
              <a:lnSpc>
                <a:spcPct val="110000"/>
              </a:lnSpc>
              <a:spcAft>
                <a:spcPts val="1000"/>
              </a:spcAft>
              <a:buNone/>
            </a:pPr>
            <a:r>
              <a:rPr lang="en-US" sz="1400" dirty="0">
                <a:solidFill>
                  <a:schemeClr val="tx2"/>
                </a:solidFill>
              </a:rPr>
              <a:t>expide los estándares y administra el REPS.</a:t>
            </a:r>
            <a:endParaRPr lang="en-US" sz="1400" dirty="0"/>
          </a:p>
          <a:p>
            <a:pPr indent="0" marL="0">
              <a:lnSpc>
                <a:spcPct val="110000"/>
              </a:lnSpc>
              <a:spcAft>
                <a:spcPts val="1000"/>
              </a:spcAft>
              <a:buNone/>
            </a:pPr>
            <a:r>
              <a:rPr lang="en-US" sz="1400" b="1" dirty="0">
                <a:solidFill>
                  <a:schemeClr val="tx1"/>
                </a:solidFill>
              </a:rPr>
              <a:t>PAMEC: </a:t>
            </a:r>
            <a:pPr indent="0" marL="0">
              <a:lnSpc>
                <a:spcPct val="110000"/>
              </a:lnSpc>
              <a:spcAft>
                <a:spcPts val="1000"/>
              </a:spcAft>
              <a:buNone/>
            </a:pPr>
            <a:r>
              <a:rPr lang="en-US" sz="1400" dirty="0">
                <a:solidFill>
                  <a:schemeClr val="tx2"/>
                </a:solidFill>
              </a:rPr>
              <a:t>emite las pautas indicativas de auditoría.</a:t>
            </a:r>
            <a:endParaRPr lang="en-US" sz="1400" dirty="0"/>
          </a:p>
          <a:p>
            <a:pPr indent="0" marL="0">
              <a:lnSpc>
                <a:spcPct val="110000"/>
              </a:lnSpc>
              <a:spcAft>
                <a:spcPts val="1000"/>
              </a:spcAft>
              <a:buNone/>
            </a:pPr>
            <a:r>
              <a:rPr lang="en-US" sz="1400" b="1" dirty="0">
                <a:solidFill>
                  <a:schemeClr val="tx1"/>
                </a:solidFill>
              </a:rPr>
              <a:t>Información: </a:t>
            </a:r>
            <a:pPr indent="0" marL="0">
              <a:lnSpc>
                <a:spcPct val="110000"/>
              </a:lnSpc>
              <a:spcAft>
                <a:spcPts val="1000"/>
              </a:spcAft>
              <a:buNone/>
            </a:pPr>
            <a:r>
              <a:rPr lang="en-US" sz="1400" dirty="0">
                <a:solidFill>
                  <a:schemeClr val="tx2"/>
                </a:solidFill>
              </a:rPr>
              <a:t>define indicadores y publica resultados.</a:t>
            </a:r>
            <a:endParaRPr lang="en-US" sz="1400" dirty="0"/>
          </a:p>
          <a:p>
            <a:pPr indent="0" marL="0">
              <a:lnSpc>
                <a:spcPct val="110000"/>
              </a:lnSpc>
              <a:spcAft>
                <a:spcPts val="1000"/>
              </a:spcAft>
              <a:buNone/>
            </a:pPr>
            <a:r>
              <a:rPr lang="en-US" sz="1400" b="1" dirty="0">
                <a:solidFill>
                  <a:schemeClr val="tx1"/>
                </a:solidFill>
              </a:rPr>
              <a:t>Acreditación: </a:t>
            </a:r>
            <a:pPr indent="0" marL="0">
              <a:lnSpc>
                <a:spcPct val="110000"/>
              </a:lnSpc>
              <a:spcAft>
                <a:spcPts val="1000"/>
              </a:spcAft>
              <a:buNone/>
            </a:pPr>
            <a:r>
              <a:rPr lang="en-US" sz="1400" dirty="0">
                <a:solidFill>
                  <a:schemeClr val="tx2"/>
                </a:solidFill>
              </a:rPr>
              <a:t>reglamenta el sistema y sus manuales.</a:t>
            </a:r>
            <a:endParaRPr lang="en-US" sz="1400" dirty="0"/>
          </a:p>
        </p:txBody>
      </p:sp>
      <p:sp>
        <p:nvSpPr>
          <p:cNvPr id="8" name="tarjeta-251"/>
          <p:cNvSpPr/>
          <p:nvPr/>
        </p:nvSpPr>
        <p:spPr>
          <a:xfrm>
            <a:off x="6208776" y="1783080"/>
            <a:ext cx="5431536" cy="3291840"/>
          </a:xfrm>
          <a:prstGeom prst="roundRect">
            <a:avLst>
              <a:gd name="adj" fmla="val 4167"/>
            </a:avLst>
          </a:prstGeom>
          <a:solidFill>
            <a:srgbClr val="FFFDF8"/>
          </a:solidFill>
          <a:ln w="15875">
            <a:solidFill>
              <a:srgbClr val="D5DEDB"/>
            </a:solidFill>
            <a:prstDash val="solid"/>
          </a:ln>
        </p:spPr>
      </p:sp>
      <p:pic>
        <p:nvPicPr>
          <p:cNvPr id="9" name="icono-252" descr="Globe">    </p:cNvPr>
          <p:cNvPicPr>
            <a:picLocks noChangeAspect="1"/>
          </p:cNvPicPr>
          <p:nvPr/>
        </p:nvPicPr>
        <p:blipFill>
          <a:blip r:embed="rId2"/>
          <a:stretch>
            <a:fillRect/>
          </a:stretch>
        </p:blipFill>
        <p:spPr>
          <a:xfrm>
            <a:off x="6528816" y="2057400"/>
            <a:ext cx="365760" cy="365760"/>
          </a:xfrm>
          <a:prstGeom prst="rect">
            <a:avLst/>
          </a:prstGeom>
        </p:spPr>
      </p:pic>
      <p:sp>
        <p:nvSpPr>
          <p:cNvPr id="10" name="texto-253"/>
          <p:cNvSpPr txBox="1"/>
          <p:nvPr/>
        </p:nvSpPr>
        <p:spPr>
          <a:xfrm>
            <a:off x="7031736" y="2011680"/>
            <a:ext cx="4389120" cy="457200"/>
          </a:xfrm>
          <a:prstGeom prst="rect">
            <a:avLst/>
          </a:prstGeom>
          <a:noFill/>
          <a:ln/>
        </p:spPr>
        <p:txBody>
          <a:bodyPr wrap="square" lIns="0" tIns="0" rIns="0" bIns="0" rtlCol="0" anchor="ctr"/>
          <a:lstStyle/>
          <a:p>
            <a:pPr algn="l" indent="0" marL="0">
              <a:lnSpc>
                <a:spcPct val="110000"/>
              </a:lnSpc>
              <a:buNone/>
            </a:pPr>
            <a:r>
              <a:rPr lang="en-US" sz="1900" b="1" dirty="0">
                <a:solidFill>
                  <a:schemeClr val="tx1"/>
                </a:solidFill>
                <a:latin typeface="Cambria" pitchFamily="34" charset="0"/>
                <a:ea typeface="Cambria" pitchFamily="34" charset="-122"/>
                <a:cs typeface="Cambria" pitchFamily="34" charset="-120"/>
              </a:rPr>
              <a:t>Entes territoriales</a:t>
            </a:r>
            <a:endParaRPr lang="en-US" sz="1900" dirty="0"/>
          </a:p>
        </p:txBody>
      </p:sp>
      <p:sp>
        <p:nvSpPr>
          <p:cNvPr id="11" name="texto-254"/>
          <p:cNvSpPr txBox="1"/>
          <p:nvPr/>
        </p:nvSpPr>
        <p:spPr>
          <a:xfrm>
            <a:off x="6528816" y="2697480"/>
            <a:ext cx="4800600" cy="2240280"/>
          </a:xfrm>
          <a:prstGeom prst="rect">
            <a:avLst/>
          </a:prstGeom>
          <a:noFill/>
          <a:ln/>
        </p:spPr>
        <p:txBody>
          <a:bodyPr wrap="square" lIns="0" tIns="0" rIns="0" bIns="0" rtlCol="0" anchor="t"/>
          <a:lstStyle/>
          <a:p>
            <a:pPr indent="0" marL="0">
              <a:lnSpc>
                <a:spcPct val="110000"/>
              </a:lnSpc>
              <a:spcAft>
                <a:spcPts val="1000"/>
              </a:spcAft>
              <a:buNone/>
            </a:pPr>
            <a:r>
              <a:rPr lang="en-US" sz="1400" b="1" dirty="0">
                <a:solidFill>
                  <a:schemeClr val="tx1"/>
                </a:solidFill>
              </a:rPr>
              <a:t>Habilitación: </a:t>
            </a:r>
            <a:pPr indent="0" marL="0">
              <a:lnSpc>
                <a:spcPct val="110000"/>
              </a:lnSpc>
              <a:spcAft>
                <a:spcPts val="1000"/>
              </a:spcAft>
              <a:buNone/>
            </a:pPr>
            <a:r>
              <a:rPr lang="en-US" sz="1400" dirty="0">
                <a:solidFill>
                  <a:schemeClr val="tx2"/>
                </a:solidFill>
              </a:rPr>
              <a:t>reciben inscripciones y verifican en visita.</a:t>
            </a:r>
            <a:endParaRPr lang="en-US" sz="1400" dirty="0"/>
          </a:p>
          <a:p>
            <a:pPr indent="0" marL="0">
              <a:lnSpc>
                <a:spcPct val="110000"/>
              </a:lnSpc>
              <a:spcAft>
                <a:spcPts val="1000"/>
              </a:spcAft>
              <a:buNone/>
            </a:pPr>
            <a:r>
              <a:rPr lang="en-US" sz="1400" b="1" dirty="0">
                <a:solidFill>
                  <a:schemeClr val="tx1"/>
                </a:solidFill>
              </a:rPr>
              <a:t>PAMEC: </a:t>
            </a:r>
            <a:pPr indent="0" marL="0">
              <a:lnSpc>
                <a:spcPct val="110000"/>
              </a:lnSpc>
              <a:spcAft>
                <a:spcPts val="1000"/>
              </a:spcAft>
              <a:buNone/>
            </a:pPr>
            <a:r>
              <a:rPr lang="en-US" sz="1400" dirty="0">
                <a:solidFill>
                  <a:schemeClr val="tx2"/>
                </a:solidFill>
              </a:rPr>
              <a:t>implementan el propio y asisten a su red.</a:t>
            </a:r>
            <a:endParaRPr lang="en-US" sz="1400" dirty="0"/>
          </a:p>
          <a:p>
            <a:pPr indent="0" marL="0">
              <a:lnSpc>
                <a:spcPct val="110000"/>
              </a:lnSpc>
              <a:spcAft>
                <a:spcPts val="1000"/>
              </a:spcAft>
              <a:buNone/>
            </a:pPr>
            <a:r>
              <a:rPr lang="en-US" sz="1400" b="1" dirty="0">
                <a:solidFill>
                  <a:schemeClr val="tx1"/>
                </a:solidFill>
              </a:rPr>
              <a:t>Información: </a:t>
            </a:r>
            <a:pPr indent="0" marL="0">
              <a:lnSpc>
                <a:spcPct val="110000"/>
              </a:lnSpc>
              <a:spcAft>
                <a:spcPts val="1000"/>
              </a:spcAft>
              <a:buNone/>
            </a:pPr>
            <a:r>
              <a:rPr lang="en-US" sz="1400" dirty="0">
                <a:solidFill>
                  <a:schemeClr val="tx2"/>
                </a:solidFill>
              </a:rPr>
              <a:t>consolidan y reportan datos del territorio.</a:t>
            </a:r>
            <a:endParaRPr lang="en-US" sz="1400" dirty="0"/>
          </a:p>
          <a:p>
            <a:pPr indent="0" marL="0">
              <a:lnSpc>
                <a:spcPct val="110000"/>
              </a:lnSpc>
              <a:spcAft>
                <a:spcPts val="1000"/>
              </a:spcAft>
              <a:buNone/>
            </a:pPr>
            <a:r>
              <a:rPr lang="en-US" sz="1400" b="1" dirty="0">
                <a:solidFill>
                  <a:schemeClr val="tx1"/>
                </a:solidFill>
              </a:rPr>
              <a:t>IVC: </a:t>
            </a:r>
            <a:pPr indent="0" marL="0">
              <a:lnSpc>
                <a:spcPct val="110000"/>
              </a:lnSpc>
              <a:spcAft>
                <a:spcPts val="1000"/>
              </a:spcAft>
              <a:buNone/>
            </a:pPr>
            <a:r>
              <a:rPr lang="en-US" sz="1400" dirty="0">
                <a:solidFill>
                  <a:schemeClr val="tx2"/>
                </a:solidFill>
              </a:rPr>
              <a:t>inspeccionan y sancionan a prestadores.</a:t>
            </a:r>
            <a:endParaRPr lang="en-US" sz="1400" dirty="0"/>
          </a:p>
        </p:txBody>
      </p:sp>
      <p:sp>
        <p:nvSpPr>
          <p:cNvPr id="12" name="tarjeta-255"/>
          <p:cNvSpPr/>
          <p:nvPr/>
        </p:nvSpPr>
        <p:spPr>
          <a:xfrm>
            <a:off x="548640" y="5257800"/>
            <a:ext cx="11091672" cy="868680"/>
          </a:xfrm>
          <a:prstGeom prst="roundRect">
            <a:avLst>
              <a:gd name="adj" fmla="val 12632"/>
            </a:avLst>
          </a:prstGeom>
          <a:solidFill>
            <a:srgbClr val="12343B"/>
          </a:solidFill>
          <a:ln/>
        </p:spPr>
      </p:sp>
      <p:pic>
        <p:nvPicPr>
          <p:cNvPr id="13" name="icono-256" descr="Search">    </p:cNvPr>
          <p:cNvPicPr>
            <a:picLocks noChangeAspect="1"/>
          </p:cNvPicPr>
          <p:nvPr/>
        </p:nvPicPr>
        <p:blipFill>
          <a:blip r:embed="rId3"/>
          <a:stretch>
            <a:fillRect/>
          </a:stretch>
        </p:blipFill>
        <p:spPr>
          <a:xfrm>
            <a:off x="822960" y="5486400"/>
            <a:ext cx="384048" cy="384048"/>
          </a:xfrm>
          <a:prstGeom prst="rect">
            <a:avLst/>
          </a:prstGeom>
        </p:spPr>
      </p:pic>
      <p:sp>
        <p:nvSpPr>
          <p:cNvPr id="14" name="texto-257"/>
          <p:cNvSpPr txBox="1"/>
          <p:nvPr/>
        </p:nvSpPr>
        <p:spPr>
          <a:xfrm>
            <a:off x="1463040" y="5257800"/>
            <a:ext cx="9966960" cy="868680"/>
          </a:xfrm>
          <a:prstGeom prst="rect">
            <a:avLst/>
          </a:prstGeom>
          <a:noFill/>
          <a:ln/>
        </p:spPr>
        <p:txBody>
          <a:bodyPr wrap="square" lIns="0" tIns="0" rIns="0" bIns="0" rtlCol="0" anchor="ctr"/>
          <a:lstStyle/>
          <a:p>
            <a:pPr indent="0" marL="0">
              <a:buNone/>
            </a:pPr>
            <a:r>
              <a:rPr lang="en-US" sz="1400" b="1" dirty="0">
                <a:solidFill>
                  <a:srgbClr val="F6F4EF"/>
                </a:solidFill>
              </a:rPr>
              <a:t>Superintendencia Nacional de Salud: </a:t>
            </a:r>
            <a:pPr indent="0" marL="0">
              <a:buNone/>
            </a:pPr>
            <a:r>
              <a:rPr lang="en-US" sz="1400" dirty="0">
                <a:solidFill>
                  <a:srgbClr val="F6F4EF"/>
                </a:solidFill>
              </a:rPr>
              <a:t>ejerce inspección, vigilancia y control sobre EPS, IPS y entes territoriales, y puede intervenirlos.</a:t>
            </a:r>
            <a:endParaRPr lang="en-US" sz="14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APLICACIÓN POR ACTOR · ASEGURAMIENTO Y PRESTACIÓN</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EPS e IPS</a:t>
            </a:r>
            <a:endParaRPr lang="en-US" sz="3200" dirty="0"/>
          </a:p>
        </p:txBody>
      </p:sp>
      <p:sp>
        <p:nvSpPr>
          <p:cNvPr id="4" name="tarjeta-258"/>
          <p:cNvSpPr/>
          <p:nvPr/>
        </p:nvSpPr>
        <p:spPr>
          <a:xfrm>
            <a:off x="548640" y="1783080"/>
            <a:ext cx="5431536" cy="3291840"/>
          </a:xfrm>
          <a:prstGeom prst="roundRect">
            <a:avLst>
              <a:gd name="adj" fmla="val 4167"/>
            </a:avLst>
          </a:prstGeom>
          <a:solidFill>
            <a:srgbClr val="F6F4EF"/>
          </a:solidFill>
          <a:ln/>
        </p:spPr>
      </p:sp>
      <p:pic>
        <p:nvPicPr>
          <p:cNvPr id="5" name="icono-259" descr="Trust">    </p:cNvPr>
          <p:cNvPicPr>
            <a:picLocks noChangeAspect="1"/>
          </p:cNvPicPr>
          <p:nvPr/>
        </p:nvPicPr>
        <p:blipFill>
          <a:blip r:embed="rId1"/>
          <a:stretch>
            <a:fillRect/>
          </a:stretch>
        </p:blipFill>
        <p:spPr>
          <a:xfrm>
            <a:off x="868680" y="2057400"/>
            <a:ext cx="365760" cy="365760"/>
          </a:xfrm>
          <a:prstGeom prst="rect">
            <a:avLst/>
          </a:prstGeom>
        </p:spPr>
      </p:pic>
      <p:sp>
        <p:nvSpPr>
          <p:cNvPr id="6" name="texto-260"/>
          <p:cNvSpPr txBox="1"/>
          <p:nvPr/>
        </p:nvSpPr>
        <p:spPr>
          <a:xfrm>
            <a:off x="1371600" y="2011680"/>
            <a:ext cx="4389120" cy="457200"/>
          </a:xfrm>
          <a:prstGeom prst="rect">
            <a:avLst/>
          </a:prstGeom>
          <a:noFill/>
          <a:ln/>
        </p:spPr>
        <p:txBody>
          <a:bodyPr wrap="square" lIns="0" tIns="0" rIns="0" bIns="0" rtlCol="0" anchor="ctr"/>
          <a:lstStyle/>
          <a:p>
            <a:pPr algn="l" indent="0" marL="0">
              <a:lnSpc>
                <a:spcPct val="110000"/>
              </a:lnSpc>
              <a:buNone/>
            </a:pPr>
            <a:r>
              <a:rPr lang="en-US" sz="1900" b="1" dirty="0">
                <a:solidFill>
                  <a:schemeClr val="tx1"/>
                </a:solidFill>
                <a:latin typeface="Cambria" pitchFamily="34" charset="0"/>
                <a:ea typeface="Cambria" pitchFamily="34" charset="-122"/>
                <a:cs typeface="Cambria" pitchFamily="34" charset="-120"/>
              </a:rPr>
              <a:t>EPS · aseguradoras</a:t>
            </a:r>
            <a:endParaRPr lang="en-US" sz="1900" dirty="0"/>
          </a:p>
        </p:txBody>
      </p:sp>
      <p:sp>
        <p:nvSpPr>
          <p:cNvPr id="7" name="texto-261"/>
          <p:cNvSpPr txBox="1"/>
          <p:nvPr/>
        </p:nvSpPr>
        <p:spPr>
          <a:xfrm>
            <a:off x="868680" y="2697480"/>
            <a:ext cx="4800600" cy="2240280"/>
          </a:xfrm>
          <a:prstGeom prst="rect">
            <a:avLst/>
          </a:prstGeom>
          <a:noFill/>
          <a:ln/>
        </p:spPr>
        <p:txBody>
          <a:bodyPr wrap="square" lIns="0" tIns="0" rIns="0" bIns="0" rtlCol="0" anchor="t"/>
          <a:lstStyle/>
          <a:p>
            <a:pPr indent="0" marL="0">
              <a:lnSpc>
                <a:spcPct val="110000"/>
              </a:lnSpc>
              <a:spcAft>
                <a:spcPts val="1000"/>
              </a:spcAft>
              <a:buNone/>
            </a:pPr>
            <a:r>
              <a:rPr lang="en-US" sz="1400" b="1" dirty="0">
                <a:solidFill>
                  <a:schemeClr val="tx1"/>
                </a:solidFill>
              </a:rPr>
              <a:t>Habilitación: </a:t>
            </a:r>
            <a:pPr indent="0" marL="0">
              <a:lnSpc>
                <a:spcPct val="110000"/>
              </a:lnSpc>
              <a:spcAft>
                <a:spcPts val="1000"/>
              </a:spcAft>
              <a:buNone/>
            </a:pPr>
            <a:r>
              <a:rPr lang="en-US" sz="1400" dirty="0">
                <a:solidFill>
                  <a:schemeClr val="tx2"/>
                </a:solidFill>
              </a:rPr>
              <a:t>contratan solo con prestadores habilitados.</a:t>
            </a:r>
            <a:endParaRPr lang="en-US" sz="1400" dirty="0"/>
          </a:p>
          <a:p>
            <a:pPr indent="0" marL="0">
              <a:lnSpc>
                <a:spcPct val="110000"/>
              </a:lnSpc>
              <a:spcAft>
                <a:spcPts val="1000"/>
              </a:spcAft>
              <a:buNone/>
            </a:pPr>
            <a:r>
              <a:rPr lang="en-US" sz="1400" b="1" dirty="0">
                <a:solidFill>
                  <a:schemeClr val="tx1"/>
                </a:solidFill>
              </a:rPr>
              <a:t>PAMEC: </a:t>
            </a:r>
            <a:pPr indent="0" marL="0">
              <a:lnSpc>
                <a:spcPct val="110000"/>
              </a:lnSpc>
              <a:spcAft>
                <a:spcPts val="1000"/>
              </a:spcAft>
              <a:buNone/>
            </a:pPr>
            <a:r>
              <a:rPr lang="en-US" sz="1400" dirty="0">
                <a:solidFill>
                  <a:schemeClr val="tx2"/>
                </a:solidFill>
              </a:rPr>
              <a:t>auditan la calidad que reciben sus afiliados.</a:t>
            </a:r>
            <a:endParaRPr lang="en-US" sz="1400" dirty="0"/>
          </a:p>
          <a:p>
            <a:pPr indent="0" marL="0">
              <a:lnSpc>
                <a:spcPct val="110000"/>
              </a:lnSpc>
              <a:spcAft>
                <a:spcPts val="1000"/>
              </a:spcAft>
              <a:buNone/>
            </a:pPr>
            <a:r>
              <a:rPr lang="en-US" sz="1400" b="1" dirty="0">
                <a:solidFill>
                  <a:schemeClr val="tx1"/>
                </a:solidFill>
              </a:rPr>
              <a:t>Información: </a:t>
            </a:r>
            <a:pPr indent="0" marL="0">
              <a:lnSpc>
                <a:spcPct val="110000"/>
              </a:lnSpc>
              <a:spcAft>
                <a:spcPts val="1000"/>
              </a:spcAft>
              <a:buNone/>
            </a:pPr>
            <a:r>
              <a:rPr lang="en-US" sz="1400" dirty="0">
                <a:solidFill>
                  <a:schemeClr val="tx2"/>
                </a:solidFill>
              </a:rPr>
              <a:t>reportan oportunidad, satisfacción y riesgo.</a:t>
            </a:r>
            <a:endParaRPr lang="en-US" sz="1400" dirty="0"/>
          </a:p>
          <a:p>
            <a:pPr indent="0" marL="0">
              <a:lnSpc>
                <a:spcPct val="110000"/>
              </a:lnSpc>
              <a:spcAft>
                <a:spcPts val="1000"/>
              </a:spcAft>
              <a:buNone/>
            </a:pPr>
            <a:r>
              <a:rPr lang="en-US" sz="1400" b="1" dirty="0">
                <a:solidFill>
                  <a:schemeClr val="tx1"/>
                </a:solidFill>
              </a:rPr>
              <a:t>Acreditación: </a:t>
            </a:r>
            <a:pPr indent="0" marL="0">
              <a:lnSpc>
                <a:spcPct val="110000"/>
              </a:lnSpc>
              <a:spcAft>
                <a:spcPts val="1000"/>
              </a:spcAft>
              <a:buNone/>
            </a:pPr>
            <a:r>
              <a:rPr lang="en-US" sz="1400" dirty="0">
                <a:solidFill>
                  <a:schemeClr val="tx2"/>
                </a:solidFill>
              </a:rPr>
              <a:t>pueden acreditarse como aseguradoras.</a:t>
            </a:r>
            <a:endParaRPr lang="en-US" sz="1400" dirty="0"/>
          </a:p>
        </p:txBody>
      </p:sp>
      <p:sp>
        <p:nvSpPr>
          <p:cNvPr id="8" name="tarjeta-262"/>
          <p:cNvSpPr/>
          <p:nvPr/>
        </p:nvSpPr>
        <p:spPr>
          <a:xfrm>
            <a:off x="6208776" y="1783080"/>
            <a:ext cx="5431536" cy="3291840"/>
          </a:xfrm>
          <a:prstGeom prst="roundRect">
            <a:avLst>
              <a:gd name="adj" fmla="val 4167"/>
            </a:avLst>
          </a:prstGeom>
          <a:solidFill>
            <a:srgbClr val="F6F4EF"/>
          </a:solidFill>
          <a:ln/>
        </p:spPr>
      </p:sp>
      <p:pic>
        <p:nvPicPr>
          <p:cNvPr id="9" name="icono-263" descr="Home">    </p:cNvPr>
          <p:cNvPicPr>
            <a:picLocks noChangeAspect="1"/>
          </p:cNvPicPr>
          <p:nvPr/>
        </p:nvPicPr>
        <p:blipFill>
          <a:blip r:embed="rId2"/>
          <a:stretch>
            <a:fillRect/>
          </a:stretch>
        </p:blipFill>
        <p:spPr>
          <a:xfrm>
            <a:off x="6528816" y="2057400"/>
            <a:ext cx="365760" cy="365760"/>
          </a:xfrm>
          <a:prstGeom prst="rect">
            <a:avLst/>
          </a:prstGeom>
        </p:spPr>
      </p:pic>
      <p:sp>
        <p:nvSpPr>
          <p:cNvPr id="10" name="texto-264"/>
          <p:cNvSpPr txBox="1"/>
          <p:nvPr/>
        </p:nvSpPr>
        <p:spPr>
          <a:xfrm>
            <a:off x="7031736" y="2011680"/>
            <a:ext cx="4389120" cy="457200"/>
          </a:xfrm>
          <a:prstGeom prst="rect">
            <a:avLst/>
          </a:prstGeom>
          <a:noFill/>
          <a:ln/>
        </p:spPr>
        <p:txBody>
          <a:bodyPr wrap="square" lIns="0" tIns="0" rIns="0" bIns="0" rtlCol="0" anchor="ctr"/>
          <a:lstStyle/>
          <a:p>
            <a:pPr algn="l" indent="0" marL="0">
              <a:lnSpc>
                <a:spcPct val="110000"/>
              </a:lnSpc>
              <a:buNone/>
            </a:pPr>
            <a:r>
              <a:rPr lang="en-US" sz="1900" b="1" dirty="0">
                <a:solidFill>
                  <a:schemeClr val="tx1"/>
                </a:solidFill>
                <a:latin typeface="Cambria" pitchFamily="34" charset="0"/>
                <a:ea typeface="Cambria" pitchFamily="34" charset="-122"/>
                <a:cs typeface="Cambria" pitchFamily="34" charset="-120"/>
              </a:rPr>
              <a:t>IPS · prestadores</a:t>
            </a:r>
            <a:endParaRPr lang="en-US" sz="1900" dirty="0"/>
          </a:p>
        </p:txBody>
      </p:sp>
      <p:sp>
        <p:nvSpPr>
          <p:cNvPr id="11" name="texto-265"/>
          <p:cNvSpPr txBox="1"/>
          <p:nvPr/>
        </p:nvSpPr>
        <p:spPr>
          <a:xfrm>
            <a:off x="6528816" y="2697480"/>
            <a:ext cx="4800600" cy="2240280"/>
          </a:xfrm>
          <a:prstGeom prst="rect">
            <a:avLst/>
          </a:prstGeom>
          <a:noFill/>
          <a:ln/>
        </p:spPr>
        <p:txBody>
          <a:bodyPr wrap="square" lIns="0" tIns="0" rIns="0" bIns="0" rtlCol="0" anchor="t"/>
          <a:lstStyle/>
          <a:p>
            <a:pPr indent="0" marL="0">
              <a:lnSpc>
                <a:spcPct val="110000"/>
              </a:lnSpc>
              <a:spcAft>
                <a:spcPts val="1000"/>
              </a:spcAft>
              <a:buNone/>
            </a:pPr>
            <a:r>
              <a:rPr lang="en-US" sz="1400" b="1" dirty="0">
                <a:solidFill>
                  <a:schemeClr val="tx1"/>
                </a:solidFill>
              </a:rPr>
              <a:t>Habilitación: </a:t>
            </a:r>
            <a:pPr indent="0" marL="0">
              <a:lnSpc>
                <a:spcPct val="110000"/>
              </a:lnSpc>
              <a:spcAft>
                <a:spcPts val="1000"/>
              </a:spcAft>
              <a:buNone/>
            </a:pPr>
            <a:r>
              <a:rPr lang="en-US" sz="1400" dirty="0">
                <a:solidFill>
                  <a:schemeClr val="tx2"/>
                </a:solidFill>
              </a:rPr>
              <a:t>autoevalúan e inscriben cada servicio.</a:t>
            </a:r>
            <a:endParaRPr lang="en-US" sz="1400" dirty="0"/>
          </a:p>
          <a:p>
            <a:pPr indent="0" marL="0">
              <a:lnSpc>
                <a:spcPct val="110000"/>
              </a:lnSpc>
              <a:spcAft>
                <a:spcPts val="1000"/>
              </a:spcAft>
              <a:buNone/>
            </a:pPr>
            <a:r>
              <a:rPr lang="en-US" sz="1400" b="1" dirty="0">
                <a:solidFill>
                  <a:schemeClr val="tx1"/>
                </a:solidFill>
              </a:rPr>
              <a:t>PAMEC: </a:t>
            </a:r>
            <a:pPr indent="0" marL="0">
              <a:lnSpc>
                <a:spcPct val="110000"/>
              </a:lnSpc>
              <a:spcAft>
                <a:spcPts val="1000"/>
              </a:spcAft>
              <a:buNone/>
            </a:pPr>
            <a:r>
              <a:rPr lang="en-US" sz="1400" dirty="0">
                <a:solidFill>
                  <a:schemeClr val="tx2"/>
                </a:solidFill>
              </a:rPr>
              <a:t>aplican la ruta crítica de mejoramiento.</a:t>
            </a:r>
            <a:endParaRPr lang="en-US" sz="1400" dirty="0"/>
          </a:p>
          <a:p>
            <a:pPr indent="0" marL="0">
              <a:lnSpc>
                <a:spcPct val="110000"/>
              </a:lnSpc>
              <a:spcAft>
                <a:spcPts val="1000"/>
              </a:spcAft>
              <a:buNone/>
            </a:pPr>
            <a:r>
              <a:rPr lang="en-US" sz="1400" b="1" dirty="0">
                <a:solidFill>
                  <a:schemeClr val="tx1"/>
                </a:solidFill>
              </a:rPr>
              <a:t>Información: </a:t>
            </a:r>
            <a:pPr indent="0" marL="0">
              <a:lnSpc>
                <a:spcPct val="110000"/>
              </a:lnSpc>
              <a:spcAft>
                <a:spcPts val="1000"/>
              </a:spcAft>
              <a:buNone/>
            </a:pPr>
            <a:r>
              <a:rPr lang="en-US" sz="1400" dirty="0">
                <a:solidFill>
                  <a:schemeClr val="tx2"/>
                </a:solidFill>
              </a:rPr>
              <a:t>miden y reportan sus indicadores.</a:t>
            </a:r>
            <a:endParaRPr lang="en-US" sz="1400" dirty="0"/>
          </a:p>
          <a:p>
            <a:pPr indent="0" marL="0">
              <a:lnSpc>
                <a:spcPct val="110000"/>
              </a:lnSpc>
              <a:spcAft>
                <a:spcPts val="1000"/>
              </a:spcAft>
              <a:buNone/>
            </a:pPr>
            <a:r>
              <a:rPr lang="en-US" sz="1400" b="1" dirty="0">
                <a:solidFill>
                  <a:schemeClr val="tx1"/>
                </a:solidFill>
              </a:rPr>
              <a:t>Acreditación: </a:t>
            </a:r>
            <a:pPr indent="0" marL="0">
              <a:lnSpc>
                <a:spcPct val="110000"/>
              </a:lnSpc>
              <a:spcAft>
                <a:spcPts val="1000"/>
              </a:spcAft>
              <a:buNone/>
            </a:pPr>
            <a:r>
              <a:rPr lang="en-US" sz="1400" dirty="0">
                <a:solidFill>
                  <a:schemeClr val="tx2"/>
                </a:solidFill>
              </a:rPr>
              <a:t>buscan estándares superiores.</a:t>
            </a:r>
            <a:endParaRPr lang="en-US" sz="1400" dirty="0"/>
          </a:p>
        </p:txBody>
      </p:sp>
      <p:sp>
        <p:nvSpPr>
          <p:cNvPr id="12" name="tarjeta-266"/>
          <p:cNvSpPr/>
          <p:nvPr/>
        </p:nvSpPr>
        <p:spPr>
          <a:xfrm>
            <a:off x="548640" y="5257800"/>
            <a:ext cx="11091672" cy="868680"/>
          </a:xfrm>
          <a:prstGeom prst="roundRect">
            <a:avLst>
              <a:gd name="adj" fmla="val 12632"/>
            </a:avLst>
          </a:prstGeom>
          <a:solidFill>
            <a:srgbClr val="12343B"/>
          </a:solidFill>
          <a:ln/>
        </p:spPr>
      </p:sp>
      <p:pic>
        <p:nvPicPr>
          <p:cNvPr id="13" name="icono-267" descr="Activity">    </p:cNvPr>
          <p:cNvPicPr>
            <a:picLocks noChangeAspect="1"/>
          </p:cNvPicPr>
          <p:nvPr/>
        </p:nvPicPr>
        <p:blipFill>
          <a:blip r:embed="rId3"/>
          <a:stretch>
            <a:fillRect/>
          </a:stretch>
        </p:blipFill>
        <p:spPr>
          <a:xfrm>
            <a:off x="822960" y="5486400"/>
            <a:ext cx="384048" cy="384048"/>
          </a:xfrm>
          <a:prstGeom prst="rect">
            <a:avLst/>
          </a:prstGeom>
        </p:spPr>
      </p:pic>
      <p:sp>
        <p:nvSpPr>
          <p:cNvPr id="14" name="texto-268"/>
          <p:cNvSpPr txBox="1"/>
          <p:nvPr/>
        </p:nvSpPr>
        <p:spPr>
          <a:xfrm>
            <a:off x="1463040" y="5257800"/>
            <a:ext cx="9966960" cy="868680"/>
          </a:xfrm>
          <a:prstGeom prst="rect">
            <a:avLst/>
          </a:prstGeom>
          <a:noFill/>
          <a:ln/>
        </p:spPr>
        <p:txBody>
          <a:bodyPr wrap="square" lIns="0" tIns="0" rIns="0" bIns="0" rtlCol="0" anchor="ctr"/>
          <a:lstStyle/>
          <a:p>
            <a:pPr indent="0" marL="0">
              <a:buNone/>
            </a:pPr>
            <a:r>
              <a:rPr lang="en-US" sz="1400" b="1" dirty="0">
                <a:solidFill>
                  <a:srgbClr val="F6F4EF"/>
                </a:solidFill>
              </a:rPr>
              <a:t>Ejemplo · laboratorio clínico: </a:t>
            </a:r>
            <a:pPr indent="0" marL="0">
              <a:buNone/>
            </a:pPr>
            <a:r>
              <a:rPr lang="en-US" sz="1400" dirty="0">
                <a:solidFill>
                  <a:srgbClr val="F6F4EF"/>
                </a:solidFill>
              </a:rPr>
              <a:t>habilitación, PAMEC y control de calidad interno y externo se articulan para dar resultados confiables (Tangarife-Castaño y Montoya-Delgado, 2023).</a:t>
            </a:r>
            <a:endParaRPr lang="en-US" sz="14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3"/>
                </a:solidFill>
              </a:rPr>
              <a:t>APLICACIÓN POR ACTOR · USUARIOS</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rgbClr val="F6F4EF"/>
                </a:solidFill>
                <a:latin typeface="Cambria" pitchFamily="34" charset="0"/>
                <a:ea typeface="Cambria" pitchFamily="34" charset="-122"/>
                <a:cs typeface="Cambria" pitchFamily="34" charset="-120"/>
              </a:rPr>
              <a:t>Usuarios: el centro del sistema</a:t>
            </a:r>
            <a:endParaRPr lang="en-US" sz="3200" dirty="0"/>
          </a:p>
        </p:txBody>
      </p:sp>
      <p:sp>
        <p:nvSpPr>
          <p:cNvPr id="4" name="tarjeta-269"/>
          <p:cNvSpPr/>
          <p:nvPr/>
        </p:nvSpPr>
        <p:spPr>
          <a:xfrm>
            <a:off x="548640" y="1783080"/>
            <a:ext cx="3544824" cy="2377440"/>
          </a:xfrm>
          <a:prstGeom prst="roundRect">
            <a:avLst>
              <a:gd name="adj" fmla="val 5769"/>
            </a:avLst>
          </a:prstGeom>
          <a:solidFill>
            <a:srgbClr val="1D4850"/>
          </a:solidFill>
          <a:ln/>
        </p:spPr>
      </p:sp>
      <p:pic>
        <p:nvPicPr>
          <p:cNvPr id="5" name="icono-270" descr="Key">    </p:cNvPr>
          <p:cNvPicPr>
            <a:picLocks noChangeAspect="1"/>
          </p:cNvPicPr>
          <p:nvPr/>
        </p:nvPicPr>
        <p:blipFill>
          <a:blip r:embed="rId1"/>
          <a:stretch>
            <a:fillRect/>
          </a:stretch>
        </p:blipFill>
        <p:spPr>
          <a:xfrm>
            <a:off x="841248" y="2057400"/>
            <a:ext cx="411480" cy="411480"/>
          </a:xfrm>
          <a:prstGeom prst="rect">
            <a:avLst/>
          </a:prstGeom>
        </p:spPr>
      </p:pic>
      <p:sp>
        <p:nvSpPr>
          <p:cNvPr id="6" name="texto-271"/>
          <p:cNvSpPr txBox="1"/>
          <p:nvPr/>
        </p:nvSpPr>
        <p:spPr>
          <a:xfrm>
            <a:off x="841248" y="2606040"/>
            <a:ext cx="2996184" cy="411480"/>
          </a:xfrm>
          <a:prstGeom prst="rect">
            <a:avLst/>
          </a:prstGeom>
          <a:noFill/>
          <a:ln/>
        </p:spPr>
        <p:txBody>
          <a:bodyPr wrap="square" lIns="0" tIns="0" rIns="0" bIns="0" rtlCol="0" anchor="t"/>
          <a:lstStyle/>
          <a:p>
            <a:pPr algn="l" indent="0" marL="0">
              <a:lnSpc>
                <a:spcPct val="110000"/>
              </a:lnSpc>
              <a:buNone/>
            </a:pPr>
            <a:r>
              <a:rPr lang="en-US" sz="1900" b="1" dirty="0">
                <a:solidFill>
                  <a:srgbClr val="F6F4EF"/>
                </a:solidFill>
                <a:latin typeface="Cambria" pitchFamily="34" charset="0"/>
                <a:ea typeface="Cambria" pitchFamily="34" charset="-122"/>
                <a:cs typeface="Cambria" pitchFamily="34" charset="-120"/>
              </a:rPr>
              <a:t>Derechos</a:t>
            </a:r>
            <a:endParaRPr lang="en-US" sz="1900" dirty="0"/>
          </a:p>
        </p:txBody>
      </p:sp>
      <p:sp>
        <p:nvSpPr>
          <p:cNvPr id="7" name="texto-272"/>
          <p:cNvSpPr txBox="1"/>
          <p:nvPr/>
        </p:nvSpPr>
        <p:spPr>
          <a:xfrm>
            <a:off x="841248" y="3063240"/>
            <a:ext cx="2996184" cy="1005840"/>
          </a:xfrm>
          <a:prstGeom prst="rect">
            <a:avLst/>
          </a:prstGeom>
          <a:noFill/>
          <a:ln/>
        </p:spPr>
        <p:txBody>
          <a:bodyPr wrap="square" lIns="0" tIns="0" rIns="0" bIns="0" rtlCol="0" anchor="t"/>
          <a:lstStyle/>
          <a:p>
            <a:pPr algn="l" indent="0" marL="0">
              <a:lnSpc>
                <a:spcPct val="115000"/>
              </a:lnSpc>
              <a:buNone/>
            </a:pPr>
            <a:r>
              <a:rPr lang="en-US" sz="1400" dirty="0">
                <a:solidFill>
                  <a:srgbClr val="BFD6D1"/>
                </a:solidFill>
              </a:rPr>
              <a:t>La salud es un derecho fundamental, autónomo e irrenunciable (Ley 1751, 2015).</a:t>
            </a:r>
            <a:endParaRPr lang="en-US" sz="1400" dirty="0"/>
          </a:p>
        </p:txBody>
      </p:sp>
      <p:sp>
        <p:nvSpPr>
          <p:cNvPr id="8" name="tarjeta-273"/>
          <p:cNvSpPr/>
          <p:nvPr/>
        </p:nvSpPr>
        <p:spPr>
          <a:xfrm>
            <a:off x="4322064" y="1783080"/>
            <a:ext cx="3544824" cy="2377440"/>
          </a:xfrm>
          <a:prstGeom prst="roundRect">
            <a:avLst>
              <a:gd name="adj" fmla="val 5769"/>
            </a:avLst>
          </a:prstGeom>
          <a:solidFill>
            <a:srgbClr val="1D4850"/>
          </a:solidFill>
          <a:ln/>
        </p:spPr>
      </p:sp>
      <p:pic>
        <p:nvPicPr>
          <p:cNvPr id="9" name="icono-274" descr="Search">    </p:cNvPr>
          <p:cNvPicPr>
            <a:picLocks noChangeAspect="1"/>
          </p:cNvPicPr>
          <p:nvPr/>
        </p:nvPicPr>
        <p:blipFill>
          <a:blip r:embed="rId2"/>
          <a:stretch>
            <a:fillRect/>
          </a:stretch>
        </p:blipFill>
        <p:spPr>
          <a:xfrm>
            <a:off x="4614672" y="2057400"/>
            <a:ext cx="411480" cy="411480"/>
          </a:xfrm>
          <a:prstGeom prst="rect">
            <a:avLst/>
          </a:prstGeom>
        </p:spPr>
      </p:pic>
      <p:sp>
        <p:nvSpPr>
          <p:cNvPr id="10" name="texto-275"/>
          <p:cNvSpPr txBox="1"/>
          <p:nvPr/>
        </p:nvSpPr>
        <p:spPr>
          <a:xfrm>
            <a:off x="4614672" y="2606040"/>
            <a:ext cx="2996184" cy="411480"/>
          </a:xfrm>
          <a:prstGeom prst="rect">
            <a:avLst/>
          </a:prstGeom>
          <a:noFill/>
          <a:ln/>
        </p:spPr>
        <p:txBody>
          <a:bodyPr wrap="square" lIns="0" tIns="0" rIns="0" bIns="0" rtlCol="0" anchor="t"/>
          <a:lstStyle/>
          <a:p>
            <a:pPr algn="l" indent="0" marL="0">
              <a:lnSpc>
                <a:spcPct val="110000"/>
              </a:lnSpc>
              <a:buNone/>
            </a:pPr>
            <a:r>
              <a:rPr lang="en-US" sz="1900" b="1" dirty="0">
                <a:solidFill>
                  <a:srgbClr val="F6F4EF"/>
                </a:solidFill>
                <a:latin typeface="Cambria" pitchFamily="34" charset="0"/>
                <a:ea typeface="Cambria" pitchFamily="34" charset="-122"/>
                <a:cs typeface="Cambria" pitchFamily="34" charset="-120"/>
              </a:rPr>
              <a:t>Información</a:t>
            </a:r>
            <a:endParaRPr lang="en-US" sz="1900" dirty="0"/>
          </a:p>
        </p:txBody>
      </p:sp>
      <p:sp>
        <p:nvSpPr>
          <p:cNvPr id="11" name="texto-276"/>
          <p:cNvSpPr txBox="1"/>
          <p:nvPr/>
        </p:nvSpPr>
        <p:spPr>
          <a:xfrm>
            <a:off x="4614672" y="3063240"/>
            <a:ext cx="2996184" cy="1005840"/>
          </a:xfrm>
          <a:prstGeom prst="rect">
            <a:avLst/>
          </a:prstGeom>
          <a:noFill/>
          <a:ln/>
        </p:spPr>
        <p:txBody>
          <a:bodyPr wrap="square" lIns="0" tIns="0" rIns="0" bIns="0" rtlCol="0" anchor="t"/>
          <a:lstStyle/>
          <a:p>
            <a:pPr algn="l" indent="0" marL="0">
              <a:lnSpc>
                <a:spcPct val="115000"/>
              </a:lnSpc>
              <a:buNone/>
            </a:pPr>
            <a:r>
              <a:rPr lang="en-US" sz="1400" dirty="0">
                <a:solidFill>
                  <a:srgbClr val="BFD6D1"/>
                </a:solidFill>
              </a:rPr>
              <a:t>Consultan indicadores de calidad para elegir EPS e IPS con criterio.</a:t>
            </a:r>
            <a:endParaRPr lang="en-US" sz="1400" dirty="0"/>
          </a:p>
        </p:txBody>
      </p:sp>
      <p:sp>
        <p:nvSpPr>
          <p:cNvPr id="12" name="tarjeta-277"/>
          <p:cNvSpPr/>
          <p:nvPr/>
        </p:nvSpPr>
        <p:spPr>
          <a:xfrm>
            <a:off x="8095488" y="1783080"/>
            <a:ext cx="3544824" cy="2377440"/>
          </a:xfrm>
          <a:prstGeom prst="roundRect">
            <a:avLst>
              <a:gd name="adj" fmla="val 5769"/>
            </a:avLst>
          </a:prstGeom>
          <a:solidFill>
            <a:srgbClr val="1D4850"/>
          </a:solidFill>
          <a:ln/>
        </p:spPr>
      </p:sp>
      <p:pic>
        <p:nvPicPr>
          <p:cNvPr id="13" name="icono-278" descr="Chat">    </p:cNvPr>
          <p:cNvPicPr>
            <a:picLocks noChangeAspect="1"/>
          </p:cNvPicPr>
          <p:nvPr/>
        </p:nvPicPr>
        <p:blipFill>
          <a:blip r:embed="rId3"/>
          <a:stretch>
            <a:fillRect/>
          </a:stretch>
        </p:blipFill>
        <p:spPr>
          <a:xfrm>
            <a:off x="8388096" y="2057400"/>
            <a:ext cx="411480" cy="411480"/>
          </a:xfrm>
          <a:prstGeom prst="rect">
            <a:avLst/>
          </a:prstGeom>
        </p:spPr>
      </p:pic>
      <p:sp>
        <p:nvSpPr>
          <p:cNvPr id="14" name="texto-279"/>
          <p:cNvSpPr txBox="1"/>
          <p:nvPr/>
        </p:nvSpPr>
        <p:spPr>
          <a:xfrm>
            <a:off x="8388096" y="2606040"/>
            <a:ext cx="2996184" cy="411480"/>
          </a:xfrm>
          <a:prstGeom prst="rect">
            <a:avLst/>
          </a:prstGeom>
          <a:noFill/>
          <a:ln/>
        </p:spPr>
        <p:txBody>
          <a:bodyPr wrap="square" lIns="0" tIns="0" rIns="0" bIns="0" rtlCol="0" anchor="t"/>
          <a:lstStyle/>
          <a:p>
            <a:pPr algn="l" indent="0" marL="0">
              <a:lnSpc>
                <a:spcPct val="110000"/>
              </a:lnSpc>
              <a:buNone/>
            </a:pPr>
            <a:r>
              <a:rPr lang="en-US" sz="1900" b="1" dirty="0">
                <a:solidFill>
                  <a:srgbClr val="F6F4EF"/>
                </a:solidFill>
                <a:latin typeface="Cambria" pitchFamily="34" charset="0"/>
                <a:ea typeface="Cambria" pitchFamily="34" charset="-122"/>
                <a:cs typeface="Cambria" pitchFamily="34" charset="-120"/>
              </a:rPr>
              <a:t>Participación</a:t>
            </a:r>
            <a:endParaRPr lang="en-US" sz="1900" dirty="0"/>
          </a:p>
        </p:txBody>
      </p:sp>
      <p:sp>
        <p:nvSpPr>
          <p:cNvPr id="15" name="texto-280"/>
          <p:cNvSpPr txBox="1"/>
          <p:nvPr/>
        </p:nvSpPr>
        <p:spPr>
          <a:xfrm>
            <a:off x="8388096" y="3063240"/>
            <a:ext cx="2996184" cy="1005840"/>
          </a:xfrm>
          <a:prstGeom prst="rect">
            <a:avLst/>
          </a:prstGeom>
          <a:noFill/>
          <a:ln/>
        </p:spPr>
        <p:txBody>
          <a:bodyPr wrap="square" lIns="0" tIns="0" rIns="0" bIns="0" rtlCol="0" anchor="t"/>
          <a:lstStyle/>
          <a:p>
            <a:pPr algn="l" indent="0" marL="0">
              <a:lnSpc>
                <a:spcPct val="115000"/>
              </a:lnSpc>
              <a:buNone/>
            </a:pPr>
            <a:r>
              <a:rPr lang="en-US" sz="1400" dirty="0">
                <a:solidFill>
                  <a:srgbClr val="BFD6D1"/>
                </a:solidFill>
              </a:rPr>
              <a:t>Asociaciones de usuarios, PQRS y veedurías alimentan el mejoramiento.</a:t>
            </a:r>
            <a:endParaRPr lang="en-US" sz="1400" dirty="0"/>
          </a:p>
        </p:txBody>
      </p:sp>
      <p:pic>
        <p:nvPicPr>
          <p:cNvPr id="16" name="icono-281" descr="Quote">    </p:cNvPr>
          <p:cNvPicPr>
            <a:picLocks noChangeAspect="1"/>
          </p:cNvPicPr>
          <p:nvPr/>
        </p:nvPicPr>
        <p:blipFill>
          <a:blip r:embed="rId4"/>
          <a:stretch>
            <a:fillRect/>
          </a:stretch>
        </p:blipFill>
        <p:spPr>
          <a:xfrm>
            <a:off x="548640" y="4526280"/>
            <a:ext cx="457200" cy="457200"/>
          </a:xfrm>
          <a:prstGeom prst="rect">
            <a:avLst/>
          </a:prstGeom>
        </p:spPr>
      </p:pic>
      <p:sp>
        <p:nvSpPr>
          <p:cNvPr id="17" name="texto-282"/>
          <p:cNvSpPr txBox="1"/>
          <p:nvPr/>
        </p:nvSpPr>
        <p:spPr>
          <a:xfrm>
            <a:off x="1234440" y="4434840"/>
            <a:ext cx="10241280" cy="914400"/>
          </a:xfrm>
          <a:prstGeom prst="rect">
            <a:avLst/>
          </a:prstGeom>
          <a:noFill/>
          <a:ln/>
        </p:spPr>
        <p:txBody>
          <a:bodyPr wrap="square" lIns="0" tIns="0" rIns="0" bIns="0" rtlCol="0" anchor="t"/>
          <a:lstStyle/>
          <a:p>
            <a:pPr algn="l" indent="0" marL="0">
              <a:lnSpc>
                <a:spcPct val="115000"/>
              </a:lnSpc>
              <a:buNone/>
            </a:pPr>
            <a:r>
              <a:rPr lang="en-US" sz="1900" i="1" dirty="0">
                <a:solidFill>
                  <a:srgbClr val="F6F4EF"/>
                </a:solidFill>
                <a:latin typeface="Cambria" pitchFamily="34" charset="0"/>
                <a:ea typeface="Cambria" pitchFamily="34" charset="-122"/>
                <a:cs typeface="Cambria" pitchFamily="34" charset="-120"/>
              </a:rPr>
              <a:t>En un Estado social de derecho, la calidad debe llegar a toda la población, incluida la migrante, como condición de integración y dignidad.</a:t>
            </a:r>
            <a:endParaRPr lang="en-US" sz="1900" dirty="0"/>
          </a:p>
        </p:txBody>
      </p:sp>
      <p:sp>
        <p:nvSpPr>
          <p:cNvPr id="18" name="texto-283"/>
          <p:cNvSpPr txBox="1"/>
          <p:nvPr/>
        </p:nvSpPr>
        <p:spPr>
          <a:xfrm>
            <a:off x="1234440" y="5440680"/>
            <a:ext cx="7315200" cy="274320"/>
          </a:xfrm>
          <a:prstGeom prst="rect">
            <a:avLst/>
          </a:prstGeom>
          <a:noFill/>
          <a:ln/>
        </p:spPr>
        <p:txBody>
          <a:bodyPr wrap="square" lIns="0" tIns="0" rIns="0" bIns="0" rtlCol="0" anchor="t"/>
          <a:lstStyle/>
          <a:p>
            <a:pPr algn="l" indent="0" marL="0">
              <a:lnSpc>
                <a:spcPct val="110000"/>
              </a:lnSpc>
              <a:buNone/>
            </a:pPr>
            <a:r>
              <a:rPr lang="en-US" sz="1200" dirty="0">
                <a:solidFill>
                  <a:srgbClr val="8FB3AD"/>
                </a:solidFill>
              </a:rPr>
              <a:t>A partir de Clavijo Cáceres y Yáñez Ibarra (2024)</a:t>
            </a:r>
            <a:endParaRPr lang="en-US" sz="12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FB3A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RESPUESTA AL PROBLEMA CENTRAL</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¿Por qué persisten las brechas?</a:t>
            </a:r>
            <a:endParaRPr lang="en-US" sz="3200" dirty="0"/>
          </a:p>
        </p:txBody>
      </p:sp>
      <p:sp>
        <p:nvSpPr>
          <p:cNvPr id="4" name="tarjeta-284"/>
          <p:cNvSpPr/>
          <p:nvPr/>
        </p:nvSpPr>
        <p:spPr>
          <a:xfrm>
            <a:off x="548640" y="1783080"/>
            <a:ext cx="3575304" cy="1417320"/>
          </a:xfrm>
          <a:prstGeom prst="roundRect">
            <a:avLst>
              <a:gd name="adj" fmla="val 7742"/>
            </a:avLst>
          </a:prstGeom>
          <a:solidFill>
            <a:srgbClr val="E7EFEC"/>
          </a:solidFill>
          <a:ln/>
        </p:spPr>
      </p:sp>
      <p:pic>
        <p:nvPicPr>
          <p:cNvPr id="5" name="icono-285" descr="Book">    </p:cNvPr>
          <p:cNvPicPr>
            <a:picLocks noChangeAspect="1"/>
          </p:cNvPicPr>
          <p:nvPr/>
        </p:nvPicPr>
        <p:blipFill>
          <a:blip r:embed="rId1"/>
          <a:stretch>
            <a:fillRect/>
          </a:stretch>
        </p:blipFill>
        <p:spPr>
          <a:xfrm>
            <a:off x="804672" y="2039112"/>
            <a:ext cx="347472" cy="347472"/>
          </a:xfrm>
          <a:prstGeom prst="rect">
            <a:avLst/>
          </a:prstGeom>
        </p:spPr>
      </p:pic>
      <p:sp>
        <p:nvSpPr>
          <p:cNvPr id="6" name="texto-286"/>
          <p:cNvSpPr txBox="1"/>
          <p:nvPr/>
        </p:nvSpPr>
        <p:spPr>
          <a:xfrm>
            <a:off x="1325880" y="2011680"/>
            <a:ext cx="2569464"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Cumplimiento formal</a:t>
            </a:r>
            <a:endParaRPr lang="en-US" sz="1500" dirty="0"/>
          </a:p>
        </p:txBody>
      </p:sp>
      <p:sp>
        <p:nvSpPr>
          <p:cNvPr id="7" name="texto-287"/>
          <p:cNvSpPr txBox="1"/>
          <p:nvPr/>
        </p:nvSpPr>
        <p:spPr>
          <a:xfrm>
            <a:off x="1325880" y="2404872"/>
            <a:ext cx="2569464" cy="73152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Habilitación y PAMEC se viven como trámite documental.</a:t>
            </a:r>
            <a:endParaRPr lang="en-US" sz="1300" dirty="0"/>
          </a:p>
        </p:txBody>
      </p:sp>
      <p:sp>
        <p:nvSpPr>
          <p:cNvPr id="8" name="tarjeta-288"/>
          <p:cNvSpPr/>
          <p:nvPr/>
        </p:nvSpPr>
        <p:spPr>
          <a:xfrm>
            <a:off x="4306824" y="1783080"/>
            <a:ext cx="3575304" cy="1417320"/>
          </a:xfrm>
          <a:prstGeom prst="roundRect">
            <a:avLst>
              <a:gd name="adj" fmla="val 7742"/>
            </a:avLst>
          </a:prstGeom>
          <a:solidFill>
            <a:srgbClr val="E7EFEC"/>
          </a:solidFill>
          <a:ln/>
        </p:spPr>
      </p:sp>
      <p:pic>
        <p:nvPicPr>
          <p:cNvPr id="9" name="icono-289" descr="Chart">    </p:cNvPr>
          <p:cNvPicPr>
            <a:picLocks noChangeAspect="1"/>
          </p:cNvPicPr>
          <p:nvPr/>
        </p:nvPicPr>
        <p:blipFill>
          <a:blip r:embed="rId2"/>
          <a:stretch>
            <a:fillRect/>
          </a:stretch>
        </p:blipFill>
        <p:spPr>
          <a:xfrm>
            <a:off x="4562856" y="2039112"/>
            <a:ext cx="347472" cy="347472"/>
          </a:xfrm>
          <a:prstGeom prst="rect">
            <a:avLst/>
          </a:prstGeom>
        </p:spPr>
      </p:pic>
      <p:sp>
        <p:nvSpPr>
          <p:cNvPr id="10" name="texto-290"/>
          <p:cNvSpPr txBox="1"/>
          <p:nvPr/>
        </p:nvSpPr>
        <p:spPr>
          <a:xfrm>
            <a:off x="5084064" y="2011680"/>
            <a:ext cx="2569464"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Crisis financiera</a:t>
            </a:r>
            <a:endParaRPr lang="en-US" sz="1500" dirty="0"/>
          </a:p>
        </p:txBody>
      </p:sp>
      <p:sp>
        <p:nvSpPr>
          <p:cNvPr id="11" name="texto-291"/>
          <p:cNvSpPr txBox="1"/>
          <p:nvPr/>
        </p:nvSpPr>
        <p:spPr>
          <a:xfrm>
            <a:off x="5084064" y="2404872"/>
            <a:ext cx="2569464" cy="73152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Deudas entre EPS e IPS limitan la inversión en calidad.</a:t>
            </a:r>
            <a:endParaRPr lang="en-US" sz="1300" dirty="0"/>
          </a:p>
        </p:txBody>
      </p:sp>
      <p:sp>
        <p:nvSpPr>
          <p:cNvPr id="12" name="tarjeta-292"/>
          <p:cNvSpPr/>
          <p:nvPr/>
        </p:nvSpPr>
        <p:spPr>
          <a:xfrm>
            <a:off x="8065008" y="1783080"/>
            <a:ext cx="3575304" cy="1417320"/>
          </a:xfrm>
          <a:prstGeom prst="roundRect">
            <a:avLst>
              <a:gd name="adj" fmla="val 7742"/>
            </a:avLst>
          </a:prstGeom>
          <a:solidFill>
            <a:srgbClr val="E7EFEC"/>
          </a:solidFill>
          <a:ln/>
        </p:spPr>
      </p:sp>
      <p:pic>
        <p:nvPicPr>
          <p:cNvPr id="13" name="icono-293" descr="Search">    </p:cNvPr>
          <p:cNvPicPr>
            <a:picLocks noChangeAspect="1"/>
          </p:cNvPicPr>
          <p:nvPr/>
        </p:nvPicPr>
        <p:blipFill>
          <a:blip r:embed="rId3"/>
          <a:stretch>
            <a:fillRect/>
          </a:stretch>
        </p:blipFill>
        <p:spPr>
          <a:xfrm>
            <a:off x="8321040" y="2039112"/>
            <a:ext cx="347472" cy="347472"/>
          </a:xfrm>
          <a:prstGeom prst="rect">
            <a:avLst/>
          </a:prstGeom>
        </p:spPr>
      </p:pic>
      <p:sp>
        <p:nvSpPr>
          <p:cNvPr id="14" name="texto-294"/>
          <p:cNvSpPr txBox="1"/>
          <p:nvPr/>
        </p:nvSpPr>
        <p:spPr>
          <a:xfrm>
            <a:off x="8842248" y="2011680"/>
            <a:ext cx="2569464"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Vigilancia débil</a:t>
            </a:r>
            <a:endParaRPr lang="en-US" sz="1500" dirty="0"/>
          </a:p>
        </p:txBody>
      </p:sp>
      <p:sp>
        <p:nvSpPr>
          <p:cNvPr id="15" name="texto-295"/>
          <p:cNvSpPr txBox="1"/>
          <p:nvPr/>
        </p:nvSpPr>
        <p:spPr>
          <a:xfrm>
            <a:off x="8842248" y="2404872"/>
            <a:ext cx="2569464" cy="73152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Secretarías con poco personal para verificar y hacer seguimiento.</a:t>
            </a:r>
            <a:endParaRPr lang="en-US" sz="1300" dirty="0"/>
          </a:p>
        </p:txBody>
      </p:sp>
      <p:sp>
        <p:nvSpPr>
          <p:cNvPr id="16" name="tarjeta-296"/>
          <p:cNvSpPr/>
          <p:nvPr/>
        </p:nvSpPr>
        <p:spPr>
          <a:xfrm>
            <a:off x="548640" y="3355848"/>
            <a:ext cx="3575304" cy="1417320"/>
          </a:xfrm>
          <a:prstGeom prst="roundRect">
            <a:avLst>
              <a:gd name="adj" fmla="val 7742"/>
            </a:avLst>
          </a:prstGeom>
          <a:solidFill>
            <a:srgbClr val="E7EFEC"/>
          </a:solidFill>
          <a:ln/>
        </p:spPr>
      </p:sp>
      <p:pic>
        <p:nvPicPr>
          <p:cNvPr id="17" name="icono-297" descr="Globe">    </p:cNvPr>
          <p:cNvPicPr>
            <a:picLocks noChangeAspect="1"/>
          </p:cNvPicPr>
          <p:nvPr/>
        </p:nvPicPr>
        <p:blipFill>
          <a:blip r:embed="rId4"/>
          <a:stretch>
            <a:fillRect/>
          </a:stretch>
        </p:blipFill>
        <p:spPr>
          <a:xfrm>
            <a:off x="804672" y="3611880"/>
            <a:ext cx="347472" cy="347472"/>
          </a:xfrm>
          <a:prstGeom prst="rect">
            <a:avLst/>
          </a:prstGeom>
        </p:spPr>
      </p:pic>
      <p:sp>
        <p:nvSpPr>
          <p:cNvPr id="18" name="texto-298"/>
          <p:cNvSpPr txBox="1"/>
          <p:nvPr/>
        </p:nvSpPr>
        <p:spPr>
          <a:xfrm>
            <a:off x="1325880" y="3584448"/>
            <a:ext cx="2569464"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Inequidad territorial</a:t>
            </a:r>
            <a:endParaRPr lang="en-US" sz="1500" dirty="0"/>
          </a:p>
        </p:txBody>
      </p:sp>
      <p:sp>
        <p:nvSpPr>
          <p:cNvPr id="19" name="texto-299"/>
          <p:cNvSpPr txBox="1"/>
          <p:nvPr/>
        </p:nvSpPr>
        <p:spPr>
          <a:xfrm>
            <a:off x="1325880" y="3977640"/>
            <a:ext cx="2569464" cy="73152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Zonas rurales con menos oferta habilitada y talento humano.</a:t>
            </a:r>
            <a:endParaRPr lang="en-US" sz="1300" dirty="0"/>
          </a:p>
        </p:txBody>
      </p:sp>
      <p:sp>
        <p:nvSpPr>
          <p:cNvPr id="20" name="tarjeta-300"/>
          <p:cNvSpPr/>
          <p:nvPr/>
        </p:nvSpPr>
        <p:spPr>
          <a:xfrm>
            <a:off x="4306824" y="3355848"/>
            <a:ext cx="3575304" cy="1417320"/>
          </a:xfrm>
          <a:prstGeom prst="roundRect">
            <a:avLst>
              <a:gd name="adj" fmla="val 7742"/>
            </a:avLst>
          </a:prstGeom>
          <a:solidFill>
            <a:srgbClr val="E7EFEC"/>
          </a:solidFill>
          <a:ln/>
        </p:spPr>
      </p:sp>
      <p:pic>
        <p:nvPicPr>
          <p:cNvPr id="21" name="icono-301" descr="Database">    </p:cNvPr>
          <p:cNvPicPr>
            <a:picLocks noChangeAspect="1"/>
          </p:cNvPicPr>
          <p:nvPr/>
        </p:nvPicPr>
        <p:blipFill>
          <a:blip r:embed="rId5"/>
          <a:stretch>
            <a:fillRect/>
          </a:stretch>
        </p:blipFill>
        <p:spPr>
          <a:xfrm>
            <a:off x="4562856" y="3611880"/>
            <a:ext cx="347472" cy="347472"/>
          </a:xfrm>
          <a:prstGeom prst="rect">
            <a:avLst/>
          </a:prstGeom>
        </p:spPr>
      </p:pic>
      <p:sp>
        <p:nvSpPr>
          <p:cNvPr id="22" name="texto-302"/>
          <p:cNvSpPr txBox="1"/>
          <p:nvPr/>
        </p:nvSpPr>
        <p:spPr>
          <a:xfrm>
            <a:off x="5084064" y="3584448"/>
            <a:ext cx="2569464"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Datos subutilizados</a:t>
            </a:r>
            <a:endParaRPr lang="en-US" sz="1500" dirty="0"/>
          </a:p>
        </p:txBody>
      </p:sp>
      <p:sp>
        <p:nvSpPr>
          <p:cNvPr id="23" name="texto-303"/>
          <p:cNvSpPr txBox="1"/>
          <p:nvPr/>
        </p:nvSpPr>
        <p:spPr>
          <a:xfrm>
            <a:off x="5084064" y="3977640"/>
            <a:ext cx="2569464" cy="73152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Subregistro y poca difusión de indicadores entre usuarios.</a:t>
            </a:r>
            <a:endParaRPr lang="en-US" sz="1300" dirty="0"/>
          </a:p>
        </p:txBody>
      </p:sp>
      <p:sp>
        <p:nvSpPr>
          <p:cNvPr id="24" name="tarjeta-304"/>
          <p:cNvSpPr/>
          <p:nvPr/>
        </p:nvSpPr>
        <p:spPr>
          <a:xfrm>
            <a:off x="8065008" y="3355848"/>
            <a:ext cx="3575304" cy="1417320"/>
          </a:xfrm>
          <a:prstGeom prst="roundRect">
            <a:avLst>
              <a:gd name="adj" fmla="val 7742"/>
            </a:avLst>
          </a:prstGeom>
          <a:solidFill>
            <a:srgbClr val="E7EFEC"/>
          </a:solidFill>
          <a:ln/>
        </p:spPr>
      </p:sp>
      <p:pic>
        <p:nvPicPr>
          <p:cNvPr id="25" name="icono-305" descr="Star">    </p:cNvPr>
          <p:cNvPicPr>
            <a:picLocks noChangeAspect="1"/>
          </p:cNvPicPr>
          <p:nvPr/>
        </p:nvPicPr>
        <p:blipFill>
          <a:blip r:embed="rId6"/>
          <a:stretch>
            <a:fillRect/>
          </a:stretch>
        </p:blipFill>
        <p:spPr>
          <a:xfrm>
            <a:off x="8321040" y="3611880"/>
            <a:ext cx="347472" cy="347472"/>
          </a:xfrm>
          <a:prstGeom prst="rect">
            <a:avLst/>
          </a:prstGeom>
        </p:spPr>
      </p:pic>
      <p:sp>
        <p:nvSpPr>
          <p:cNvPr id="26" name="texto-306"/>
          <p:cNvSpPr txBox="1"/>
          <p:nvPr/>
        </p:nvSpPr>
        <p:spPr>
          <a:xfrm>
            <a:off x="8842248" y="3584448"/>
            <a:ext cx="2569464"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Acreditación marginal</a:t>
            </a:r>
            <a:endParaRPr lang="en-US" sz="1500" dirty="0"/>
          </a:p>
        </p:txBody>
      </p:sp>
      <p:sp>
        <p:nvSpPr>
          <p:cNvPr id="27" name="texto-307"/>
          <p:cNvSpPr txBox="1"/>
          <p:nvPr/>
        </p:nvSpPr>
        <p:spPr>
          <a:xfrm>
            <a:off x="8842248" y="3977640"/>
            <a:ext cx="2569464" cy="73152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Voluntaria y costosa: pocas instituciones la alcanzan.</a:t>
            </a:r>
            <a:endParaRPr lang="en-US" sz="1300" dirty="0"/>
          </a:p>
        </p:txBody>
      </p:sp>
      <p:sp>
        <p:nvSpPr>
          <p:cNvPr id="28" name="tarjeta-308"/>
          <p:cNvSpPr/>
          <p:nvPr/>
        </p:nvSpPr>
        <p:spPr>
          <a:xfrm>
            <a:off x="548640" y="5074920"/>
            <a:ext cx="11091672" cy="960120"/>
          </a:xfrm>
          <a:prstGeom prst="roundRect">
            <a:avLst>
              <a:gd name="adj" fmla="val 11429"/>
            </a:avLst>
          </a:prstGeom>
          <a:solidFill>
            <a:srgbClr val="12343B"/>
          </a:solidFill>
          <a:ln/>
        </p:spPr>
      </p:sp>
      <p:pic>
        <p:nvPicPr>
          <p:cNvPr id="29" name="icono-309" descr="Warning">    </p:cNvPr>
          <p:cNvPicPr>
            <a:picLocks noChangeAspect="1"/>
          </p:cNvPicPr>
          <p:nvPr/>
        </p:nvPicPr>
        <p:blipFill>
          <a:blip r:embed="rId7"/>
          <a:stretch>
            <a:fillRect/>
          </a:stretch>
        </p:blipFill>
        <p:spPr>
          <a:xfrm>
            <a:off x="822960" y="5340096"/>
            <a:ext cx="420624" cy="420624"/>
          </a:xfrm>
          <a:prstGeom prst="rect">
            <a:avLst/>
          </a:prstGeom>
        </p:spPr>
      </p:pic>
      <p:sp>
        <p:nvSpPr>
          <p:cNvPr id="30" name="tesis-310"/>
          <p:cNvSpPr txBox="1"/>
          <p:nvPr/>
        </p:nvSpPr>
        <p:spPr>
          <a:xfrm>
            <a:off x="1463040" y="5074920"/>
            <a:ext cx="9966960" cy="960120"/>
          </a:xfrm>
          <a:prstGeom prst="rect">
            <a:avLst/>
          </a:prstGeom>
          <a:noFill/>
          <a:ln/>
        </p:spPr>
        <p:txBody>
          <a:bodyPr wrap="square" lIns="0" tIns="0" rIns="0" bIns="0" rtlCol="0" anchor="ctr"/>
          <a:lstStyle/>
          <a:p>
            <a:pPr indent="0" marL="0">
              <a:buNone/>
            </a:pPr>
            <a:r>
              <a:rPr lang="en-US" sz="1900" dirty="0">
                <a:solidFill>
                  <a:srgbClr val="F6F4EF"/>
                </a:solidFill>
                <a:latin typeface="Cambria" pitchFamily="34" charset="0"/>
                <a:ea typeface="Cambria" pitchFamily="34" charset="-122"/>
                <a:cs typeface="Cambria" pitchFamily="34" charset="-120"/>
              </a:rPr>
              <a:t>La brecha está en la </a:t>
            </a:r>
            <a:pPr indent="0" marL="0">
              <a:buNone/>
            </a:pPr>
            <a:r>
              <a:rPr lang="en-US" sz="1900" dirty="0">
                <a:solidFill>
                  <a:srgbClr val="F0A46C"/>
                </a:solidFill>
                <a:latin typeface="Cambria" pitchFamily="34" charset="0"/>
                <a:ea typeface="Cambria" pitchFamily="34" charset="-122"/>
                <a:cs typeface="Cambria" pitchFamily="34" charset="-120"/>
              </a:rPr>
              <a:t>implementación</a:t>
            </a:r>
            <a:pPr indent="0" marL="0">
              <a:buNone/>
            </a:pPr>
            <a:r>
              <a:rPr lang="en-US" sz="1900" dirty="0">
                <a:solidFill>
                  <a:srgbClr val="F6F4EF"/>
                </a:solidFill>
                <a:latin typeface="Cambria" pitchFamily="34" charset="0"/>
                <a:ea typeface="Cambria" pitchFamily="34" charset="-122"/>
                <a:cs typeface="Cambria" pitchFamily="34" charset="-120"/>
              </a:rPr>
              <a:t>, la </a:t>
            </a:r>
            <a:pPr indent="0" marL="0">
              <a:buNone/>
            </a:pPr>
            <a:r>
              <a:rPr lang="en-US" sz="1900" dirty="0">
                <a:solidFill>
                  <a:srgbClr val="F0A46C"/>
                </a:solidFill>
                <a:latin typeface="Cambria" pitchFamily="34" charset="0"/>
                <a:ea typeface="Cambria" pitchFamily="34" charset="-122"/>
                <a:cs typeface="Cambria" pitchFamily="34" charset="-120"/>
              </a:rPr>
              <a:t>financiación</a:t>
            </a:r>
            <a:pPr indent="0" marL="0">
              <a:buNone/>
            </a:pPr>
            <a:r>
              <a:rPr lang="en-US" sz="1900" dirty="0">
                <a:solidFill>
                  <a:srgbClr val="F6F4EF"/>
                </a:solidFill>
                <a:latin typeface="Cambria" pitchFamily="34" charset="0"/>
                <a:ea typeface="Cambria" pitchFamily="34" charset="-122"/>
                <a:cs typeface="Cambria" pitchFamily="34" charset="-120"/>
              </a:rPr>
              <a:t> y la </a:t>
            </a:r>
            <a:pPr indent="0" marL="0">
              <a:buNone/>
            </a:pPr>
            <a:r>
              <a:rPr lang="en-US" sz="1900" dirty="0">
                <a:solidFill>
                  <a:srgbClr val="F0A46C"/>
                </a:solidFill>
                <a:latin typeface="Cambria" pitchFamily="34" charset="0"/>
                <a:ea typeface="Cambria" pitchFamily="34" charset="-122"/>
                <a:cs typeface="Cambria" pitchFamily="34" charset="-120"/>
              </a:rPr>
              <a:t>cultura organizacional</a:t>
            </a:r>
            <a:pPr indent="0" marL="0">
              <a:buNone/>
            </a:pPr>
            <a:r>
              <a:rPr lang="en-US" sz="1900" dirty="0">
                <a:solidFill>
                  <a:srgbClr val="F6F4EF"/>
                </a:solidFill>
                <a:latin typeface="Cambria" pitchFamily="34" charset="0"/>
                <a:ea typeface="Cambria" pitchFamily="34" charset="-122"/>
                <a:cs typeface="Cambria" pitchFamily="34" charset="-120"/>
              </a:rPr>
              <a:t>.</a:t>
            </a:r>
            <a:endParaRPr lang="en-US" sz="19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tx1"/>
                </a:solidFill>
              </a:rPr>
              <a:t>IMPORTANCIA DEL SOGC EN EL SGSSS</a:t>
            </a:r>
            <a:endParaRPr lang="en-US" sz="1200" dirty="0"/>
          </a:p>
        </p:txBody>
      </p:sp>
      <p:sp>
        <p:nvSpPr>
          <p:cNvPr id="3" name="Text 0"/>
          <p:cNvSpPr/>
          <p:nvPr>
            <p:ph idx="101" type="title" hasCustomPrompt="1"/>
          </p:nvPr>
        </p:nvSpPr>
        <p:spPr>
          <a:xfrm>
            <a:off x="548640" y="914400"/>
            <a:ext cx="10241280" cy="237744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El SOGC es el piso común de calidad del sistema. La tarea pendiente es llevarlo de la norma a la práctica.</a:t>
            </a:r>
            <a:endParaRPr lang="en-US" sz="3600" dirty="0"/>
          </a:p>
        </p:txBody>
      </p:sp>
      <p:sp>
        <p:nvSpPr>
          <p:cNvPr id="4" name="divisor-311"/>
          <p:cNvSpPr/>
          <p:nvPr/>
        </p:nvSpPr>
        <p:spPr>
          <a:xfrm>
            <a:off x="548640" y="3977640"/>
            <a:ext cx="3514344" cy="0"/>
          </a:xfrm>
          <a:prstGeom prst="line">
            <a:avLst/>
          </a:prstGeom>
          <a:noFill/>
          <a:ln w="25400">
            <a:solidFill>
              <a:srgbClr val="12343B"/>
            </a:solidFill>
            <a:prstDash val="solid"/>
          </a:ln>
        </p:spPr>
      </p:sp>
      <p:sp>
        <p:nvSpPr>
          <p:cNvPr id="5" name="texto-312"/>
          <p:cNvSpPr txBox="1"/>
          <p:nvPr/>
        </p:nvSpPr>
        <p:spPr>
          <a:xfrm>
            <a:off x="548640" y="4160520"/>
            <a:ext cx="3514344"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Protege al usuario</a:t>
            </a:r>
            <a:endParaRPr lang="en-US" sz="1700" dirty="0"/>
          </a:p>
        </p:txBody>
      </p:sp>
      <p:sp>
        <p:nvSpPr>
          <p:cNvPr id="6" name="texto-313"/>
          <p:cNvSpPr txBox="1"/>
          <p:nvPr/>
        </p:nvSpPr>
        <p:spPr>
          <a:xfrm>
            <a:off x="548640" y="4572000"/>
            <a:ext cx="3422904" cy="1005840"/>
          </a:xfrm>
          <a:prstGeom prst="rect">
            <a:avLst/>
          </a:prstGeom>
          <a:noFill/>
          <a:ln/>
        </p:spPr>
        <p:txBody>
          <a:bodyPr wrap="square" lIns="0" tIns="0" rIns="0" bIns="0" rtlCol="0" anchor="t"/>
          <a:lstStyle/>
          <a:p>
            <a:pPr algn="l" indent="0" marL="0">
              <a:lnSpc>
                <a:spcPct val="115000"/>
              </a:lnSpc>
              <a:buNone/>
            </a:pPr>
            <a:r>
              <a:rPr lang="en-US" sz="1400" dirty="0">
                <a:solidFill>
                  <a:srgbClr val="1D3A40"/>
                </a:solidFill>
              </a:rPr>
              <a:t>Fija mínimos de seguridad para que nadie preste servicios sin condiciones.</a:t>
            </a:r>
            <a:endParaRPr lang="en-US" sz="1400" dirty="0"/>
          </a:p>
        </p:txBody>
      </p:sp>
      <p:sp>
        <p:nvSpPr>
          <p:cNvPr id="7" name="divisor-314"/>
          <p:cNvSpPr/>
          <p:nvPr/>
        </p:nvSpPr>
        <p:spPr>
          <a:xfrm>
            <a:off x="4337304" y="3977640"/>
            <a:ext cx="3514344" cy="0"/>
          </a:xfrm>
          <a:prstGeom prst="line">
            <a:avLst/>
          </a:prstGeom>
          <a:noFill/>
          <a:ln w="25400">
            <a:solidFill>
              <a:srgbClr val="12343B"/>
            </a:solidFill>
            <a:prstDash val="solid"/>
          </a:ln>
        </p:spPr>
      </p:sp>
      <p:sp>
        <p:nvSpPr>
          <p:cNvPr id="8" name="texto-315"/>
          <p:cNvSpPr txBox="1"/>
          <p:nvPr/>
        </p:nvSpPr>
        <p:spPr>
          <a:xfrm>
            <a:off x="4337304" y="4160520"/>
            <a:ext cx="3514344"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Ordena el mejoramiento</a:t>
            </a:r>
            <a:endParaRPr lang="en-US" sz="1700" dirty="0"/>
          </a:p>
        </p:txBody>
      </p:sp>
      <p:sp>
        <p:nvSpPr>
          <p:cNvPr id="9" name="texto-316"/>
          <p:cNvSpPr txBox="1"/>
          <p:nvPr/>
        </p:nvSpPr>
        <p:spPr>
          <a:xfrm>
            <a:off x="4337304" y="4572000"/>
            <a:ext cx="3422904" cy="1005840"/>
          </a:xfrm>
          <a:prstGeom prst="rect">
            <a:avLst/>
          </a:prstGeom>
          <a:noFill/>
          <a:ln/>
        </p:spPr>
        <p:txBody>
          <a:bodyPr wrap="square" lIns="0" tIns="0" rIns="0" bIns="0" rtlCol="0" anchor="t"/>
          <a:lstStyle/>
          <a:p>
            <a:pPr algn="l" indent="0" marL="0">
              <a:lnSpc>
                <a:spcPct val="115000"/>
              </a:lnSpc>
              <a:buNone/>
            </a:pPr>
            <a:r>
              <a:rPr lang="en-US" sz="1400" dirty="0">
                <a:solidFill>
                  <a:srgbClr val="1D3A40"/>
                </a:solidFill>
              </a:rPr>
              <a:t>Convierte la calidad en un ciclo medible, con metas y responsables.</a:t>
            </a:r>
            <a:endParaRPr lang="en-US" sz="1400" dirty="0"/>
          </a:p>
        </p:txBody>
      </p:sp>
      <p:sp>
        <p:nvSpPr>
          <p:cNvPr id="10" name="divisor-317"/>
          <p:cNvSpPr/>
          <p:nvPr/>
        </p:nvSpPr>
        <p:spPr>
          <a:xfrm>
            <a:off x="8125968" y="3977640"/>
            <a:ext cx="3514344" cy="0"/>
          </a:xfrm>
          <a:prstGeom prst="line">
            <a:avLst/>
          </a:prstGeom>
          <a:noFill/>
          <a:ln w="25400">
            <a:solidFill>
              <a:srgbClr val="12343B"/>
            </a:solidFill>
            <a:prstDash val="solid"/>
          </a:ln>
        </p:spPr>
      </p:sp>
      <p:sp>
        <p:nvSpPr>
          <p:cNvPr id="11" name="texto-318"/>
          <p:cNvSpPr txBox="1"/>
          <p:nvPr/>
        </p:nvSpPr>
        <p:spPr>
          <a:xfrm>
            <a:off x="8125968" y="4160520"/>
            <a:ext cx="3514344" cy="36576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Hace visible el desempeño</a:t>
            </a:r>
            <a:endParaRPr lang="en-US" sz="1700" dirty="0"/>
          </a:p>
        </p:txBody>
      </p:sp>
      <p:sp>
        <p:nvSpPr>
          <p:cNvPr id="12" name="texto-319"/>
          <p:cNvSpPr txBox="1"/>
          <p:nvPr/>
        </p:nvSpPr>
        <p:spPr>
          <a:xfrm>
            <a:off x="8125968" y="4572000"/>
            <a:ext cx="3422904" cy="1005840"/>
          </a:xfrm>
          <a:prstGeom prst="rect">
            <a:avLst/>
          </a:prstGeom>
          <a:noFill/>
          <a:ln/>
        </p:spPr>
        <p:txBody>
          <a:bodyPr wrap="square" lIns="0" tIns="0" rIns="0" bIns="0" rtlCol="0" anchor="t"/>
          <a:lstStyle/>
          <a:p>
            <a:pPr algn="l" indent="0" marL="0">
              <a:lnSpc>
                <a:spcPct val="115000"/>
              </a:lnSpc>
              <a:buNone/>
            </a:pPr>
            <a:r>
              <a:rPr lang="en-US" sz="1400" dirty="0">
                <a:solidFill>
                  <a:srgbClr val="1D3A40"/>
                </a:solidFill>
              </a:rPr>
              <a:t>Permite comparar, exigir y decidir con datos.</a:t>
            </a:r>
            <a:endParaRPr lang="en-US" sz="14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12343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PROPUESTAS DE MEJORA</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Seis apuestas para cerrar la brecha</a:t>
            </a:r>
            <a:endParaRPr lang="en-US" sz="3200" dirty="0"/>
          </a:p>
        </p:txBody>
      </p:sp>
      <p:sp>
        <p:nvSpPr>
          <p:cNvPr id="4" name="tarjeta-320"/>
          <p:cNvSpPr/>
          <p:nvPr/>
        </p:nvSpPr>
        <p:spPr>
          <a:xfrm>
            <a:off x="548640" y="1783080"/>
            <a:ext cx="5454396" cy="1261872"/>
          </a:xfrm>
          <a:prstGeom prst="roundRect">
            <a:avLst>
              <a:gd name="adj" fmla="val 8696"/>
            </a:avLst>
          </a:prstGeom>
          <a:solidFill>
            <a:srgbClr val="F6F4EF"/>
          </a:solidFill>
          <a:ln/>
        </p:spPr>
      </p:sp>
      <p:sp>
        <p:nvSpPr>
          <p:cNvPr id="5" name="texto-321"/>
          <p:cNvSpPr txBox="1"/>
          <p:nvPr/>
        </p:nvSpPr>
        <p:spPr>
          <a:xfrm>
            <a:off x="804672" y="1965960"/>
            <a:ext cx="457200" cy="548640"/>
          </a:xfrm>
          <a:prstGeom prst="rect">
            <a:avLst/>
          </a:prstGeom>
          <a:noFill/>
          <a:ln/>
        </p:spPr>
        <p:txBody>
          <a:bodyPr wrap="square" lIns="0" tIns="0" rIns="0" bIns="0" rtlCol="0" anchor="t"/>
          <a:lstStyle/>
          <a:p>
            <a:pPr algn="l" indent="0" marL="0">
              <a:lnSpc>
                <a:spcPct val="110000"/>
              </a:lnSpc>
              <a:buNone/>
            </a:pPr>
            <a:r>
              <a:rPr lang="en-US" sz="2600" b="1" dirty="0">
                <a:solidFill>
                  <a:srgbClr val="A9501F"/>
                </a:solidFill>
                <a:latin typeface="Cambria" pitchFamily="34" charset="0"/>
                <a:ea typeface="Cambria" pitchFamily="34" charset="-122"/>
                <a:cs typeface="Cambria" pitchFamily="34" charset="-120"/>
              </a:rPr>
              <a:t>1</a:t>
            </a:r>
            <a:endParaRPr lang="en-US" sz="2600" dirty="0"/>
          </a:p>
        </p:txBody>
      </p:sp>
      <p:sp>
        <p:nvSpPr>
          <p:cNvPr id="6" name="texto-322"/>
          <p:cNvSpPr txBox="1"/>
          <p:nvPr/>
        </p:nvSpPr>
        <p:spPr>
          <a:xfrm>
            <a:off x="1325880" y="1984248"/>
            <a:ext cx="329184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Habilitación por resultados</a:t>
            </a:r>
            <a:endParaRPr lang="en-US" sz="1500" dirty="0"/>
          </a:p>
        </p:txBody>
      </p:sp>
      <p:sp>
        <p:nvSpPr>
          <p:cNvPr id="7" name="texto-323"/>
          <p:cNvSpPr txBox="1"/>
          <p:nvPr/>
        </p:nvSpPr>
        <p:spPr>
          <a:xfrm>
            <a:off x="4219956" y="2002536"/>
            <a:ext cx="1554480" cy="320040"/>
          </a:xfrm>
          <a:prstGeom prst="rect">
            <a:avLst/>
          </a:prstGeom>
          <a:noFill/>
          <a:ln/>
        </p:spPr>
        <p:txBody>
          <a:bodyPr wrap="square" lIns="0" tIns="0" rIns="0" bIns="0" rtlCol="0" anchor="t"/>
          <a:lstStyle/>
          <a:p>
            <a:pPr algn="r" indent="0" marL="0">
              <a:lnSpc>
                <a:spcPct val="110000"/>
              </a:lnSpc>
              <a:buNone/>
            </a:pPr>
            <a:r>
              <a:rPr lang="en-US" sz="1200" dirty="0">
                <a:solidFill>
                  <a:srgbClr val="23675F"/>
                </a:solidFill>
              </a:rPr>
              <a:t>MinSalud</a:t>
            </a:r>
            <a:endParaRPr lang="en-US" sz="1200" dirty="0"/>
          </a:p>
        </p:txBody>
      </p:sp>
      <p:sp>
        <p:nvSpPr>
          <p:cNvPr id="8" name="texto-324"/>
          <p:cNvSpPr txBox="1"/>
          <p:nvPr/>
        </p:nvSpPr>
        <p:spPr>
          <a:xfrm>
            <a:off x="1325880" y="2386584"/>
            <a:ext cx="4402836" cy="594360"/>
          </a:xfrm>
          <a:prstGeom prst="rect">
            <a:avLst/>
          </a:prstGeom>
          <a:noFill/>
          <a:ln/>
        </p:spPr>
        <p:txBody>
          <a:bodyPr wrap="square" lIns="0" tIns="0" rIns="0" bIns="0" rtlCol="0" anchor="t"/>
          <a:lstStyle/>
          <a:p>
            <a:pPr algn="l" indent="0" marL="0">
              <a:lnSpc>
                <a:spcPct val="110000"/>
              </a:lnSpc>
              <a:buNone/>
            </a:pPr>
            <a:r>
              <a:rPr lang="en-US" sz="1300" dirty="0">
                <a:solidFill>
                  <a:srgbClr val="3B4A50"/>
                </a:solidFill>
              </a:rPr>
              <a:t>Verificar desenlaces y seguridad del paciente, no solo documentos.</a:t>
            </a:r>
            <a:endParaRPr lang="en-US" sz="1300" dirty="0"/>
          </a:p>
        </p:txBody>
      </p:sp>
      <p:sp>
        <p:nvSpPr>
          <p:cNvPr id="9" name="tarjeta-325"/>
          <p:cNvSpPr/>
          <p:nvPr/>
        </p:nvSpPr>
        <p:spPr>
          <a:xfrm>
            <a:off x="6185916" y="1783080"/>
            <a:ext cx="5454396" cy="1261872"/>
          </a:xfrm>
          <a:prstGeom prst="roundRect">
            <a:avLst>
              <a:gd name="adj" fmla="val 8696"/>
            </a:avLst>
          </a:prstGeom>
          <a:solidFill>
            <a:srgbClr val="F6F4EF"/>
          </a:solidFill>
          <a:ln/>
        </p:spPr>
      </p:sp>
      <p:sp>
        <p:nvSpPr>
          <p:cNvPr id="10" name="texto-326"/>
          <p:cNvSpPr txBox="1"/>
          <p:nvPr/>
        </p:nvSpPr>
        <p:spPr>
          <a:xfrm>
            <a:off x="6441948" y="1965960"/>
            <a:ext cx="457200" cy="548640"/>
          </a:xfrm>
          <a:prstGeom prst="rect">
            <a:avLst/>
          </a:prstGeom>
          <a:noFill/>
          <a:ln/>
        </p:spPr>
        <p:txBody>
          <a:bodyPr wrap="square" lIns="0" tIns="0" rIns="0" bIns="0" rtlCol="0" anchor="t"/>
          <a:lstStyle/>
          <a:p>
            <a:pPr algn="l" indent="0" marL="0">
              <a:lnSpc>
                <a:spcPct val="110000"/>
              </a:lnSpc>
              <a:buNone/>
            </a:pPr>
            <a:r>
              <a:rPr lang="en-US" sz="2600" b="1" dirty="0">
                <a:solidFill>
                  <a:srgbClr val="A9501F"/>
                </a:solidFill>
                <a:latin typeface="Cambria" pitchFamily="34" charset="0"/>
                <a:ea typeface="Cambria" pitchFamily="34" charset="-122"/>
                <a:cs typeface="Cambria" pitchFamily="34" charset="-120"/>
              </a:rPr>
              <a:t>2</a:t>
            </a:r>
            <a:endParaRPr lang="en-US" sz="2600" dirty="0"/>
          </a:p>
        </p:txBody>
      </p:sp>
      <p:sp>
        <p:nvSpPr>
          <p:cNvPr id="11" name="texto-327"/>
          <p:cNvSpPr txBox="1"/>
          <p:nvPr/>
        </p:nvSpPr>
        <p:spPr>
          <a:xfrm>
            <a:off x="6963156" y="1984248"/>
            <a:ext cx="329184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Vigilancia territorial fuerte</a:t>
            </a:r>
            <a:endParaRPr lang="en-US" sz="1500" dirty="0"/>
          </a:p>
        </p:txBody>
      </p:sp>
      <p:sp>
        <p:nvSpPr>
          <p:cNvPr id="12" name="texto-328"/>
          <p:cNvSpPr txBox="1"/>
          <p:nvPr/>
        </p:nvSpPr>
        <p:spPr>
          <a:xfrm>
            <a:off x="9857232" y="2002536"/>
            <a:ext cx="1554480" cy="320040"/>
          </a:xfrm>
          <a:prstGeom prst="rect">
            <a:avLst/>
          </a:prstGeom>
          <a:noFill/>
          <a:ln/>
        </p:spPr>
        <p:txBody>
          <a:bodyPr wrap="square" lIns="0" tIns="0" rIns="0" bIns="0" rtlCol="0" anchor="t"/>
          <a:lstStyle/>
          <a:p>
            <a:pPr algn="r" indent="0" marL="0">
              <a:lnSpc>
                <a:spcPct val="110000"/>
              </a:lnSpc>
              <a:buNone/>
            </a:pPr>
            <a:r>
              <a:rPr lang="en-US" sz="1200" dirty="0">
                <a:solidFill>
                  <a:srgbClr val="23675F"/>
                </a:solidFill>
              </a:rPr>
              <a:t>Entes · Supersalud</a:t>
            </a:r>
            <a:endParaRPr lang="en-US" sz="1200" dirty="0"/>
          </a:p>
        </p:txBody>
      </p:sp>
      <p:sp>
        <p:nvSpPr>
          <p:cNvPr id="13" name="texto-329"/>
          <p:cNvSpPr txBox="1"/>
          <p:nvPr/>
        </p:nvSpPr>
        <p:spPr>
          <a:xfrm>
            <a:off x="6963156" y="2386584"/>
            <a:ext cx="4402836" cy="594360"/>
          </a:xfrm>
          <a:prstGeom prst="rect">
            <a:avLst/>
          </a:prstGeom>
          <a:noFill/>
          <a:ln/>
        </p:spPr>
        <p:txBody>
          <a:bodyPr wrap="square" lIns="0" tIns="0" rIns="0" bIns="0" rtlCol="0" anchor="t"/>
          <a:lstStyle/>
          <a:p>
            <a:pPr algn="l" indent="0" marL="0">
              <a:lnSpc>
                <a:spcPct val="110000"/>
              </a:lnSpc>
              <a:buNone/>
            </a:pPr>
            <a:r>
              <a:rPr lang="en-US" sz="1300" dirty="0">
                <a:solidFill>
                  <a:srgbClr val="3B4A50"/>
                </a:solidFill>
              </a:rPr>
              <a:t>Más verificadores capacitados y seguimiento con herramientas digitales.</a:t>
            </a:r>
            <a:endParaRPr lang="en-US" sz="1300" dirty="0"/>
          </a:p>
        </p:txBody>
      </p:sp>
      <p:sp>
        <p:nvSpPr>
          <p:cNvPr id="14" name="tarjeta-330"/>
          <p:cNvSpPr/>
          <p:nvPr/>
        </p:nvSpPr>
        <p:spPr>
          <a:xfrm>
            <a:off x="548640" y="3200400"/>
            <a:ext cx="5454396" cy="1261872"/>
          </a:xfrm>
          <a:prstGeom prst="roundRect">
            <a:avLst>
              <a:gd name="adj" fmla="val 8696"/>
            </a:avLst>
          </a:prstGeom>
          <a:solidFill>
            <a:srgbClr val="F6F4EF"/>
          </a:solidFill>
          <a:ln/>
        </p:spPr>
      </p:sp>
      <p:sp>
        <p:nvSpPr>
          <p:cNvPr id="15" name="texto-331"/>
          <p:cNvSpPr txBox="1"/>
          <p:nvPr/>
        </p:nvSpPr>
        <p:spPr>
          <a:xfrm>
            <a:off x="804672" y="3383280"/>
            <a:ext cx="457200" cy="548640"/>
          </a:xfrm>
          <a:prstGeom prst="rect">
            <a:avLst/>
          </a:prstGeom>
          <a:noFill/>
          <a:ln/>
        </p:spPr>
        <p:txBody>
          <a:bodyPr wrap="square" lIns="0" tIns="0" rIns="0" bIns="0" rtlCol="0" anchor="t"/>
          <a:lstStyle/>
          <a:p>
            <a:pPr algn="l" indent="0" marL="0">
              <a:lnSpc>
                <a:spcPct val="110000"/>
              </a:lnSpc>
              <a:buNone/>
            </a:pPr>
            <a:r>
              <a:rPr lang="en-US" sz="2600" b="1" dirty="0">
                <a:solidFill>
                  <a:srgbClr val="A9501F"/>
                </a:solidFill>
                <a:latin typeface="Cambria" pitchFamily="34" charset="0"/>
                <a:ea typeface="Cambria" pitchFamily="34" charset="-122"/>
                <a:cs typeface="Cambria" pitchFamily="34" charset="-120"/>
              </a:rPr>
              <a:t>3</a:t>
            </a:r>
            <a:endParaRPr lang="en-US" sz="2600" dirty="0"/>
          </a:p>
        </p:txBody>
      </p:sp>
      <p:sp>
        <p:nvSpPr>
          <p:cNvPr id="16" name="texto-332"/>
          <p:cNvSpPr txBox="1"/>
          <p:nvPr/>
        </p:nvSpPr>
        <p:spPr>
          <a:xfrm>
            <a:off x="1325880" y="3401568"/>
            <a:ext cx="329184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Incentivos a la calidad</a:t>
            </a:r>
            <a:endParaRPr lang="en-US" sz="1500" dirty="0"/>
          </a:p>
        </p:txBody>
      </p:sp>
      <p:sp>
        <p:nvSpPr>
          <p:cNvPr id="17" name="texto-333"/>
          <p:cNvSpPr txBox="1"/>
          <p:nvPr/>
        </p:nvSpPr>
        <p:spPr>
          <a:xfrm>
            <a:off x="4219956" y="3419856"/>
            <a:ext cx="1554480" cy="320040"/>
          </a:xfrm>
          <a:prstGeom prst="rect">
            <a:avLst/>
          </a:prstGeom>
          <a:noFill/>
          <a:ln/>
        </p:spPr>
        <p:txBody>
          <a:bodyPr wrap="square" lIns="0" tIns="0" rIns="0" bIns="0" rtlCol="0" anchor="t"/>
          <a:lstStyle/>
          <a:p>
            <a:pPr algn="r" indent="0" marL="0">
              <a:lnSpc>
                <a:spcPct val="110000"/>
              </a:lnSpc>
              <a:buNone/>
            </a:pPr>
            <a:r>
              <a:rPr lang="en-US" sz="1200" dirty="0">
                <a:solidFill>
                  <a:srgbClr val="23675F"/>
                </a:solidFill>
              </a:rPr>
              <a:t>EPS · IPS</a:t>
            </a:r>
            <a:endParaRPr lang="en-US" sz="1200" dirty="0"/>
          </a:p>
        </p:txBody>
      </p:sp>
      <p:sp>
        <p:nvSpPr>
          <p:cNvPr id="18" name="texto-334"/>
          <p:cNvSpPr txBox="1"/>
          <p:nvPr/>
        </p:nvSpPr>
        <p:spPr>
          <a:xfrm>
            <a:off x="1325880" y="3803904"/>
            <a:ext cx="4402836" cy="594360"/>
          </a:xfrm>
          <a:prstGeom prst="rect">
            <a:avLst/>
          </a:prstGeom>
          <a:noFill/>
          <a:ln/>
        </p:spPr>
        <p:txBody>
          <a:bodyPr wrap="square" lIns="0" tIns="0" rIns="0" bIns="0" rtlCol="0" anchor="t"/>
          <a:lstStyle/>
          <a:p>
            <a:pPr algn="l" indent="0" marL="0">
              <a:lnSpc>
                <a:spcPct val="110000"/>
              </a:lnSpc>
              <a:buNone/>
            </a:pPr>
            <a:r>
              <a:rPr lang="en-US" sz="1300" dirty="0">
                <a:solidFill>
                  <a:srgbClr val="3B4A50"/>
                </a:solidFill>
              </a:rPr>
              <a:t>Contratos con pago por resultados y reconocimiento a la acreditación.</a:t>
            </a:r>
            <a:endParaRPr lang="en-US" sz="1300" dirty="0"/>
          </a:p>
        </p:txBody>
      </p:sp>
      <p:sp>
        <p:nvSpPr>
          <p:cNvPr id="19" name="tarjeta-335"/>
          <p:cNvSpPr/>
          <p:nvPr/>
        </p:nvSpPr>
        <p:spPr>
          <a:xfrm>
            <a:off x="6185916" y="3200400"/>
            <a:ext cx="5454396" cy="1261872"/>
          </a:xfrm>
          <a:prstGeom prst="roundRect">
            <a:avLst>
              <a:gd name="adj" fmla="val 8696"/>
            </a:avLst>
          </a:prstGeom>
          <a:solidFill>
            <a:srgbClr val="F6F4EF"/>
          </a:solidFill>
          <a:ln/>
        </p:spPr>
      </p:sp>
      <p:sp>
        <p:nvSpPr>
          <p:cNvPr id="20" name="texto-336"/>
          <p:cNvSpPr txBox="1"/>
          <p:nvPr/>
        </p:nvSpPr>
        <p:spPr>
          <a:xfrm>
            <a:off x="6441948" y="3383280"/>
            <a:ext cx="457200" cy="548640"/>
          </a:xfrm>
          <a:prstGeom prst="rect">
            <a:avLst/>
          </a:prstGeom>
          <a:noFill/>
          <a:ln/>
        </p:spPr>
        <p:txBody>
          <a:bodyPr wrap="square" lIns="0" tIns="0" rIns="0" bIns="0" rtlCol="0" anchor="t"/>
          <a:lstStyle/>
          <a:p>
            <a:pPr algn="l" indent="0" marL="0">
              <a:lnSpc>
                <a:spcPct val="110000"/>
              </a:lnSpc>
              <a:buNone/>
            </a:pPr>
            <a:r>
              <a:rPr lang="en-US" sz="2600" b="1" dirty="0">
                <a:solidFill>
                  <a:srgbClr val="A9501F"/>
                </a:solidFill>
                <a:latin typeface="Cambria" pitchFamily="34" charset="0"/>
                <a:ea typeface="Cambria" pitchFamily="34" charset="-122"/>
                <a:cs typeface="Cambria" pitchFamily="34" charset="-120"/>
              </a:rPr>
              <a:t>4</a:t>
            </a:r>
            <a:endParaRPr lang="en-US" sz="2600" dirty="0"/>
          </a:p>
        </p:txBody>
      </p:sp>
      <p:sp>
        <p:nvSpPr>
          <p:cNvPr id="21" name="texto-337"/>
          <p:cNvSpPr txBox="1"/>
          <p:nvPr/>
        </p:nvSpPr>
        <p:spPr>
          <a:xfrm>
            <a:off x="6963156" y="3401568"/>
            <a:ext cx="329184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Información abierta y útil</a:t>
            </a:r>
            <a:endParaRPr lang="en-US" sz="1500" dirty="0"/>
          </a:p>
        </p:txBody>
      </p:sp>
      <p:sp>
        <p:nvSpPr>
          <p:cNvPr id="22" name="texto-338"/>
          <p:cNvSpPr txBox="1"/>
          <p:nvPr/>
        </p:nvSpPr>
        <p:spPr>
          <a:xfrm>
            <a:off x="9857232" y="3419856"/>
            <a:ext cx="1554480" cy="320040"/>
          </a:xfrm>
          <a:prstGeom prst="rect">
            <a:avLst/>
          </a:prstGeom>
          <a:noFill/>
          <a:ln/>
        </p:spPr>
        <p:txBody>
          <a:bodyPr wrap="square" lIns="0" tIns="0" rIns="0" bIns="0" rtlCol="0" anchor="t"/>
          <a:lstStyle/>
          <a:p>
            <a:pPr algn="r" indent="0" marL="0">
              <a:lnSpc>
                <a:spcPct val="110000"/>
              </a:lnSpc>
              <a:buNone/>
            </a:pPr>
            <a:r>
              <a:rPr lang="en-US" sz="1200" dirty="0">
                <a:solidFill>
                  <a:srgbClr val="23675F"/>
                </a:solidFill>
              </a:rPr>
              <a:t>MinSalud</a:t>
            </a:r>
            <a:endParaRPr lang="en-US" sz="1200" dirty="0"/>
          </a:p>
        </p:txBody>
      </p:sp>
      <p:sp>
        <p:nvSpPr>
          <p:cNvPr id="23" name="texto-339"/>
          <p:cNvSpPr txBox="1"/>
          <p:nvPr/>
        </p:nvSpPr>
        <p:spPr>
          <a:xfrm>
            <a:off x="6963156" y="3803904"/>
            <a:ext cx="4402836" cy="594360"/>
          </a:xfrm>
          <a:prstGeom prst="rect">
            <a:avLst/>
          </a:prstGeom>
          <a:noFill/>
          <a:ln/>
        </p:spPr>
        <p:txBody>
          <a:bodyPr wrap="square" lIns="0" tIns="0" rIns="0" bIns="0" rtlCol="0" anchor="t"/>
          <a:lstStyle/>
          <a:p>
            <a:pPr algn="l" indent="0" marL="0">
              <a:lnSpc>
                <a:spcPct val="110000"/>
              </a:lnSpc>
              <a:buNone/>
            </a:pPr>
            <a:r>
              <a:rPr lang="en-US" sz="1300" dirty="0">
                <a:solidFill>
                  <a:srgbClr val="3B4A50"/>
                </a:solidFill>
              </a:rPr>
              <a:t>Tableros públicos y comprensibles de indicadores por EPS e IPS.</a:t>
            </a:r>
            <a:endParaRPr lang="en-US" sz="1300" dirty="0"/>
          </a:p>
        </p:txBody>
      </p:sp>
      <p:sp>
        <p:nvSpPr>
          <p:cNvPr id="24" name="tarjeta-340"/>
          <p:cNvSpPr/>
          <p:nvPr/>
        </p:nvSpPr>
        <p:spPr>
          <a:xfrm>
            <a:off x="548640" y="4617720"/>
            <a:ext cx="5454396" cy="1261872"/>
          </a:xfrm>
          <a:prstGeom prst="roundRect">
            <a:avLst>
              <a:gd name="adj" fmla="val 8696"/>
            </a:avLst>
          </a:prstGeom>
          <a:solidFill>
            <a:srgbClr val="F6F4EF"/>
          </a:solidFill>
          <a:ln/>
        </p:spPr>
      </p:sp>
      <p:sp>
        <p:nvSpPr>
          <p:cNvPr id="25" name="texto-341"/>
          <p:cNvSpPr txBox="1"/>
          <p:nvPr/>
        </p:nvSpPr>
        <p:spPr>
          <a:xfrm>
            <a:off x="804672" y="4800600"/>
            <a:ext cx="457200" cy="548640"/>
          </a:xfrm>
          <a:prstGeom prst="rect">
            <a:avLst/>
          </a:prstGeom>
          <a:noFill/>
          <a:ln/>
        </p:spPr>
        <p:txBody>
          <a:bodyPr wrap="square" lIns="0" tIns="0" rIns="0" bIns="0" rtlCol="0" anchor="t"/>
          <a:lstStyle/>
          <a:p>
            <a:pPr algn="l" indent="0" marL="0">
              <a:lnSpc>
                <a:spcPct val="110000"/>
              </a:lnSpc>
              <a:buNone/>
            </a:pPr>
            <a:r>
              <a:rPr lang="en-US" sz="2600" b="1" dirty="0">
                <a:solidFill>
                  <a:srgbClr val="A9501F"/>
                </a:solidFill>
                <a:latin typeface="Cambria" pitchFamily="34" charset="0"/>
                <a:ea typeface="Cambria" pitchFamily="34" charset="-122"/>
                <a:cs typeface="Cambria" pitchFamily="34" charset="-120"/>
              </a:rPr>
              <a:t>5</a:t>
            </a:r>
            <a:endParaRPr lang="en-US" sz="2600" dirty="0"/>
          </a:p>
        </p:txBody>
      </p:sp>
      <p:sp>
        <p:nvSpPr>
          <p:cNvPr id="26" name="texto-342"/>
          <p:cNvSpPr txBox="1"/>
          <p:nvPr/>
        </p:nvSpPr>
        <p:spPr>
          <a:xfrm>
            <a:off x="1325880" y="4818888"/>
            <a:ext cx="329184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Cultura y talento humano</a:t>
            </a:r>
            <a:endParaRPr lang="en-US" sz="1500" dirty="0"/>
          </a:p>
        </p:txBody>
      </p:sp>
      <p:sp>
        <p:nvSpPr>
          <p:cNvPr id="27" name="texto-343"/>
          <p:cNvSpPr txBox="1"/>
          <p:nvPr/>
        </p:nvSpPr>
        <p:spPr>
          <a:xfrm>
            <a:off x="4219956" y="4837176"/>
            <a:ext cx="1554480" cy="320040"/>
          </a:xfrm>
          <a:prstGeom prst="rect">
            <a:avLst/>
          </a:prstGeom>
          <a:noFill/>
          <a:ln/>
        </p:spPr>
        <p:txBody>
          <a:bodyPr wrap="square" lIns="0" tIns="0" rIns="0" bIns="0" rtlCol="0" anchor="t"/>
          <a:lstStyle/>
          <a:p>
            <a:pPr algn="r" indent="0" marL="0">
              <a:lnSpc>
                <a:spcPct val="110000"/>
              </a:lnSpc>
              <a:buNone/>
            </a:pPr>
            <a:r>
              <a:rPr lang="en-US" sz="1200" dirty="0">
                <a:solidFill>
                  <a:srgbClr val="23675F"/>
                </a:solidFill>
              </a:rPr>
              <a:t>IPS · EPS</a:t>
            </a:r>
            <a:endParaRPr lang="en-US" sz="1200" dirty="0"/>
          </a:p>
        </p:txBody>
      </p:sp>
      <p:sp>
        <p:nvSpPr>
          <p:cNvPr id="28" name="texto-344"/>
          <p:cNvSpPr txBox="1"/>
          <p:nvPr/>
        </p:nvSpPr>
        <p:spPr>
          <a:xfrm>
            <a:off x="1325880" y="5221224"/>
            <a:ext cx="4402836" cy="594360"/>
          </a:xfrm>
          <a:prstGeom prst="rect">
            <a:avLst/>
          </a:prstGeom>
          <a:noFill/>
          <a:ln/>
        </p:spPr>
        <p:txBody>
          <a:bodyPr wrap="square" lIns="0" tIns="0" rIns="0" bIns="0" rtlCol="0" anchor="t"/>
          <a:lstStyle/>
          <a:p>
            <a:pPr algn="l" indent="0" marL="0">
              <a:lnSpc>
                <a:spcPct val="110000"/>
              </a:lnSpc>
              <a:buNone/>
            </a:pPr>
            <a:r>
              <a:rPr lang="en-US" sz="1300" dirty="0">
                <a:solidFill>
                  <a:srgbClr val="3B4A50"/>
                </a:solidFill>
              </a:rPr>
              <a:t>PAMEC liderado por la alta dirección y formación continua en calidad.</a:t>
            </a:r>
            <a:endParaRPr lang="en-US" sz="1300" dirty="0"/>
          </a:p>
        </p:txBody>
      </p:sp>
      <p:sp>
        <p:nvSpPr>
          <p:cNvPr id="29" name="tarjeta-345"/>
          <p:cNvSpPr/>
          <p:nvPr/>
        </p:nvSpPr>
        <p:spPr>
          <a:xfrm>
            <a:off x="6185916" y="4617720"/>
            <a:ext cx="5454396" cy="1261872"/>
          </a:xfrm>
          <a:prstGeom prst="roundRect">
            <a:avLst>
              <a:gd name="adj" fmla="val 8696"/>
            </a:avLst>
          </a:prstGeom>
          <a:solidFill>
            <a:srgbClr val="12343B"/>
          </a:solidFill>
          <a:ln/>
        </p:spPr>
      </p:sp>
      <p:sp>
        <p:nvSpPr>
          <p:cNvPr id="30" name="texto-346"/>
          <p:cNvSpPr txBox="1"/>
          <p:nvPr/>
        </p:nvSpPr>
        <p:spPr>
          <a:xfrm>
            <a:off x="6441948" y="4800600"/>
            <a:ext cx="457200" cy="548640"/>
          </a:xfrm>
          <a:prstGeom prst="rect">
            <a:avLst/>
          </a:prstGeom>
          <a:noFill/>
          <a:ln/>
        </p:spPr>
        <p:txBody>
          <a:bodyPr wrap="square" lIns="0" tIns="0" rIns="0" bIns="0" rtlCol="0" anchor="t"/>
          <a:lstStyle/>
          <a:p>
            <a:pPr algn="l" indent="0" marL="0">
              <a:lnSpc>
                <a:spcPct val="110000"/>
              </a:lnSpc>
              <a:buNone/>
            </a:pPr>
            <a:r>
              <a:rPr lang="en-US" sz="2600" b="1" dirty="0">
                <a:solidFill>
                  <a:srgbClr val="F0A46C"/>
                </a:solidFill>
                <a:latin typeface="Cambria" pitchFamily="34" charset="0"/>
                <a:ea typeface="Cambria" pitchFamily="34" charset="-122"/>
                <a:cs typeface="Cambria" pitchFamily="34" charset="-120"/>
              </a:rPr>
              <a:t>6</a:t>
            </a:r>
            <a:endParaRPr lang="en-US" sz="2600" dirty="0"/>
          </a:p>
        </p:txBody>
      </p:sp>
      <p:sp>
        <p:nvSpPr>
          <p:cNvPr id="31" name="texto-347"/>
          <p:cNvSpPr txBox="1"/>
          <p:nvPr/>
        </p:nvSpPr>
        <p:spPr>
          <a:xfrm>
            <a:off x="6963156" y="4818888"/>
            <a:ext cx="3291840" cy="365760"/>
          </a:xfrm>
          <a:prstGeom prst="rect">
            <a:avLst/>
          </a:prstGeom>
          <a:noFill/>
          <a:ln/>
        </p:spPr>
        <p:txBody>
          <a:bodyPr wrap="square" lIns="0" tIns="0" rIns="0" bIns="0" rtlCol="0" anchor="t"/>
          <a:lstStyle/>
          <a:p>
            <a:pPr algn="l" indent="0" marL="0">
              <a:lnSpc>
                <a:spcPct val="110000"/>
              </a:lnSpc>
              <a:buNone/>
            </a:pPr>
            <a:r>
              <a:rPr lang="en-US" sz="1500" b="1" dirty="0">
                <a:solidFill>
                  <a:srgbClr val="F6F4EF"/>
                </a:solidFill>
              </a:rPr>
              <a:t>Usuarios que exigen</a:t>
            </a:r>
            <a:endParaRPr lang="en-US" sz="1500" dirty="0"/>
          </a:p>
        </p:txBody>
      </p:sp>
      <p:sp>
        <p:nvSpPr>
          <p:cNvPr id="32" name="texto-348"/>
          <p:cNvSpPr txBox="1"/>
          <p:nvPr/>
        </p:nvSpPr>
        <p:spPr>
          <a:xfrm>
            <a:off x="9857232" y="4837176"/>
            <a:ext cx="1554480" cy="320040"/>
          </a:xfrm>
          <a:prstGeom prst="rect">
            <a:avLst/>
          </a:prstGeom>
          <a:noFill/>
          <a:ln/>
        </p:spPr>
        <p:txBody>
          <a:bodyPr wrap="square" lIns="0" tIns="0" rIns="0" bIns="0" rtlCol="0" anchor="t"/>
          <a:lstStyle/>
          <a:p>
            <a:pPr algn="r" indent="0" marL="0">
              <a:lnSpc>
                <a:spcPct val="110000"/>
              </a:lnSpc>
              <a:buNone/>
            </a:pPr>
            <a:r>
              <a:rPr lang="en-US" sz="1200" dirty="0">
                <a:solidFill>
                  <a:srgbClr val="F0A46C"/>
                </a:solidFill>
              </a:rPr>
              <a:t>Usuarios</a:t>
            </a:r>
            <a:endParaRPr lang="en-US" sz="1200" dirty="0"/>
          </a:p>
        </p:txBody>
      </p:sp>
      <p:sp>
        <p:nvSpPr>
          <p:cNvPr id="33" name="texto-349"/>
          <p:cNvSpPr txBox="1"/>
          <p:nvPr/>
        </p:nvSpPr>
        <p:spPr>
          <a:xfrm>
            <a:off x="6963156" y="5221224"/>
            <a:ext cx="4402836" cy="594360"/>
          </a:xfrm>
          <a:prstGeom prst="rect">
            <a:avLst/>
          </a:prstGeom>
          <a:noFill/>
          <a:ln/>
        </p:spPr>
        <p:txBody>
          <a:bodyPr wrap="square" lIns="0" tIns="0" rIns="0" bIns="0" rtlCol="0" anchor="t"/>
          <a:lstStyle/>
          <a:p>
            <a:pPr algn="l" indent="0" marL="0">
              <a:lnSpc>
                <a:spcPct val="110000"/>
              </a:lnSpc>
              <a:buNone/>
            </a:pPr>
            <a:r>
              <a:rPr lang="en-US" sz="1300" dirty="0">
                <a:solidFill>
                  <a:srgbClr val="BFD6D1"/>
                </a:solidFill>
              </a:rPr>
              <a:t>Fortalecer asociaciones y PQRS como insumo obligatorio del PAMEC.</a:t>
            </a:r>
            <a:endParaRPr lang="en-US" sz="13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3"/>
                </a:solidFill>
              </a:rPr>
              <a:t>CIERRE</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rgbClr val="F6F4EF"/>
                </a:solidFill>
                <a:latin typeface="Cambria" pitchFamily="34" charset="0"/>
                <a:ea typeface="Cambria" pitchFamily="34" charset="-122"/>
                <a:cs typeface="Cambria" pitchFamily="34" charset="-120"/>
              </a:rPr>
              <a:t>Conclusiones y posición crítica</a:t>
            </a:r>
            <a:endParaRPr lang="en-US" sz="3200" dirty="0"/>
          </a:p>
        </p:txBody>
      </p:sp>
      <p:sp>
        <p:nvSpPr>
          <p:cNvPr id="4" name="texto-350"/>
          <p:cNvSpPr txBox="1"/>
          <p:nvPr/>
        </p:nvSpPr>
        <p:spPr>
          <a:xfrm>
            <a:off x="548640" y="1783080"/>
            <a:ext cx="411480" cy="457200"/>
          </a:xfrm>
          <a:prstGeom prst="rect">
            <a:avLst/>
          </a:prstGeom>
          <a:noFill/>
          <a:ln/>
        </p:spPr>
        <p:txBody>
          <a:bodyPr wrap="square" lIns="0" tIns="0" rIns="0" bIns="0" rtlCol="0" anchor="t"/>
          <a:lstStyle/>
          <a:p>
            <a:pPr algn="l" indent="0" marL="0">
              <a:lnSpc>
                <a:spcPct val="110000"/>
              </a:lnSpc>
              <a:buNone/>
            </a:pPr>
            <a:r>
              <a:rPr lang="en-US" sz="2000" b="1" dirty="0">
                <a:solidFill>
                  <a:srgbClr val="F0A46C"/>
                </a:solidFill>
                <a:latin typeface="Cambria" pitchFamily="34" charset="0"/>
                <a:ea typeface="Cambria" pitchFamily="34" charset="-122"/>
                <a:cs typeface="Cambria" pitchFamily="34" charset="-120"/>
              </a:rPr>
              <a:t>1</a:t>
            </a:r>
            <a:endParaRPr lang="en-US" sz="2000" dirty="0"/>
          </a:p>
        </p:txBody>
      </p:sp>
      <p:sp>
        <p:nvSpPr>
          <p:cNvPr id="5" name="texto-351"/>
          <p:cNvSpPr txBox="1"/>
          <p:nvPr/>
        </p:nvSpPr>
        <p:spPr>
          <a:xfrm>
            <a:off x="1051560" y="1819656"/>
            <a:ext cx="5669280" cy="914400"/>
          </a:xfrm>
          <a:prstGeom prst="rect">
            <a:avLst/>
          </a:prstGeom>
          <a:noFill/>
          <a:ln/>
        </p:spPr>
        <p:txBody>
          <a:bodyPr wrap="square" lIns="0" tIns="0" rIns="0" bIns="0" rtlCol="0" anchor="t"/>
          <a:lstStyle/>
          <a:p>
            <a:pPr algn="l" indent="0" marL="0">
              <a:lnSpc>
                <a:spcPct val="115000"/>
              </a:lnSpc>
              <a:buNone/>
            </a:pPr>
            <a:r>
              <a:rPr lang="en-US" sz="1500" dirty="0">
                <a:solidFill>
                  <a:srgbClr val="BFD6D1"/>
                </a:solidFill>
              </a:rPr>
              <a:t>El SOGC es un marco completo: va del mínimo obligatorio (habilitación) a la excelencia voluntaria (acreditación).</a:t>
            </a:r>
            <a:endParaRPr lang="en-US" sz="1500" dirty="0"/>
          </a:p>
        </p:txBody>
      </p:sp>
      <p:sp>
        <p:nvSpPr>
          <p:cNvPr id="6" name="texto-352"/>
          <p:cNvSpPr txBox="1"/>
          <p:nvPr/>
        </p:nvSpPr>
        <p:spPr>
          <a:xfrm>
            <a:off x="548640" y="2834640"/>
            <a:ext cx="411480" cy="457200"/>
          </a:xfrm>
          <a:prstGeom prst="rect">
            <a:avLst/>
          </a:prstGeom>
          <a:noFill/>
          <a:ln/>
        </p:spPr>
        <p:txBody>
          <a:bodyPr wrap="square" lIns="0" tIns="0" rIns="0" bIns="0" rtlCol="0" anchor="t"/>
          <a:lstStyle/>
          <a:p>
            <a:pPr algn="l" indent="0" marL="0">
              <a:lnSpc>
                <a:spcPct val="110000"/>
              </a:lnSpc>
              <a:buNone/>
            </a:pPr>
            <a:r>
              <a:rPr lang="en-US" sz="2000" b="1" dirty="0">
                <a:solidFill>
                  <a:srgbClr val="F0A46C"/>
                </a:solidFill>
                <a:latin typeface="Cambria" pitchFamily="34" charset="0"/>
                <a:ea typeface="Cambria" pitchFamily="34" charset="-122"/>
                <a:cs typeface="Cambria" pitchFamily="34" charset="-120"/>
              </a:rPr>
              <a:t>2</a:t>
            </a:r>
            <a:endParaRPr lang="en-US" sz="2000" dirty="0"/>
          </a:p>
        </p:txBody>
      </p:sp>
      <p:sp>
        <p:nvSpPr>
          <p:cNvPr id="7" name="texto-353"/>
          <p:cNvSpPr txBox="1"/>
          <p:nvPr/>
        </p:nvSpPr>
        <p:spPr>
          <a:xfrm>
            <a:off x="1051560" y="2871216"/>
            <a:ext cx="5669280" cy="914400"/>
          </a:xfrm>
          <a:prstGeom prst="rect">
            <a:avLst/>
          </a:prstGeom>
          <a:noFill/>
          <a:ln/>
        </p:spPr>
        <p:txBody>
          <a:bodyPr wrap="square" lIns="0" tIns="0" rIns="0" bIns="0" rtlCol="0" anchor="t"/>
          <a:lstStyle/>
          <a:p>
            <a:pPr algn="l" indent="0" marL="0">
              <a:lnSpc>
                <a:spcPct val="115000"/>
              </a:lnSpc>
              <a:buNone/>
            </a:pPr>
            <a:r>
              <a:rPr lang="en-US" sz="1500" dirty="0">
                <a:solidFill>
                  <a:srgbClr val="BFD6D1"/>
                </a:solidFill>
              </a:rPr>
              <a:t>Las brechas persisten porque la implementación es desigual, la financiación es frágil y la cultura de calidad sigue siendo formalista.</a:t>
            </a:r>
            <a:endParaRPr lang="en-US" sz="1500" dirty="0"/>
          </a:p>
        </p:txBody>
      </p:sp>
      <p:sp>
        <p:nvSpPr>
          <p:cNvPr id="8" name="texto-354"/>
          <p:cNvSpPr txBox="1"/>
          <p:nvPr/>
        </p:nvSpPr>
        <p:spPr>
          <a:xfrm>
            <a:off x="548640" y="3886200"/>
            <a:ext cx="411480" cy="457200"/>
          </a:xfrm>
          <a:prstGeom prst="rect">
            <a:avLst/>
          </a:prstGeom>
          <a:noFill/>
          <a:ln/>
        </p:spPr>
        <p:txBody>
          <a:bodyPr wrap="square" lIns="0" tIns="0" rIns="0" bIns="0" rtlCol="0" anchor="t"/>
          <a:lstStyle/>
          <a:p>
            <a:pPr algn="l" indent="0" marL="0">
              <a:lnSpc>
                <a:spcPct val="110000"/>
              </a:lnSpc>
              <a:buNone/>
            </a:pPr>
            <a:r>
              <a:rPr lang="en-US" sz="2000" b="1" dirty="0">
                <a:solidFill>
                  <a:srgbClr val="F0A46C"/>
                </a:solidFill>
                <a:latin typeface="Cambria" pitchFamily="34" charset="0"/>
                <a:ea typeface="Cambria" pitchFamily="34" charset="-122"/>
                <a:cs typeface="Cambria" pitchFamily="34" charset="-120"/>
              </a:rPr>
              <a:t>3</a:t>
            </a:r>
            <a:endParaRPr lang="en-US" sz="2000" dirty="0"/>
          </a:p>
        </p:txBody>
      </p:sp>
      <p:sp>
        <p:nvSpPr>
          <p:cNvPr id="9" name="texto-355"/>
          <p:cNvSpPr txBox="1"/>
          <p:nvPr/>
        </p:nvSpPr>
        <p:spPr>
          <a:xfrm>
            <a:off x="1051560" y="3922776"/>
            <a:ext cx="5669280" cy="914400"/>
          </a:xfrm>
          <a:prstGeom prst="rect">
            <a:avLst/>
          </a:prstGeom>
          <a:noFill/>
          <a:ln/>
        </p:spPr>
        <p:txBody>
          <a:bodyPr wrap="square" lIns="0" tIns="0" rIns="0" bIns="0" rtlCol="0" anchor="t"/>
          <a:lstStyle/>
          <a:p>
            <a:pPr algn="l" indent="0" marL="0">
              <a:lnSpc>
                <a:spcPct val="115000"/>
              </a:lnSpc>
              <a:buNone/>
            </a:pPr>
            <a:r>
              <a:rPr lang="en-US" sz="1500" dirty="0">
                <a:solidFill>
                  <a:srgbClr val="BFD6D1"/>
                </a:solidFill>
              </a:rPr>
              <a:t>Cada actor tiene un rol definido; cuando uno falla, como la vigilancia territorial o el flujo de recursos, se debilita toda la cadena.</a:t>
            </a:r>
            <a:endParaRPr lang="en-US" sz="1500" dirty="0"/>
          </a:p>
        </p:txBody>
      </p:sp>
      <p:sp>
        <p:nvSpPr>
          <p:cNvPr id="10" name="texto-356"/>
          <p:cNvSpPr txBox="1"/>
          <p:nvPr/>
        </p:nvSpPr>
        <p:spPr>
          <a:xfrm>
            <a:off x="548640" y="4937760"/>
            <a:ext cx="411480" cy="457200"/>
          </a:xfrm>
          <a:prstGeom prst="rect">
            <a:avLst/>
          </a:prstGeom>
          <a:noFill/>
          <a:ln/>
        </p:spPr>
        <p:txBody>
          <a:bodyPr wrap="square" lIns="0" tIns="0" rIns="0" bIns="0" rtlCol="0" anchor="t"/>
          <a:lstStyle/>
          <a:p>
            <a:pPr algn="l" indent="0" marL="0">
              <a:lnSpc>
                <a:spcPct val="110000"/>
              </a:lnSpc>
              <a:buNone/>
            </a:pPr>
            <a:r>
              <a:rPr lang="en-US" sz="2000" b="1" dirty="0">
                <a:solidFill>
                  <a:srgbClr val="F0A46C"/>
                </a:solidFill>
                <a:latin typeface="Cambria" pitchFamily="34" charset="0"/>
                <a:ea typeface="Cambria" pitchFamily="34" charset="-122"/>
                <a:cs typeface="Cambria" pitchFamily="34" charset="-120"/>
              </a:rPr>
              <a:t>4</a:t>
            </a:r>
            <a:endParaRPr lang="en-US" sz="2000" dirty="0"/>
          </a:p>
        </p:txBody>
      </p:sp>
      <p:sp>
        <p:nvSpPr>
          <p:cNvPr id="11" name="texto-357"/>
          <p:cNvSpPr txBox="1"/>
          <p:nvPr/>
        </p:nvSpPr>
        <p:spPr>
          <a:xfrm>
            <a:off x="1051560" y="4974336"/>
            <a:ext cx="5669280" cy="914400"/>
          </a:xfrm>
          <a:prstGeom prst="rect">
            <a:avLst/>
          </a:prstGeom>
          <a:noFill/>
          <a:ln/>
        </p:spPr>
        <p:txBody>
          <a:bodyPr wrap="square" lIns="0" tIns="0" rIns="0" bIns="0" rtlCol="0" anchor="t"/>
          <a:lstStyle/>
          <a:p>
            <a:pPr algn="l" indent="0" marL="0">
              <a:lnSpc>
                <a:spcPct val="115000"/>
              </a:lnSpc>
              <a:buNone/>
            </a:pPr>
            <a:r>
              <a:rPr lang="en-US" sz="1500" dirty="0">
                <a:solidFill>
                  <a:srgbClr val="BFD6D1"/>
                </a:solidFill>
              </a:rPr>
              <a:t>Colombia necesita cumplir y medir resultados reales en salud, más que expedir nuevas normas.</a:t>
            </a:r>
            <a:endParaRPr lang="en-US" sz="1500" dirty="0"/>
          </a:p>
        </p:txBody>
      </p:sp>
      <p:sp>
        <p:nvSpPr>
          <p:cNvPr id="12" name="tarjeta-358"/>
          <p:cNvSpPr/>
          <p:nvPr/>
        </p:nvSpPr>
        <p:spPr>
          <a:xfrm>
            <a:off x="7132320" y="1783080"/>
            <a:ext cx="4507992" cy="4114800"/>
          </a:xfrm>
          <a:prstGeom prst="roundRect">
            <a:avLst>
              <a:gd name="adj" fmla="val 4000"/>
            </a:avLst>
          </a:prstGeom>
          <a:solidFill>
            <a:srgbClr val="F0A46C"/>
          </a:solidFill>
          <a:ln/>
        </p:spPr>
      </p:sp>
      <p:pic>
        <p:nvPicPr>
          <p:cNvPr id="13" name="icono-359" descr="Lightbulb">    </p:cNvPr>
          <p:cNvPicPr>
            <a:picLocks noChangeAspect="1"/>
          </p:cNvPicPr>
          <p:nvPr/>
        </p:nvPicPr>
        <p:blipFill>
          <a:blip r:embed="rId1"/>
          <a:stretch>
            <a:fillRect/>
          </a:stretch>
        </p:blipFill>
        <p:spPr>
          <a:xfrm>
            <a:off x="7452360" y="2103120"/>
            <a:ext cx="457200" cy="457200"/>
          </a:xfrm>
          <a:prstGeom prst="rect">
            <a:avLst/>
          </a:prstGeom>
        </p:spPr>
      </p:pic>
      <p:sp>
        <p:nvSpPr>
          <p:cNvPr id="14" name="texto-360"/>
          <p:cNvSpPr txBox="1"/>
          <p:nvPr/>
        </p:nvSpPr>
        <p:spPr>
          <a:xfrm>
            <a:off x="7452360" y="2743200"/>
            <a:ext cx="3886200" cy="2926080"/>
          </a:xfrm>
          <a:prstGeom prst="rect">
            <a:avLst/>
          </a:prstGeom>
          <a:noFill/>
          <a:ln/>
        </p:spPr>
        <p:txBody>
          <a:bodyPr wrap="square" lIns="0" tIns="0" rIns="0" bIns="0" rtlCol="0" anchor="t"/>
          <a:lstStyle/>
          <a:p>
            <a:pPr algn="l" indent="0" marL="0">
              <a:lnSpc>
                <a:spcPct val="115000"/>
              </a:lnSpc>
              <a:buNone/>
            </a:pPr>
            <a:r>
              <a:rPr lang="en-US" sz="1900" i="1" dirty="0">
                <a:solidFill>
                  <a:srgbClr val="12343B"/>
                </a:solidFill>
                <a:latin typeface="Cambria" pitchFamily="34" charset="0"/>
                <a:ea typeface="Cambria" pitchFamily="34" charset="-122"/>
                <a:cs typeface="Cambria" pitchFamily="34" charset="-120"/>
              </a:rPr>
              <a:t>La norma es el punto de partida. La realidad cambia cuando cada actor asume la calidad como una responsabilidad propia, y no como un requisito para la próxima visita de verificación.</a:t>
            </a:r>
            <a:endParaRPr lang="en-US" sz="19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FB3A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BIBLIOGRAFÍA · NORMAS APA 7.ª EDICIÓN</a:t>
            </a:r>
            <a:endParaRPr lang="en-US" sz="1200" dirty="0"/>
          </a:p>
        </p:txBody>
      </p:sp>
      <p:sp>
        <p:nvSpPr>
          <p:cNvPr id="3" name="Text 0"/>
          <p:cNvSpPr/>
          <p:nvPr>
            <p:ph idx="101" type="title" hasCustomPrompt="1"/>
          </p:nvPr>
        </p:nvSpPr>
        <p:spPr>
          <a:xfrm>
            <a:off x="548640" y="777240"/>
            <a:ext cx="11091672" cy="6858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Referencias</a:t>
            </a:r>
            <a:endParaRPr lang="en-US" sz="3200" dirty="0"/>
          </a:p>
        </p:txBody>
      </p:sp>
      <p:sp>
        <p:nvSpPr>
          <p:cNvPr id="4" name="referencias-361"/>
          <p:cNvSpPr txBox="1"/>
          <p:nvPr/>
        </p:nvSpPr>
        <p:spPr>
          <a:xfrm>
            <a:off x="548640" y="1783080"/>
            <a:ext cx="5394960" cy="4343400"/>
          </a:xfrm>
          <a:prstGeom prst="rect">
            <a:avLst/>
          </a:prstGeom>
          <a:noFill/>
          <a:ln/>
        </p:spPr>
        <p:txBody>
          <a:bodyPr wrap="square" lIns="0" tIns="0" rIns="0" bIns="0" rtlCol="0" anchor="t"/>
          <a:lstStyle/>
          <a:p>
            <a:pPr indent="0" marL="0">
              <a:lnSpc>
                <a:spcPct val="110000"/>
              </a:lnSpc>
              <a:spcAft>
                <a:spcPts val="900"/>
              </a:spcAft>
              <a:buNone/>
            </a:pPr>
            <a:r>
              <a:rPr lang="en-US" sz="1200" dirty="0">
                <a:solidFill>
                  <a:schemeClr val="tx2"/>
                </a:solidFill>
              </a:rPr>
              <a:t>Clavijo Cáceres, D., y Yáñez Ibarra, J. D. (2024). El concepto de la integración del migrante en el estado social de derecho. </a:t>
            </a:r>
            <a:pPr indent="0" marL="0">
              <a:lnSpc>
                <a:spcPct val="110000"/>
              </a:lnSpc>
              <a:spcAft>
                <a:spcPts val="900"/>
              </a:spcAft>
              <a:buNone/>
            </a:pPr>
            <a:r>
              <a:rPr lang="en-US" sz="1200" i="1" dirty="0">
                <a:solidFill>
                  <a:schemeClr val="tx2"/>
                </a:solidFill>
              </a:rPr>
              <a:t>Pensamiento Jurídico</a:t>
            </a:r>
            <a:pPr indent="0" marL="0">
              <a:lnSpc>
                <a:spcPct val="110000"/>
              </a:lnSpc>
              <a:spcAft>
                <a:spcPts val="900"/>
              </a:spcAft>
              <a:buNone/>
            </a:pPr>
            <a:r>
              <a:rPr lang="en-US" sz="1200" dirty="0">
                <a:solidFill>
                  <a:schemeClr val="tx2"/>
                </a:solidFill>
              </a:rPr>
              <a:t>, (59), 15–28.</a:t>
            </a:r>
            <a:endParaRPr lang="en-US" sz="1200" dirty="0"/>
          </a:p>
          <a:p>
            <a:pPr indent="0" marL="0">
              <a:lnSpc>
                <a:spcPct val="110000"/>
              </a:lnSpc>
              <a:spcAft>
                <a:spcPts val="900"/>
              </a:spcAft>
              <a:buNone/>
            </a:pPr>
            <a:r>
              <a:rPr lang="en-US" sz="1200" dirty="0">
                <a:solidFill>
                  <a:schemeClr val="tx2"/>
                </a:solidFill>
              </a:rPr>
              <a:t>Congreso de la República de Colombia. (1993, 23 de diciembre). </a:t>
            </a:r>
            <a:pPr indent="0" marL="0">
              <a:lnSpc>
                <a:spcPct val="110000"/>
              </a:lnSpc>
              <a:spcAft>
                <a:spcPts val="900"/>
              </a:spcAft>
              <a:buNone/>
            </a:pPr>
            <a:r>
              <a:rPr lang="en-US" sz="1200" i="1" dirty="0">
                <a:solidFill>
                  <a:schemeClr val="tx2"/>
                </a:solidFill>
              </a:rPr>
              <a:t>Ley 100 de 1993: por la cual se crea el sistema de seguridad social integral y se dictan otras disposiciones</a:t>
            </a:r>
            <a:pPr indent="0" marL="0">
              <a:lnSpc>
                <a:spcPct val="110000"/>
              </a:lnSpc>
              <a:spcAft>
                <a:spcPts val="900"/>
              </a:spcAft>
              <a:buNone/>
            </a:pPr>
            <a:r>
              <a:rPr lang="en-US" sz="1200" dirty="0">
                <a:solidFill>
                  <a:schemeClr val="tx2"/>
                </a:solidFill>
              </a:rPr>
              <a:t>.</a:t>
            </a:r>
            <a:endParaRPr lang="en-US" sz="1200" dirty="0"/>
          </a:p>
          <a:p>
            <a:pPr indent="0" marL="0">
              <a:lnSpc>
                <a:spcPct val="110000"/>
              </a:lnSpc>
              <a:spcAft>
                <a:spcPts val="900"/>
              </a:spcAft>
              <a:buNone/>
            </a:pPr>
            <a:r>
              <a:rPr lang="en-US" sz="1200" dirty="0">
                <a:solidFill>
                  <a:schemeClr val="tx2"/>
                </a:solidFill>
              </a:rPr>
              <a:t>Congreso de la República de Colombia. (2015, 16 de febrero). </a:t>
            </a:r>
            <a:pPr indent="0" marL="0">
              <a:lnSpc>
                <a:spcPct val="110000"/>
              </a:lnSpc>
              <a:spcAft>
                <a:spcPts val="900"/>
              </a:spcAft>
              <a:buNone/>
            </a:pPr>
            <a:r>
              <a:rPr lang="en-US" sz="1200" i="1" dirty="0">
                <a:solidFill>
                  <a:schemeClr val="tx2"/>
                </a:solidFill>
              </a:rPr>
              <a:t>Ley Estatutaria 1751 de 2015: por medio de la cual se regula el derecho fundamental a la salud</a:t>
            </a:r>
            <a:pPr indent="0" marL="0">
              <a:lnSpc>
                <a:spcPct val="110000"/>
              </a:lnSpc>
              <a:spcAft>
                <a:spcPts val="900"/>
              </a:spcAft>
              <a:buNone/>
            </a:pPr>
            <a:r>
              <a:rPr lang="en-US" sz="1200" dirty="0">
                <a:solidFill>
                  <a:schemeClr val="tx2"/>
                </a:solidFill>
              </a:rPr>
              <a:t>.</a:t>
            </a:r>
            <a:endParaRPr lang="en-US" sz="1200" dirty="0"/>
          </a:p>
          <a:p>
            <a:pPr indent="0" marL="0">
              <a:lnSpc>
                <a:spcPct val="110000"/>
              </a:lnSpc>
              <a:spcAft>
                <a:spcPts val="900"/>
              </a:spcAft>
              <a:buNone/>
            </a:pPr>
            <a:r>
              <a:rPr lang="en-US" sz="1200" dirty="0">
                <a:solidFill>
                  <a:schemeClr val="tx2"/>
                </a:solidFill>
              </a:rPr>
              <a:t>Ministerio de la Protección Social. (2006, 3 de abril). </a:t>
            </a:r>
            <a:pPr indent="0" marL="0">
              <a:lnSpc>
                <a:spcPct val="110000"/>
              </a:lnSpc>
              <a:spcAft>
                <a:spcPts val="900"/>
              </a:spcAft>
              <a:buNone/>
            </a:pPr>
            <a:r>
              <a:rPr lang="en-US" sz="1200" i="1" dirty="0">
                <a:solidFill>
                  <a:schemeClr val="tx2"/>
                </a:solidFill>
              </a:rPr>
              <a:t>Decreto 1011 de 2006: por el cual se establece el Sistema Obligatorio de Garantía de Calidad de la Atención de Salud del SGSSS</a:t>
            </a:r>
            <a:pPr indent="0" marL="0">
              <a:lnSpc>
                <a:spcPct val="110000"/>
              </a:lnSpc>
              <a:spcAft>
                <a:spcPts val="900"/>
              </a:spcAft>
              <a:buNone/>
            </a:pPr>
            <a:r>
              <a:rPr lang="en-US" sz="1200" dirty="0">
                <a:solidFill>
                  <a:schemeClr val="tx2"/>
                </a:solidFill>
              </a:rPr>
              <a:t>.</a:t>
            </a:r>
            <a:endParaRPr lang="en-US" sz="1200" dirty="0"/>
          </a:p>
          <a:p>
            <a:pPr indent="0" marL="0">
              <a:lnSpc>
                <a:spcPct val="110000"/>
              </a:lnSpc>
              <a:spcAft>
                <a:spcPts val="900"/>
              </a:spcAft>
              <a:buNone/>
            </a:pPr>
            <a:r>
              <a:rPr lang="en-US" sz="1200" dirty="0">
                <a:solidFill>
                  <a:schemeClr val="tx2"/>
                </a:solidFill>
              </a:rPr>
              <a:t>Ministerio de Salud y Protección Social. (2016). </a:t>
            </a:r>
            <a:pPr indent="0" marL="0">
              <a:lnSpc>
                <a:spcPct val="110000"/>
              </a:lnSpc>
              <a:spcAft>
                <a:spcPts val="900"/>
              </a:spcAft>
              <a:buNone/>
            </a:pPr>
            <a:r>
              <a:rPr lang="en-US" sz="1200" i="1" dirty="0">
                <a:solidFill>
                  <a:schemeClr val="tx2"/>
                </a:solidFill>
              </a:rPr>
              <a:t>Decreto 780 de 2016: Decreto Único Reglamentario del Sector Salud y Protección Social</a:t>
            </a:r>
            <a:pPr indent="0" marL="0">
              <a:lnSpc>
                <a:spcPct val="110000"/>
              </a:lnSpc>
              <a:spcAft>
                <a:spcPts val="900"/>
              </a:spcAft>
              <a:buNone/>
            </a:pPr>
            <a:r>
              <a:rPr lang="en-US" sz="1200" dirty="0">
                <a:solidFill>
                  <a:schemeClr val="tx2"/>
                </a:solidFill>
              </a:rPr>
              <a:t>.</a:t>
            </a:r>
            <a:endParaRPr lang="en-US" sz="1200" dirty="0"/>
          </a:p>
        </p:txBody>
      </p:sp>
      <p:sp>
        <p:nvSpPr>
          <p:cNvPr id="5" name="referencias-362"/>
          <p:cNvSpPr txBox="1"/>
          <p:nvPr/>
        </p:nvSpPr>
        <p:spPr>
          <a:xfrm>
            <a:off x="6245352" y="1783080"/>
            <a:ext cx="5394960" cy="4343400"/>
          </a:xfrm>
          <a:prstGeom prst="rect">
            <a:avLst/>
          </a:prstGeom>
          <a:noFill/>
          <a:ln/>
        </p:spPr>
        <p:txBody>
          <a:bodyPr wrap="square" lIns="0" tIns="0" rIns="0" bIns="0" rtlCol="0" anchor="t"/>
          <a:lstStyle/>
          <a:p>
            <a:pPr indent="0" marL="0">
              <a:lnSpc>
                <a:spcPct val="110000"/>
              </a:lnSpc>
              <a:spcAft>
                <a:spcPts val="900"/>
              </a:spcAft>
              <a:buNone/>
            </a:pPr>
            <a:r>
              <a:rPr lang="en-US" sz="1200" dirty="0">
                <a:solidFill>
                  <a:schemeClr val="tx2"/>
                </a:solidFill>
              </a:rPr>
              <a:t>Ministerio de Salud y Protección Social. (2016). </a:t>
            </a:r>
            <a:pPr indent="0" marL="0">
              <a:lnSpc>
                <a:spcPct val="110000"/>
              </a:lnSpc>
              <a:spcAft>
                <a:spcPts val="900"/>
              </a:spcAft>
              <a:buNone/>
            </a:pPr>
            <a:r>
              <a:rPr lang="en-US" sz="1200" i="1" dirty="0">
                <a:solidFill>
                  <a:schemeClr val="tx2"/>
                </a:solidFill>
              </a:rPr>
              <a:t>Resolución 256 de 2016: disposiciones sobre el Sistema de Información para la Calidad e indicadores para el monitoreo de la calidad en salud</a:t>
            </a:r>
            <a:pPr indent="0" marL="0">
              <a:lnSpc>
                <a:spcPct val="110000"/>
              </a:lnSpc>
              <a:spcAft>
                <a:spcPts val="900"/>
              </a:spcAft>
              <a:buNone/>
            </a:pPr>
            <a:r>
              <a:rPr lang="en-US" sz="1200" dirty="0">
                <a:solidFill>
                  <a:schemeClr val="tx2"/>
                </a:solidFill>
              </a:rPr>
              <a:t>.</a:t>
            </a:r>
            <a:endParaRPr lang="en-US" sz="1200" dirty="0"/>
          </a:p>
          <a:p>
            <a:pPr indent="0" marL="0">
              <a:lnSpc>
                <a:spcPct val="110000"/>
              </a:lnSpc>
              <a:spcAft>
                <a:spcPts val="900"/>
              </a:spcAft>
              <a:buNone/>
            </a:pPr>
            <a:r>
              <a:rPr lang="en-US" sz="1200" dirty="0">
                <a:solidFill>
                  <a:schemeClr val="tx2"/>
                </a:solidFill>
              </a:rPr>
              <a:t>Ministerio de Salud y Protección Social. (2018). </a:t>
            </a:r>
            <a:pPr indent="0" marL="0">
              <a:lnSpc>
                <a:spcPct val="110000"/>
              </a:lnSpc>
              <a:spcAft>
                <a:spcPts val="900"/>
              </a:spcAft>
              <a:buNone/>
            </a:pPr>
            <a:r>
              <a:rPr lang="en-US" sz="1200" i="1" dirty="0">
                <a:solidFill>
                  <a:schemeClr val="tx2"/>
                </a:solidFill>
              </a:rPr>
              <a:t>Resolución 5095 de 2018: Manual de Acreditación en Salud Ambulatorio y Hospitalario de Colombia, versión 3.1</a:t>
            </a:r>
            <a:pPr indent="0" marL="0">
              <a:lnSpc>
                <a:spcPct val="110000"/>
              </a:lnSpc>
              <a:spcAft>
                <a:spcPts val="900"/>
              </a:spcAft>
              <a:buNone/>
            </a:pPr>
            <a:r>
              <a:rPr lang="en-US" sz="1200" dirty="0">
                <a:solidFill>
                  <a:schemeClr val="tx2"/>
                </a:solidFill>
              </a:rPr>
              <a:t>.</a:t>
            </a:r>
            <a:endParaRPr lang="en-US" sz="1200" dirty="0"/>
          </a:p>
          <a:p>
            <a:pPr indent="0" marL="0">
              <a:lnSpc>
                <a:spcPct val="110000"/>
              </a:lnSpc>
              <a:spcAft>
                <a:spcPts val="900"/>
              </a:spcAft>
              <a:buNone/>
            </a:pPr>
            <a:r>
              <a:rPr lang="en-US" sz="1200" dirty="0">
                <a:solidFill>
                  <a:schemeClr val="tx2"/>
                </a:solidFill>
              </a:rPr>
              <a:t>Ministerio de Salud y Protección Social. (2019, 25 de noviembre). </a:t>
            </a:r>
            <a:pPr indent="0" marL="0">
              <a:lnSpc>
                <a:spcPct val="110000"/>
              </a:lnSpc>
              <a:spcAft>
                <a:spcPts val="900"/>
              </a:spcAft>
              <a:buNone/>
            </a:pPr>
            <a:r>
              <a:rPr lang="en-US" sz="1200" i="1" dirty="0">
                <a:solidFill>
                  <a:schemeClr val="tx2"/>
                </a:solidFill>
              </a:rPr>
              <a:t>Resolución 3100 de 2019: Manual de inscripción de prestadores y habilitación de servicios de salud</a:t>
            </a:r>
            <a:pPr indent="0" marL="0">
              <a:lnSpc>
                <a:spcPct val="110000"/>
              </a:lnSpc>
              <a:spcAft>
                <a:spcPts val="900"/>
              </a:spcAft>
              <a:buNone/>
            </a:pPr>
            <a:r>
              <a:rPr lang="en-US" sz="1200" dirty="0">
                <a:solidFill>
                  <a:schemeClr val="tx2"/>
                </a:solidFill>
              </a:rPr>
              <a:t> (pp. 70–100).</a:t>
            </a:r>
            <a:endParaRPr lang="en-US" sz="1200" dirty="0"/>
          </a:p>
          <a:p>
            <a:pPr indent="0" marL="0">
              <a:lnSpc>
                <a:spcPct val="110000"/>
              </a:lnSpc>
              <a:spcAft>
                <a:spcPts val="900"/>
              </a:spcAft>
              <a:buNone/>
            </a:pPr>
            <a:r>
              <a:rPr lang="en-US" sz="1200" dirty="0">
                <a:solidFill>
                  <a:schemeClr val="tx2"/>
                </a:solidFill>
              </a:rPr>
              <a:t>Tangarife-Castaño, V. J., y Montoya-Delgado, A. M. (2023). Sistema Obligatorio de Garantía de Calidad en Salud: aplicación al laboratorio clínico. </a:t>
            </a:r>
            <a:pPr indent="0" marL="0">
              <a:lnSpc>
                <a:spcPct val="110000"/>
              </a:lnSpc>
              <a:spcAft>
                <a:spcPts val="900"/>
              </a:spcAft>
              <a:buNone/>
            </a:pPr>
            <a:r>
              <a:rPr lang="en-US" sz="1200" i="1" dirty="0">
                <a:solidFill>
                  <a:schemeClr val="tx2"/>
                </a:solidFill>
              </a:rPr>
              <a:t>Medicina &amp; Laboratorio, 27</a:t>
            </a:r>
            <a:pPr indent="0" marL="0">
              <a:lnSpc>
                <a:spcPct val="110000"/>
              </a:lnSpc>
              <a:spcAft>
                <a:spcPts val="900"/>
              </a:spcAft>
              <a:buNone/>
            </a:pPr>
            <a:r>
              <a:rPr lang="en-US" sz="1200" dirty="0">
                <a:solidFill>
                  <a:schemeClr val="tx2"/>
                </a:solidFill>
              </a:rPr>
              <a:t>(2), 1–17.</a:t>
            </a:r>
            <a:endParaRPr lang="en-US" sz="1200" dirty="0"/>
          </a:p>
        </p:txBody>
      </p:sp>
      <p:sp>
        <p:nvSpPr>
          <p:cNvPr id="25" name="Slide Number Placeholder 0"/>
          <p:cNvSpPr>
            <a:spLocks noGrp="1"/>
          </p:cNvSpPr>
          <p:nvPr>
            <p:ph type="sldNum" sz="quarter" idx="4294967295"/>
          </p:nvPr>
        </p:nvSpPr>
        <p:spPr>
          <a:xfrm>
            <a:off x="10908792" y="632764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B70"/>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SOGC Calidad">
  <a:themeElements>
    <a:clrScheme name="SOGC Calidad">
      <a:dk1>
        <a:srgbClr val="12343B"/>
      </a:dk1>
      <a:lt1>
        <a:srgbClr val="FFFFFF"/>
      </a:lt1>
      <a:dk2>
        <a:srgbClr val="3B4A50"/>
      </a:dk2>
      <a:lt2>
        <a:srgbClr val="F6F4EF"/>
      </a:lt2>
      <a:accent1>
        <a:srgbClr val="A9501F"/>
      </a:accent1>
      <a:accent2>
        <a:srgbClr val="23675F"/>
      </a:accent2>
      <a:accent3>
        <a:srgbClr val="F0A46C"/>
      </a:accent3>
      <a:accent4>
        <a:srgbClr val="1D4850"/>
      </a:accent4>
      <a:accent5>
        <a:srgbClr val="BFD6D1"/>
      </a:accent5>
      <a:accent6>
        <a:srgbClr val="5A6B70"/>
      </a:accent6>
      <a:hlink>
        <a:srgbClr val="23675F"/>
      </a:hlink>
      <a:folHlink>
        <a:srgbClr val="5A6B70"/>
      </a:folHlink>
    </a:clrScheme>
    <a:fontScheme name="SOGC Calida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Calidad en salud: ¿norma o realidad?</dc:title>
  <dc:subject>Sistema Obligatorio de Garantía de la Calidad en Salud (SOGC)</dc:subject>
  <dc:creator>Yina Vanessa Cadena Mantilla</dc:creator>
  <cp:lastModifiedBy>Yina Vanessa Cadena Mantilla</cp:lastModifiedBy>
  <cp:revision>1</cp:revision>
  <dcterms:created xsi:type="dcterms:W3CDTF">2026-10-02T22:24:19Z</dcterms:created>
  <dcterms:modified xsi:type="dcterms:W3CDTF">2026-10-02T22:24:19Z</dcterms:modified>
</cp:coreProperties>
</file>