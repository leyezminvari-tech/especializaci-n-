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6fe6dca3-bee7-70e6-f99d-2de8620839e7}">
          <p14:sldIdLst>
            <p14:sldId id="256"/>
          </p14:sldIdLst>
        </p14:section>
        <p14:section name="Presentación" id="{07f5f0ac-21b2-ad86-848c-a0f317b0da7b}">
          <p14:sldIdLst>
            <p14:sldId id="257"/>
          </p14:sldIdLst>
        </p14:section>
        <p14:section name="Guía, protocolo y algoritmo" id="{1b1a0571-e78b-d667-2795-2e65d3d6c237}">
          <p14:sldIdLst>
            <p14:sldId id="258"/>
          </p14:sldIdLst>
        </p14:section>
        <p14:section name="¿Cómo se construye una guía?" id="{d4fba50a-5b7f-1d3b-4de8-a85fab8d5534}">
          <p14:sldIdLst>
            <p14:sldId id="259"/>
          </p14:sldIdLst>
        </p14:section>
        <p14:section name="Contexto: dengue en Santander" id="{b4d02bb1-cfcc-d325-017c-7276e18265d4}">
          <p14:sldIdLst>
            <p14:sldId id="260"/>
          </p14:sldIdLst>
        </p14:section>
        <p14:section name="El caso" id="{79a97372-76eb-7e9a-fc59-bcea8c76b65e}">
          <p14:sldIdLst>
            <p14:sldId id="261"/>
          </p14:sldIdLst>
        </p14:section>
        <p14:section name="Lo que dice la guía: clasificación" id="{9f65f995-8029-1928-0491-0e14334cdeb4}">
          <p14:sldIdLst>
            <p14:sldId id="262"/>
          </p14:sldIdLst>
        </p14:section>
        <p14:section name="Signos de alarma y fase crítica" id="{b7754503-da98-7ed5-9e9c-45f82e8c1ca2}">
          <p14:sldIdLst>
            <p14:sldId id="263"/>
          </p14:sldIdLst>
        </p14:section>
        <p14:section name="La guía frente al caso" id="{1bf48028-cf86-c444-f830-7ca325d7d7fe}">
          <p14:sldIdLst>
            <p14:sldId id="264"/>
          </p14:sldIdLst>
        </p14:section>
        <p14:section name="Marco normativo general" id="{9fad0ae8-dcfe-09a2-4492-c9e56c307b9f}">
          <p14:sldIdLst>
            <p14:sldId id="265"/>
          </p14:sldIdLst>
        </p14:section>
        <p14:section name="Cursos de vida: gestación e infancia" id="{bcf20b5c-c367-0341-14a7-e0521bb24d5d}">
          <p14:sldIdLst>
            <p14:sldId id="266"/>
          </p14:sldIdLst>
        </p14:section>
        <p14:section name="Cursos de vida: adolescencia a vejez" id="{329541ab-e016-c43c-096e-95c490987472}">
          <p14:sldIdLst>
            <p14:sldId id="267"/>
          </p14:sldIdLst>
        </p14:section>
        <p14:section name="Marco legal del daño médico" id="{d01023c3-c880-6f05-cfe9-cc9783b3b161}">
          <p14:sldIdLst>
            <p14:sldId id="268"/>
          </p14:sldIdLst>
        </p14:section>
        <p14:section name="La guía como prueba" id="{d5d033f4-12f7-a368-0e4e-f24900c3c707}">
          <p14:sldIdLst>
            <p14:sldId id="269"/>
          </p14:sldIdLst>
        </p14:section>
        <p14:section name="Consecuencias reales" id="{fbba7c73-3e7d-4e59-c00e-8fa863ec5357}">
          <p14:sldIdLst>
            <p14:sldId id="270"/>
          </p14:sldIdLst>
        </p14:section>
        <p14:section name="Consecuencias de no adherirse" id="{f2977bdd-0106-70c6-8af7-7b918c9bda8f}">
          <p14:sldIdLst>
            <p14:sldId id="271"/>
          </p14:sldIdLst>
        </p14:section>
        <p14:section name="Barreras para cumplir la guía" id="{bce40e2a-c906-76fb-0043-384c7f069de6}">
          <p14:sldIdLst>
            <p14:sldId id="272"/>
          </p14:sldIdLst>
        </p14:section>
        <p14:section name="Acciones de mejora" id="{000bde91-05d6-22e4-a11f-a7b5377fb20a}">
          <p14:sldIdLst>
            <p14:sldId id="273"/>
          </p14:sldIdLst>
        </p14:section>
        <p14:section name="Indicadores de seguimiento" id="{f94b8435-bf41-4377-79e8-dcd67cbce378}">
          <p14:sldIdLst>
            <p14:sldId id="274"/>
          </p14:sldIdLst>
        </p14:section>
        <p14:section name="Mi postura" id="{52059ca1-48cc-a8e6-242d-aa613b737a4c}">
          <p14:sldIdLst>
            <p14:sldId id="275"/>
          </p14:sldIdLst>
        </p14:section>
        <p14:section name="Importancia según el marco legal" id="{7a23378e-0bf1-bb1c-69cc-c11ae68cc043}">
          <p14:sldIdLst>
            <p14:sldId id="276"/>
          </p14:sldIdLst>
        </p14:section>
        <p14:section name="Cierre" id="{dc31733f-7a8c-f056-645a-865b63d389a5}">
          <p14:sldIdLst>
            <p14:sldId id="277"/>
          </p14:sldIdLst>
        </p14:section>
        <p14:section name="Referencias" id="{51beb5a0-2879-ca5e-d4ed-f3b6302ef5f1}">
          <p14:sldIdLst>
            <p14:sldId id="278"/>
          </p14:sldIdLst>
        </p14:section>
        <p14:section name="Créditos" id="{49d08d9d-d3f0-c0e7-5ed2-057e6b78d4f7}">
          <p14:sldIdLst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Escena 1. Portada (6 s)
Música: Apertura (piano y cuerdas)
VOZ EN OFF:
(Sin voz. Solo música.)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Escena 2. Presentación (18 s)
Música: Suave
Video de stock en Clipchamp: hospital corridor
VOZ EN OFF:
Hola, soy Yina Vanessa Cadena Mantilla, de la Especialización en Gerencia y Auditoría de la Calidad en Salud de UNIMINUTO. A partir de un caso real de Santander, analizo por qué seguir las guías y los protocolos puede salvar una vida.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Escena 3. Guía, protocolo y algoritmo (18 s)
Música: Suave
VOZ EN OFF:
Primero, tres conceptos. La guía de práctica clínica reúne recomendaciones basadas en evidencia; el protocolo las adapta a cada institución, y el algoritmo resume las decisiones paso a paso. Ninguno reemplaza el juicio clínico; todos lo orientan.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Escena 4. ¿Cómo se construye una guía? (16 s)
Música: Suave
VOZ EN OFF:
Una guía no se escribe por opinión: según Torres-Tamayo y colaboradores, parte de preguntas clínicas, busca y califica la evidencia, formula recomendaciones y se actualiza periódicamente.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Escena 5. Contexto: dengue en Santander (18 s)
Música: Tensión suave
Video de stock en Clipchamp: mosquito
VOZ EN OFF:
El caso ocurrió en Santander, el departamento con más casos de dengue del país en 2025: más de nueve mil. En plena epidemia, la guía de dengue era la herramienta clave para decidir quién podía irse a casa y quién 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Escena 6. El caso (22 s)
Música: Tensión suave
VOZ EN OFF:
En octubre de 2025, una niña de diez años de Floridablanca empezó con fiebre alta. Según su familia, en el primer centro le aplicaron suero y la enviaron a casa porque sus plaquetas estaban bien. Un día después regresó con dengue grave, fue intubada y murió el 1 de noviembre.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Escena 7. Lo que dice la guía: clasificación (25 s)
Música: Suave
VOZ EN OFF:
¿Qué dice la guía? Todo paciente con dengue se clasifica en tres grupos. El grupo A puede manejarse en casa, pero con control médico diario. El grupo B, con signos de alarma o condiciones de riesgo, debe hospitalizarse. Y el grupo C, con dengue grave, necesita cuidado intensivo.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Escena 8. Signos de alarma y fase crítica (22 s)
Música: Suave
VOZ EN OFF:
La guía advierte que el momento más peligroso llega cuando la fiebre baja, entre el tercer y el séptimo día. Por eso, quien se va a casa debe recibir por escrito los signos de alarma, como dolor abdominal intenso, vómito o sangrados, y volver de inmediato si aparecen.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Escena 9. La guía frente al caso (25 s)
Música: Suave
VOZ EN OFF:
Si el relato de la familia se confirma, la decisión se basó en las plaquetas, un dato que por sí solo no descarta el riesgo. Cumplir la guía cambia el desenlace: con clasificación y tratamiento oportunos, la mortalidad del dengue grave baja a menos del 1 %. Solo la investigación dirá si hubo una falla.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Escena 10. Marco normativo general (25 s)
Música: Suave
VOZ EN OFF:
En Colombia, seguir las guías no es opcional. La Ley 1751 de 2015 garantiza la autonomía médica, pero dentro de la ética y la evidencia científica. La Ley 1438 de 2011 define las guías como referentes basados en evidencia, y la Resolución 3100 de 2019 exige adoptarlas para habilitar los servicios.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Escena 11. Cursos de vida: gestación e infancia (25 s)
Música: Suave
VOZ EN OFF:
Las guías también se organizan por cursos de vida. En la gestación, la Ruta Materno Perinatal incluye el código rojo: ante una hemorragia posparto, el equipo actúa en minutos. En la infancia, la ruta define la valoración integral, la Resolución 2350 orienta la desnutrición aguda y la guía de dengue decide, como en este caso, quién se hospitaliza.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Escena 12. Cursos de vida: adolescencia a vejez (25 s)
Música: Suave
VOZ EN OFF:
En la adolescencia, la Resolución 459 de 2012 obliga a atender a una víctima de violencia sexual como una urgencia, con profilaxis en las primeras 72 horas. En la adultez, las guías de hipertensión y diabetes fijan metas de control. Y en la vejez, la ruta y el Decreto 681 de 2022 priorizan la prevención de caídas.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Escena 13. Marco legal del daño médico (25 s)
Música: Tensión suave
VOZ EN OFF:
Cuando no se sigue una guía y se causa un daño, la responsabilidad puede ser de cuatro tipos: civil, que obliga a reparar los perjuicios; penal, por homicidio o lesiones culposas; ético-disciplinaria, ante los tribunales de ética; y administrativa, cuando responde una institución pública, además de las sanciones de la Supersalud.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Escena 14. La guía como prueba (18 s)
Música: Tensión suave
VOZ EN OFF:
Para que haya responsabilidad deben probarse el daño, la falla y la relación entre ambos. La obligación es de medios, no de resultados: el juez compara la atención con la lex artis, y la guía y la historia clínica son la prueba.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Escena 15. Consecuencias reales (25 s)
Música: Tensión suave
VOZ EN OFF:
Estas consecuencias son reales. En Barrancabermeja, en 2026, un médico fue condenado en primera instancia a cuatro años de prisión por homicidio culposo, tras un procedimiento estético para el que no tenía la especialización requerida. Y en Yarumal, un error en la vía de administración llevó a una paciente a cuidados intensivos y a una investigación.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Escena 16. Consecuencias de no adherirse (20 s)
Música: Tensión suave
VOZ EN OFF:
¿Qué pasa cuando una institución no se adhiere a sus guías? Hay consecuencias clínicas, como muertes evitables; éticas, porque se rompen los principios de no hacer daño y de buscar el bien del paciente; legales, como demandas y sanciones; e institucionales, como mayores costos y pérdida de confianza.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Escena 17. Barreras para cumplir la guía (18 s)
Música: Reflexiva
Video de stock en Clipchamp: busy emergency room
VOZ EN OFF:
En casos como este, las barreras suelen repetirse: urgencias saturadas durante la epidemia, personal que rota y no conoce la guía, una cultura que decide por un solo dato de laboratorio, y líderes que no miden la adherencia.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Escena 18. Acciones de mejora (25 s)
Música: Esperanzadora
VOZ EN OFF:
Propongo acciones realistas: capacitar al personal en la guía de dengue y en las rutas integrales; estandarizar una hoja de egreso con los signos de alarma y la cita de control en 24 horas; hacer auditorías internas de historias clínicas dentro del PAMEC; y realizar simulacros de dengue grave.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Escena 19. Indicadores de seguimiento (16 s)
Música: Esperanzadora
VOZ EN OFF:
Para saber si funciona, se miden: la adherencia a la guía, las reconsultas en menos de 72 horas, los eventos adversos, el tiempo de atención y la letalidad por dengue.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Escena 20. Mi postura (22 s)
Música: Reflexiva
VOZ EN OFF:
¿Las guías limitan la autonomía médica? Mi postura es que no. La guía es el piso, no el techo: garantiza un mínimo de calidad y deja espacio al juicio clínico. Apartarse de ella es posible, pero debe justificarse en la historia clínica.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Escena 21. Importancia según el marco legal (20 s)
Música: Esperanzadora
VOZ EN OFF:
Por eso, según el marco legal, la adherencia a las guías es clave: protege al paciente, porque reduce errores; protege al profesional, porque demuestra que actuó con diligencia; y protege a la institución, porque es parte de la calidad que exige el sistema.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Escena 22. Cierre (12 s)
Música: Cálida, crece y se desvanece
Video de stock en Clipchamp: doctor child patient
VOZ EN OFF:
Una guía bien aplicada es una decisión tomada a tiempo. Y en salud, decidir a tiempo puede salvar una vida. Gracias.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Escena 23. Referencias (10 s)
Música: Suave
VOZ EN OFF:
(Sin voz.)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Escena 24. Créditos (6 s)
Música: Se desvanece
VOZ EN OFF:
(Sin voz.)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94944" y="384048"/>
            <a:ext cx="1078992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94944" y="713232"/>
            <a:ext cx="107899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694944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La guía no es un papel · Yina Vanessa Cadena Mantilla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VERLAY">
    <p:bg>
      <p:bgPr>
        <a:solidFill>
          <a:srgbClr val="FFFFFF">
            <a:alpha val="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ogo (reemplazar por el logo de UNIMINUTO)"/>
          <p:cNvSpPr/>
          <p:nvPr/>
        </p:nvSpPr>
        <p:spPr>
          <a:xfrm>
            <a:off x="694944" y="566928"/>
            <a:ext cx="22860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694944" y="566928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 UNIMINUTO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694944" y="1828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3A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· SEMANA [N.º]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94944" y="2194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guía no es un papel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694944" y="31546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8E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de la importancia de las guías y protocolos en salud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694944" y="43434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Yina Vanessa Cadena Mantilla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94944" y="47731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8E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Curso: [Nombre del curso] · Docente: [Nombre del docente]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94944" y="5120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8E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Especialización en Gerencia y Auditoría de la Calidad en Salud · UNIMINUTO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9692640" y="4297680"/>
            <a:ext cx="457200" cy="457200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287000" y="4297680"/>
            <a:ext cx="457200" cy="45720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881360" y="4297680"/>
            <a:ext cx="457200" cy="45720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3A71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"/>
          <p:cNvSpPr/>
          <p:nvPr/>
        </p:nvSpPr>
        <p:spPr>
          <a:xfrm>
            <a:off x="0" y="0"/>
            <a:ext cx="5212080" cy="6858000"/>
          </a:xfrm>
          <a:prstGeom prst="rect">
            <a:avLst/>
          </a:prstGeom>
          <a:solidFill>
            <a:srgbClr val="0B3954">
              <a:alpha val="9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914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3A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CASO REAL · SANTANDER, 2025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25880"/>
            <a:ext cx="4114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seguir la guía puede salvar una vida?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657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Yina Vanessa Cadena Mantilla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0690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6E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Especialización en Gerencia y Auditoría de la Calidad en Salud · UNIMINUTO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4008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E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guía no es un papel · 02</a:t>
            </a:r>
            <a:endParaRPr lang="en-US" sz="1000" dirty="0"/>
          </a:p>
        </p:txBody>
      </p:sp>
      <p:sp>
        <p:nvSpPr>
          <p:cNvPr id="8" name="Indicación (borrar antes de exportar)"/>
          <p:cNvSpPr txBox="1"/>
          <p:nvPr/>
        </p:nvSpPr>
        <p:spPr>
          <a:xfrm>
            <a:off x="5852160" y="2926080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C6B73"/>
                </a:solidFill>
              </a:rPr>
              <a:t>Zona transparente: aquí va el video de stock de Clipchamp («hospital corridor»). Este recuadro no se exporta en la imagen OVERLAY.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94944" y="38404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CONCEPTOS CLAVE (ARIAS CAPOTE ET AL., 2019)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94944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Guía, protocolo y algoritmo</a:t>
            </a:r>
            <a:endParaRPr lang="en-US" sz="3200" dirty="0"/>
          </a:p>
        </p:txBody>
      </p:sp>
      <p:sp>
        <p:nvSpPr>
          <p:cNvPr id="5" name="Tarjeta Guía de práctica clínica"/>
          <p:cNvSpPr/>
          <p:nvPr/>
        </p:nvSpPr>
        <p:spPr>
          <a:xfrm>
            <a:off x="694944" y="1783080"/>
            <a:ext cx="3429000" cy="39319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14984" y="2057400"/>
            <a:ext cx="777240" cy="777240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14984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14984" y="30175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87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Guía de práctica clínica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014984" y="370332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 basadas en la mejor evidencia para un problema de salud.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014984" y="4983480"/>
            <a:ext cx="2788920" cy="457200"/>
          </a:xfrm>
          <a:prstGeom prst="roundRect">
            <a:avLst>
              <a:gd name="adj" fmla="val 50000"/>
            </a:avLst>
          </a:prstGeom>
          <a:solidFill>
            <a:srgbClr val="E6F0F3"/>
          </a:solidFill>
          <a:ln w="12700">
            <a:solidFill>
              <a:srgbClr val="E6F0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14984" y="49834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7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hacer?</a:t>
            </a:r>
            <a:endParaRPr lang="en-US" sz="1400" dirty="0"/>
          </a:p>
        </p:txBody>
      </p:sp>
      <p:sp>
        <p:nvSpPr>
          <p:cNvPr id="12" name="Tarjeta Protocolo"/>
          <p:cNvSpPr/>
          <p:nvPr/>
        </p:nvSpPr>
        <p:spPr>
          <a:xfrm>
            <a:off x="4379976" y="1783080"/>
            <a:ext cx="3429000" cy="39319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00016" y="2057400"/>
            <a:ext cx="777240" cy="777240"/>
          </a:xfrm>
          <a:prstGeom prst="ellipse">
            <a:avLst/>
          </a:prstGeom>
          <a:solidFill>
            <a:srgbClr val="0B3954"/>
          </a:solidFill>
          <a:ln w="12700">
            <a:solidFill>
              <a:srgbClr val="0B395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700016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4700016" y="30175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3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4700016" y="370332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 la guía a la institución: pasos, responsables y recursos.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700016" y="4983480"/>
            <a:ext cx="2788920" cy="457200"/>
          </a:xfrm>
          <a:prstGeom prst="roundRect">
            <a:avLst>
              <a:gd name="adj" fmla="val 50000"/>
            </a:avLst>
          </a:prstGeom>
          <a:solidFill>
            <a:srgbClr val="E6F0F3"/>
          </a:solidFill>
          <a:ln w="12700">
            <a:solidFill>
              <a:srgbClr val="E6F0F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700016" y="49834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¿Quién y cómo, aquí?</a:t>
            </a:r>
            <a:endParaRPr lang="en-US" sz="1400" dirty="0"/>
          </a:p>
        </p:txBody>
      </p:sp>
      <p:sp>
        <p:nvSpPr>
          <p:cNvPr id="19" name="Tarjeta Algoritmo"/>
          <p:cNvSpPr/>
          <p:nvPr/>
        </p:nvSpPr>
        <p:spPr>
          <a:xfrm>
            <a:off x="8065008" y="1783080"/>
            <a:ext cx="3429000" cy="39319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385048" y="2057400"/>
            <a:ext cx="777240" cy="7772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85048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22" name="Text 19"/>
          <p:cNvSpPr txBox="1"/>
          <p:nvPr/>
        </p:nvSpPr>
        <p:spPr>
          <a:xfrm>
            <a:off x="8385048" y="30175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Algoritmo</a:t>
            </a:r>
            <a:endParaRPr lang="en-US" sz="1900" dirty="0"/>
          </a:p>
        </p:txBody>
      </p:sp>
      <p:sp>
        <p:nvSpPr>
          <p:cNvPr id="23" name="Text 20"/>
          <p:cNvSpPr txBox="1"/>
          <p:nvPr/>
        </p:nvSpPr>
        <p:spPr>
          <a:xfrm>
            <a:off x="8385048" y="370332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 las decisiones en un diagrama de pasos y opciones.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8385048" y="4983480"/>
            <a:ext cx="2788920" cy="457200"/>
          </a:xfrm>
          <a:prstGeom prst="roundRect">
            <a:avLst>
              <a:gd name="adj" fmla="val 50000"/>
            </a:avLst>
          </a:prstGeom>
          <a:solidFill>
            <a:srgbClr val="E6F0F3"/>
          </a:solidFill>
          <a:ln w="12700">
            <a:solidFill>
              <a:srgbClr val="E6F0F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385048" y="49834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sigue si…?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94944" y="58978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C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Ninguno reemplaza el juicio clínico; todos lo orientan.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94944" y="38404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METODOLOGÍA (TORRES-TAMAYO ET AL., 2020)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94944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¿Cómo se construye una guía?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1197864" y="1965960"/>
            <a:ext cx="1005840" cy="1005840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97864" y="19659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2340864" y="2468880"/>
            <a:ext cx="822960" cy="0"/>
          </a:xfrm>
          <a:prstGeom prst="line">
            <a:avLst/>
          </a:prstGeom>
          <a:noFill/>
          <a:ln w="38100">
            <a:solidFill>
              <a:srgbClr val="BECDD4"/>
            </a:solidFill>
            <a:prstDash val="solid"/>
            <a:tailEnd type="triangle"/>
          </a:ln>
        </p:spPr>
      </p:sp>
      <p:sp>
        <p:nvSpPr>
          <p:cNvPr id="8" name="Text 5"/>
          <p:cNvSpPr txBox="1"/>
          <p:nvPr/>
        </p:nvSpPr>
        <p:spPr>
          <a:xfrm>
            <a:off x="603504" y="3154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7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clínica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9224" y="37947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Paciente, intervención, comparación y desenlace (PICO)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392424" y="1965960"/>
            <a:ext cx="1005840" cy="1005840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392424" y="19659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Shape 9"/>
          <p:cNvSpPr/>
          <p:nvPr/>
        </p:nvSpPr>
        <p:spPr>
          <a:xfrm>
            <a:off x="4535424" y="2468880"/>
            <a:ext cx="822960" cy="0"/>
          </a:xfrm>
          <a:prstGeom prst="line">
            <a:avLst/>
          </a:prstGeom>
          <a:noFill/>
          <a:ln w="38100">
            <a:solidFill>
              <a:srgbClr val="BECDD4"/>
            </a:solidFill>
            <a:prstDash val="solid"/>
            <a:tailEnd type="triangle"/>
          </a:ln>
        </p:spPr>
      </p:sp>
      <p:sp>
        <p:nvSpPr>
          <p:cNvPr id="13" name="Text 10"/>
          <p:cNvSpPr txBox="1"/>
          <p:nvPr/>
        </p:nvSpPr>
        <p:spPr>
          <a:xfrm>
            <a:off x="2798064" y="3154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7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Búsqueda de evidencia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2843784" y="37947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sistemática de estudios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586984" y="1965960"/>
            <a:ext cx="1005840" cy="1005840"/>
          </a:xfrm>
          <a:prstGeom prst="ellipse">
            <a:avLst/>
          </a:prstGeom>
          <a:solidFill>
            <a:srgbClr val="0B3954"/>
          </a:solidFill>
          <a:ln w="12700">
            <a:solidFill>
              <a:srgbClr val="0B395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586984" y="19659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200" dirty="0"/>
          </a:p>
        </p:txBody>
      </p:sp>
      <p:sp>
        <p:nvSpPr>
          <p:cNvPr id="17" name="Shape 14"/>
          <p:cNvSpPr/>
          <p:nvPr/>
        </p:nvSpPr>
        <p:spPr>
          <a:xfrm>
            <a:off x="6729984" y="2468880"/>
            <a:ext cx="822960" cy="0"/>
          </a:xfrm>
          <a:prstGeom prst="line">
            <a:avLst/>
          </a:prstGeom>
          <a:noFill/>
          <a:ln w="38100">
            <a:solidFill>
              <a:srgbClr val="BECDD4"/>
            </a:solidFill>
            <a:prstDash val="solid"/>
            <a:tailEnd type="triangle"/>
          </a:ln>
        </p:spPr>
      </p:sp>
      <p:sp>
        <p:nvSpPr>
          <p:cNvPr id="18" name="Text 15"/>
          <p:cNvSpPr txBox="1"/>
          <p:nvPr/>
        </p:nvSpPr>
        <p:spPr>
          <a:xfrm>
            <a:off x="4992624" y="3154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Calificación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038344" y="37947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Calidad de la evidencia (por ejemplo, GRADE)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781544" y="1965960"/>
            <a:ext cx="1005840" cy="1005840"/>
          </a:xfrm>
          <a:prstGeom prst="ellipse">
            <a:avLst/>
          </a:prstGeom>
          <a:solidFill>
            <a:srgbClr val="0B3954"/>
          </a:solidFill>
          <a:ln w="12700">
            <a:solidFill>
              <a:srgbClr val="0B395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81544" y="19659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200" dirty="0"/>
          </a:p>
        </p:txBody>
      </p:sp>
      <p:sp>
        <p:nvSpPr>
          <p:cNvPr id="22" name="Shape 19"/>
          <p:cNvSpPr/>
          <p:nvPr/>
        </p:nvSpPr>
        <p:spPr>
          <a:xfrm>
            <a:off x="8924544" y="2468880"/>
            <a:ext cx="822960" cy="0"/>
          </a:xfrm>
          <a:prstGeom prst="line">
            <a:avLst/>
          </a:prstGeom>
          <a:noFill/>
          <a:ln w="38100">
            <a:solidFill>
              <a:srgbClr val="BECDD4"/>
            </a:solidFill>
            <a:prstDash val="solid"/>
            <a:tailEnd type="triangle"/>
          </a:ln>
        </p:spPr>
      </p:sp>
      <p:sp>
        <p:nvSpPr>
          <p:cNvPr id="23" name="Text 20"/>
          <p:cNvSpPr txBox="1"/>
          <p:nvPr/>
        </p:nvSpPr>
        <p:spPr>
          <a:xfrm>
            <a:off x="7187184" y="3154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Recomendación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7232904" y="37947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desarrollador con expertos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9976104" y="1965960"/>
            <a:ext cx="1005840" cy="10058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976104" y="19659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200" dirty="0"/>
          </a:p>
        </p:txBody>
      </p:sp>
      <p:sp>
        <p:nvSpPr>
          <p:cNvPr id="27" name="Text 24"/>
          <p:cNvSpPr txBox="1"/>
          <p:nvPr/>
        </p:nvSpPr>
        <p:spPr>
          <a:xfrm>
            <a:off x="9381744" y="3154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Actualización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9427464" y="37947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periódica con nueva evidencia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94944" y="5257800"/>
            <a:ext cx="10789920" cy="685800"/>
          </a:xfrm>
          <a:prstGeom prst="roundRect">
            <a:avLst>
              <a:gd name="adj" fmla="val 16000"/>
            </a:avLst>
          </a:prstGeom>
          <a:solidFill>
            <a:srgbClr val="E6F0F3"/>
          </a:solidFill>
          <a:ln w="12700">
            <a:solidFill>
              <a:srgbClr val="E6F0F3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14400" y="52578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guía no se escribe por opinión: se construye con evidencia y se actualiza.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"/>
          <p:cNvSpPr/>
          <p:nvPr/>
        </p:nvSpPr>
        <p:spPr>
          <a:xfrm>
            <a:off x="0" y="0"/>
            <a:ext cx="5212080" cy="6858000"/>
          </a:xfrm>
          <a:prstGeom prst="rect">
            <a:avLst/>
          </a:prstGeom>
          <a:solidFill>
            <a:srgbClr val="0B3954">
              <a:alpha val="9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914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3A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DEL CASO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25880"/>
            <a:ext cx="4114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Dengue en Santander, 2025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4320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F3A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+9.000</a:t>
            </a:r>
            <a:endParaRPr lang="en-US" sz="6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7033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3A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notificados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38912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6E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departamento con más casos de dengue del país. Fuente: El Tiempo y Vanguardia (nov. 2025).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4008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E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guía no es un papel · 05</a:t>
            </a:r>
            <a:endParaRPr lang="en-US" sz="1000" dirty="0"/>
          </a:p>
        </p:txBody>
      </p:sp>
      <p:sp>
        <p:nvSpPr>
          <p:cNvPr id="9" name="Indicación (borrar antes de exportar)"/>
          <p:cNvSpPr txBox="1"/>
          <p:nvPr/>
        </p:nvSpPr>
        <p:spPr>
          <a:xfrm>
            <a:off x="5852160" y="2926080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C6B73"/>
                </a:solidFill>
              </a:rPr>
              <a:t>Zona transparente: aquí va el video de stock de Clipchamp («mosquito»). Este recuadro no se exporta en la imagen OVERLAY.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94944" y="38404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EL CASO · FLORIDABLANCA (SANTANDER)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94944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Una niña de 10 años con dengue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1335024" y="2980944"/>
            <a:ext cx="9509760" cy="0"/>
          </a:xfrm>
          <a:prstGeom prst="line">
            <a:avLst/>
          </a:prstGeom>
          <a:noFill/>
          <a:ln w="63500">
            <a:solidFill>
              <a:srgbClr val="C8D4D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06424" y="2752344"/>
            <a:ext cx="457200" cy="457200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-36576" y="2148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7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oct.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-36576" y="33832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Fiebre alta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279392" y="2752344"/>
            <a:ext cx="457200" cy="457200"/>
          </a:xfrm>
          <a:prstGeom prst="ellipse">
            <a:avLst/>
          </a:prstGeom>
          <a:solidFill>
            <a:srgbClr val="B07600"/>
          </a:solidFill>
          <a:ln w="12700">
            <a:solidFill>
              <a:srgbClr val="B0760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136392" y="2148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07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26-27 oct.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136392" y="33832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 centro: suero y salida a casa («plaquetas bien», según la familia)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452360" y="2752344"/>
            <a:ext cx="457200" cy="45720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09360" y="2148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oct.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6309360" y="33832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Regresa: dengue grave, hospitalizada e intubada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10625328" y="2752344"/>
            <a:ext cx="457200" cy="457200"/>
          </a:xfrm>
          <a:prstGeom prst="ellipse">
            <a:avLst/>
          </a:prstGeom>
          <a:solidFill>
            <a:srgbClr val="0B3954"/>
          </a:solidFill>
          <a:ln w="12700">
            <a:solidFill>
              <a:srgbClr val="0B395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482328" y="2148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nov.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9482328" y="33832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Fallece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94944" y="5074920"/>
            <a:ext cx="10789920" cy="1005840"/>
          </a:xfrm>
          <a:prstGeom prst="roundRect">
            <a:avLst>
              <a:gd name="adj" fmla="val 10909"/>
            </a:avLst>
          </a:prstGeom>
          <a:solidFill>
            <a:srgbClr val="FDECE6"/>
          </a:solidFill>
          <a:ln w="12700">
            <a:solidFill>
              <a:srgbClr val="FDECE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14400" y="51663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familia denuncia presunta negligencia y el caso está en investigación. Por respeto, no se usa el nombre de la menor.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56692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Fuentes: El Tiempo, Vanguardia e Infobae (noviembre de 2025).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94944" y="38404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PROCESO CLÍNICO SEGÚN LA GUÍA DE DENGUE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94944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Todo paciente se clasifica en tres grupos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94944" y="1783080"/>
            <a:ext cx="3429000" cy="42062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25400">
            <a:solidFill>
              <a:srgbClr val="2E8B5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94944" y="1783080"/>
            <a:ext cx="3429000" cy="777240"/>
          </a:xfrm>
          <a:prstGeom prst="roundRect">
            <a:avLst>
              <a:gd name="adj" fmla="val 14118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94944" y="178308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A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969264" y="274320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signos de alarma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Tolera la vía oral y orina bien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condiciones de riesgo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969264" y="425196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Manejo en casa CON control médico diario y signos de alarma por escrito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379976" y="1783080"/>
            <a:ext cx="3429000" cy="42062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25400">
            <a:solidFill>
              <a:srgbClr val="B076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79976" y="1783080"/>
            <a:ext cx="3429000" cy="777240"/>
          </a:xfrm>
          <a:prstGeom prst="roundRect">
            <a:avLst>
              <a:gd name="adj" fmla="val 14118"/>
            </a:avLst>
          </a:prstGeom>
          <a:solidFill>
            <a:srgbClr val="B07600"/>
          </a:solidFill>
          <a:ln w="12700">
            <a:solidFill>
              <a:srgbClr val="B0760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379976" y="178308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B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4654296" y="274320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signos de alarma, o condiciones de riesgo (comorbilidades, riesgo social)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654296" y="425196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07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Hospitalización, líquidos intravenosos y vigilancia estrecha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065008" y="1783080"/>
            <a:ext cx="3429000" cy="42062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25400">
            <a:solidFill>
              <a:srgbClr val="E4572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065008" y="1783080"/>
            <a:ext cx="3429000" cy="777240"/>
          </a:xfrm>
          <a:prstGeom prst="roundRect">
            <a:avLst>
              <a:gd name="adj" fmla="val 14118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065008" y="178308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C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8339328" y="274320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Dengue grave: choque, sangrado grave o falla de órganos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8339328" y="425196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Atención de urgencia y cuidado intensivo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94944" y="38404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PROCESO CLÍNICO SEGÚN LA GUÍA DE DENGUE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94944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Signos de alarma y fase crítica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94944" y="1828800"/>
            <a:ext cx="548640" cy="5486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94944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426464" y="184708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Dolor abdominal intenso y continuo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986784" y="1828800"/>
            <a:ext cx="548640" cy="5486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986784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4718304" y="184708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Vómito persistente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94944" y="2926080"/>
            <a:ext cx="548640" cy="5486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94944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1426464" y="294436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Sangrado de mucosas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986784" y="2926080"/>
            <a:ext cx="548640" cy="5486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986784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4718304" y="294436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Somnolencia o irritabilidad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94944" y="4023360"/>
            <a:ext cx="548640" cy="5486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94944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1426464" y="404164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Acumulación de líquidos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986784" y="4023360"/>
            <a:ext cx="548640" cy="5486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986784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4718304" y="404164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Aumento rápido del hematocrito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498080" y="1783080"/>
            <a:ext cx="3986784" cy="4206240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72400" y="1965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Días de enfermedad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7772400" y="2468880"/>
            <a:ext cx="329184" cy="438912"/>
          </a:xfrm>
          <a:prstGeom prst="roundRect">
            <a:avLst>
              <a:gd name="adj" fmla="val 16667"/>
            </a:avLst>
          </a:prstGeom>
          <a:solidFill>
            <a:srgbClr val="C8D4DA"/>
          </a:solidFill>
          <a:ln w="12700">
            <a:solidFill>
              <a:srgbClr val="C8D4D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772400" y="2468880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8156448" y="2468880"/>
            <a:ext cx="329184" cy="438912"/>
          </a:xfrm>
          <a:prstGeom prst="roundRect">
            <a:avLst>
              <a:gd name="adj" fmla="val 16667"/>
            </a:avLst>
          </a:prstGeom>
          <a:solidFill>
            <a:srgbClr val="C8D4DA"/>
          </a:solidFill>
          <a:ln w="12700">
            <a:solidFill>
              <a:srgbClr val="C8D4D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156448" y="2468880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8540496" y="2468880"/>
            <a:ext cx="329184" cy="438912"/>
          </a:xfrm>
          <a:prstGeom prst="roundRect">
            <a:avLst>
              <a:gd name="adj" fmla="val 16667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540496" y="2468880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8924544" y="2468880"/>
            <a:ext cx="329184" cy="438912"/>
          </a:xfrm>
          <a:prstGeom prst="roundRect">
            <a:avLst>
              <a:gd name="adj" fmla="val 16667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924544" y="2468880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9308592" y="2468880"/>
            <a:ext cx="329184" cy="438912"/>
          </a:xfrm>
          <a:prstGeom prst="roundRect">
            <a:avLst>
              <a:gd name="adj" fmla="val 16667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9308592" y="2468880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9692640" y="2468880"/>
            <a:ext cx="329184" cy="438912"/>
          </a:xfrm>
          <a:prstGeom prst="roundRect">
            <a:avLst>
              <a:gd name="adj" fmla="val 16667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692640" y="2468880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10076688" y="2468880"/>
            <a:ext cx="329184" cy="438912"/>
          </a:xfrm>
          <a:prstGeom prst="roundRect">
            <a:avLst>
              <a:gd name="adj" fmla="val 16667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0076688" y="2468880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10460736" y="2468880"/>
            <a:ext cx="329184" cy="438912"/>
          </a:xfrm>
          <a:prstGeom prst="roundRect">
            <a:avLst>
              <a:gd name="adj" fmla="val 16667"/>
            </a:avLst>
          </a:prstGeom>
          <a:solidFill>
            <a:srgbClr val="C8D4DA"/>
          </a:solidFill>
          <a:ln w="12700">
            <a:solidFill>
              <a:srgbClr val="C8D4D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0460736" y="2468880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10844784" y="2468880"/>
            <a:ext cx="329184" cy="438912"/>
          </a:xfrm>
          <a:prstGeom prst="roundRect">
            <a:avLst>
              <a:gd name="adj" fmla="val 16667"/>
            </a:avLst>
          </a:prstGeom>
          <a:solidFill>
            <a:srgbClr val="C8D4DA"/>
          </a:solidFill>
          <a:ln w="12700">
            <a:solidFill>
              <a:srgbClr val="C8D4DA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10844784" y="2468880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7772400" y="31089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crítica: cuando la fiebre baja (días 3 a 7)</a:t>
            </a:r>
            <a:endParaRPr lang="en-US" sz="1600" dirty="0"/>
          </a:p>
        </p:txBody>
      </p:sp>
      <p:sp>
        <p:nvSpPr>
          <p:cNvPr id="44" name="Text 41"/>
          <p:cNvSpPr txBox="1"/>
          <p:nvPr/>
        </p:nvSpPr>
        <p:spPr>
          <a:xfrm>
            <a:off x="7772400" y="402336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Unas plaquetas normales NO descartan el riesgo. La clasificación se hace por signos de alarma.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94944" y="38404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ANÁLISIS DEL CASO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94944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La guía frente a lo que se reporta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94944" y="1691640"/>
            <a:ext cx="5248656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25400">
            <a:solidFill>
              <a:srgbClr val="087E8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94944" y="1691640"/>
            <a:ext cx="5248656" cy="548640"/>
          </a:xfrm>
          <a:prstGeom prst="roundRect">
            <a:avLst>
              <a:gd name="adj" fmla="val 20000"/>
            </a:avLst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69264" y="16916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EXIGE LA GUÍA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69264" y="2423160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Clasificar por signos de alarma, no solo por plaquetas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va a casa: control médico en 24 horas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Entregar por escrito los signos de alarma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Hidratación oral y acetaminofén; evitar antiinflamatorios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todo en la historia clínica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236208" y="1691640"/>
            <a:ext cx="5248656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25400">
            <a:solidFill>
              <a:srgbClr val="E4572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36208" y="1691640"/>
            <a:ext cx="5248656" cy="548640"/>
          </a:xfrm>
          <a:prstGeom prst="roundRect">
            <a:avLst>
              <a:gd name="adj" fmla="val 20000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10528" y="16916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REPORTA LA FAMILIA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510528" y="2423160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Salida el mismo día, con suero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Motivo reportado: «las plaquetas estaban bien»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Regresó con dengue grave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sabe si hubo cita de control ni instrucciones escritas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94944" y="5303520"/>
            <a:ext cx="10789920" cy="868680"/>
          </a:xfrm>
          <a:prstGeom prst="roundRect">
            <a:avLst>
              <a:gd name="adj" fmla="val 12632"/>
            </a:avLst>
          </a:prstGeom>
          <a:solidFill>
            <a:srgbClr val="0B3954"/>
          </a:solidFill>
          <a:ln w="12700">
            <a:solidFill>
              <a:srgbClr val="0B395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60120" y="53035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A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se cumple la guía: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clasificación y tratamiento oportunos, la mortalidad del dengue grave baja a menos del 1 % (OPS). Solo la investigación dirá si hubo falla.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94944" y="38404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MARCO NORMATIVO COLOMBIANO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94944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Seguir las guías no es opcional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94944" y="1783080"/>
            <a:ext cx="5266944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69264" y="2103120"/>
            <a:ext cx="640080" cy="640080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69264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792224" y="21671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87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Ley 1751 de 2015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792224" y="265176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Art. 17: autonomía profesional ejercida con ética, racionalidad y evidencia científica.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217920" y="1783080"/>
            <a:ext cx="5266944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92240" y="2103120"/>
            <a:ext cx="640080" cy="640080"/>
          </a:xfrm>
          <a:prstGeom prst="ellipse">
            <a:avLst/>
          </a:prstGeom>
          <a:solidFill>
            <a:srgbClr val="0B3954"/>
          </a:solidFill>
          <a:ln w="12700">
            <a:solidFill>
              <a:srgbClr val="0B395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922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0" y="21671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3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Ley 1438 de 2011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0" y="265176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Art. 94: guías y protocolos como referentes basados en evidencia científica.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94944" y="3931920"/>
            <a:ext cx="5266944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69264" y="4251960"/>
            <a:ext cx="640080" cy="64008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69264" y="4251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1792224" y="431596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Decreto 780 de 2016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1792224" y="480060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Obligatorio de Garantía de Calidad: auditoría para el mejoramiento (PAMEC).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217920" y="3931920"/>
            <a:ext cx="5266944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92240" y="4251960"/>
            <a:ext cx="640080" cy="640080"/>
          </a:xfrm>
          <a:prstGeom prst="ellipse">
            <a:avLst/>
          </a:prstGeom>
          <a:solidFill>
            <a:srgbClr val="B07600"/>
          </a:solidFill>
          <a:ln w="12700">
            <a:solidFill>
              <a:srgbClr val="B0760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92240" y="4251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7315200" y="431596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07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Resolución 3100 de 2019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7315200" y="480060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Habilitación: los servicios deben adoptar guías y protocolos (modificada, entre otras, por la Res. 465 de 2025).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94944" y="38404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GUÍAS Y PROTOCOLOS POR CURSOS DE VIDA (1 DE 2)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94944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Gestación, primera infancia e infancia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94944" y="1874520"/>
            <a:ext cx="10789920" cy="0"/>
          </a:xfrm>
          <a:prstGeom prst="line">
            <a:avLst/>
          </a:prstGeom>
          <a:noFill/>
          <a:ln w="63500">
            <a:solidFill>
              <a:srgbClr val="C8D4D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049524" y="1600200"/>
            <a:ext cx="548640" cy="5486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94944" y="228600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Gestación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94944" y="2788920"/>
            <a:ext cx="525780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23544" y="2971800"/>
            <a:ext cx="4800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Res. 3280 de 2018: Ruta Materno Perinatal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Guías de embarazo y puerperio: código rojo, preeclampsia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Ley 2244 de 2022: parto digno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77824" y="4937760"/>
            <a:ext cx="4892040" cy="1143000"/>
          </a:xfrm>
          <a:prstGeom prst="roundRect">
            <a:avLst>
              <a:gd name="adj" fmla="val 8000"/>
            </a:avLst>
          </a:prstGeom>
          <a:solidFill>
            <a:srgbClr val="E6F0F3"/>
          </a:solidFill>
          <a:ln w="12700">
            <a:solidFill>
              <a:srgbClr val="E6F0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14984" y="5001768"/>
            <a:ext cx="4617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</a:t>
            </a:r>
            <a:pPr indent="0" marL="0"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 una hemorragia posparto se activa el código rojo y el equipo actúa en minutos.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581644" y="1600200"/>
            <a:ext cx="548640" cy="548640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27064" y="228600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7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Primera infancia e infancia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227064" y="2788920"/>
            <a:ext cx="525780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55664" y="2971800"/>
            <a:ext cx="4800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Res. 3280 de 2018: valoración integral y vacunación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Estrategia AIEPI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Res. 2350 de 2020: desnutrición aguda (mod. Res. 115 de 2026)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Guía de atención del dengue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09944" y="4937760"/>
            <a:ext cx="4892040" cy="1143000"/>
          </a:xfrm>
          <a:prstGeom prst="roundRect">
            <a:avLst>
              <a:gd name="adj" fmla="val 8000"/>
            </a:avLst>
          </a:prstGeom>
          <a:solidFill>
            <a:srgbClr val="E6F0F3"/>
          </a:solidFill>
          <a:ln w="12700">
            <a:solidFill>
              <a:srgbClr val="E6F0F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47104" y="5001768"/>
            <a:ext cx="4617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7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</a:t>
            </a:r>
            <a:pPr indent="0" marL="0"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caso analizado, la guía de dengue define quién se hospitaliza.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94944" y="38404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GUÍAS Y PROTOCOLOS POR CURSOS DE VIDA (2 DE 2)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94944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Adolescencia, juventud, adultez y vejez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94944" y="1874520"/>
            <a:ext cx="10789920" cy="0"/>
          </a:xfrm>
          <a:prstGeom prst="line">
            <a:avLst/>
          </a:prstGeom>
          <a:noFill/>
          <a:ln w="63500">
            <a:solidFill>
              <a:srgbClr val="C8D4D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127504" y="1600200"/>
            <a:ext cx="548640" cy="548640"/>
          </a:xfrm>
          <a:prstGeom prst="ellipse">
            <a:avLst/>
          </a:prstGeom>
          <a:solidFill>
            <a:srgbClr val="0B3954"/>
          </a:solidFill>
          <a:ln w="12700">
            <a:solidFill>
              <a:srgbClr val="0B395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94944" y="2286000"/>
            <a:ext cx="341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Adolescencia y juventud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94944" y="2788920"/>
            <a:ext cx="3413760" cy="342900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23544" y="2971800"/>
            <a:ext cx="29565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Res. 3280 de 2018: salud sexual y mental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Res. 459 de 2012: violencia sexual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Ley 1616 de 2013: salud mental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77824" y="4937760"/>
            <a:ext cx="3048000" cy="1143000"/>
          </a:xfrm>
          <a:prstGeom prst="roundRect">
            <a:avLst>
              <a:gd name="adj" fmla="val 8000"/>
            </a:avLst>
          </a:prstGeom>
          <a:solidFill>
            <a:srgbClr val="E6F0F3"/>
          </a:solidFill>
          <a:ln w="12700">
            <a:solidFill>
              <a:srgbClr val="E6F0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14984" y="5001768"/>
            <a:ext cx="27736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</a:t>
            </a:r>
            <a:pPr indent="0" marL="0"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víctima de violencia sexual se atiende como urgencia, con profilaxis antes de 72 horas.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815584" y="1600200"/>
            <a:ext cx="548640" cy="548640"/>
          </a:xfrm>
          <a:prstGeom prst="ellipse">
            <a:avLst/>
          </a:prstGeom>
          <a:solidFill>
            <a:srgbClr val="B07600"/>
          </a:solidFill>
          <a:ln w="12700">
            <a:solidFill>
              <a:srgbClr val="B0760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383024" y="2286000"/>
            <a:ext cx="341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7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Adultez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383024" y="2788920"/>
            <a:ext cx="3413760" cy="342900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611624" y="2971800"/>
            <a:ext cx="29565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Res. 3280 de 2018: tamizajes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Guías de hipertensión arterial y diabetes tipo 2 (MinSalud)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565904" y="4937760"/>
            <a:ext cx="3048000" cy="1143000"/>
          </a:xfrm>
          <a:prstGeom prst="roundRect">
            <a:avLst>
              <a:gd name="adj" fmla="val 8000"/>
            </a:avLst>
          </a:prstGeom>
          <a:solidFill>
            <a:srgbClr val="E6F0F3"/>
          </a:solidFill>
          <a:ln w="12700">
            <a:solidFill>
              <a:srgbClr val="E6F0F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703064" y="5001768"/>
            <a:ext cx="27736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7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</a:t>
            </a:r>
            <a:pPr indent="0" marL="0"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guías fijan metas de control de la presión y la glucosa.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9503664" y="1600200"/>
            <a:ext cx="548640" cy="54864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071104" y="2286000"/>
            <a:ext cx="341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Vejez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8071104" y="2788920"/>
            <a:ext cx="3413760" cy="342900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99704" y="2971800"/>
            <a:ext cx="29565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Res. 3280 de 2018: valoración integral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Decreto 681 de 2022: Política de Envejecimiento y Vejez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8253984" y="4937760"/>
            <a:ext cx="3048000" cy="1143000"/>
          </a:xfrm>
          <a:prstGeom prst="roundRect">
            <a:avLst>
              <a:gd name="adj" fmla="val 8000"/>
            </a:avLst>
          </a:prstGeom>
          <a:solidFill>
            <a:srgbClr val="E6F0F3"/>
          </a:solidFill>
          <a:ln w="12700">
            <a:solidFill>
              <a:srgbClr val="E6F0F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391144" y="5001768"/>
            <a:ext cx="27736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</a:t>
            </a:r>
            <a:pPr indent="0" marL="0"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valorar el riesgo de caídas en cada control.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94944" y="38404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MARCO LEGAL DEL DAÑO MÉDICO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94944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Cuatro tipos de responsabilidad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94944" y="1783080"/>
            <a:ext cx="2560320" cy="4343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25400">
            <a:solidFill>
              <a:srgbClr val="087E8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563624" y="2011680"/>
            <a:ext cx="822960" cy="822960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563624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786384" y="2971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7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Civil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77824" y="347472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Reparar los perjuicios causados al paciente y su familia.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32104" y="5074920"/>
            <a:ext cx="2286000" cy="868680"/>
          </a:xfrm>
          <a:prstGeom prst="roundRect">
            <a:avLst>
              <a:gd name="adj" fmla="val 10526"/>
            </a:avLst>
          </a:prstGeom>
          <a:solidFill>
            <a:srgbClr val="E6F0F3"/>
          </a:solidFill>
          <a:ln w="12700">
            <a:solidFill>
              <a:srgbClr val="E6F0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77824" y="50749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Civil, art. 2341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438144" y="1783080"/>
            <a:ext cx="2560320" cy="4343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25400">
            <a:solidFill>
              <a:srgbClr val="E4572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06824" y="2011680"/>
            <a:ext cx="822960" cy="82296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306824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3529584" y="2971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Penal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3621024" y="347472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Homicidio culposo o lesiones personales culposas.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3575304" y="5074920"/>
            <a:ext cx="2286000" cy="868680"/>
          </a:xfrm>
          <a:prstGeom prst="roundRect">
            <a:avLst>
              <a:gd name="adj" fmla="val 10526"/>
            </a:avLst>
          </a:prstGeom>
          <a:solidFill>
            <a:srgbClr val="E6F0F3"/>
          </a:solidFill>
          <a:ln w="12700">
            <a:solidFill>
              <a:srgbClr val="E6F0F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621024" y="50749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Ley 599 de 2000, arts. 109 y 120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181344" y="1783080"/>
            <a:ext cx="2560320" cy="4343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25400">
            <a:solidFill>
              <a:srgbClr val="0B395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050024" y="2011680"/>
            <a:ext cx="822960" cy="822960"/>
          </a:xfrm>
          <a:prstGeom prst="ellipse">
            <a:avLst/>
          </a:prstGeom>
          <a:solidFill>
            <a:srgbClr val="0B3954"/>
          </a:solidFill>
          <a:ln w="12700">
            <a:solidFill>
              <a:srgbClr val="0B395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050024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</a:t>
            </a:r>
            <a:endParaRPr lang="en-US" sz="2800" dirty="0"/>
          </a:p>
        </p:txBody>
      </p:sp>
      <p:sp>
        <p:nvSpPr>
          <p:cNvPr id="22" name="Text 19"/>
          <p:cNvSpPr txBox="1"/>
          <p:nvPr/>
        </p:nvSpPr>
        <p:spPr>
          <a:xfrm>
            <a:off x="6272784" y="2971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Ético-disciplinaria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6364224" y="347472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Tribunales de ética médica y de enfermería.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6318504" y="5074920"/>
            <a:ext cx="2286000" cy="868680"/>
          </a:xfrm>
          <a:prstGeom prst="roundRect">
            <a:avLst>
              <a:gd name="adj" fmla="val 10526"/>
            </a:avLst>
          </a:prstGeom>
          <a:solidFill>
            <a:srgbClr val="E6F0F3"/>
          </a:solidFill>
          <a:ln w="12700">
            <a:solidFill>
              <a:srgbClr val="E6F0F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364224" y="50749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Ley 23 de 1981 · Ley 911 de 2004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8924544" y="1783080"/>
            <a:ext cx="2560320" cy="4343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25400">
            <a:solidFill>
              <a:srgbClr val="B0760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793224" y="2011680"/>
            <a:ext cx="822960" cy="822960"/>
          </a:xfrm>
          <a:prstGeom prst="ellipse">
            <a:avLst/>
          </a:prstGeom>
          <a:solidFill>
            <a:srgbClr val="B07600"/>
          </a:solidFill>
          <a:ln w="12700">
            <a:solidFill>
              <a:srgbClr val="B0760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793224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800" dirty="0"/>
          </a:p>
        </p:txBody>
      </p:sp>
      <p:sp>
        <p:nvSpPr>
          <p:cNvPr id="29" name="Text 26"/>
          <p:cNvSpPr txBox="1"/>
          <p:nvPr/>
        </p:nvSpPr>
        <p:spPr>
          <a:xfrm>
            <a:off x="9015984" y="2971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7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Administrativa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9107424" y="347472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el Estado; la Supersalud sanciona a la IPS.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9061704" y="5074920"/>
            <a:ext cx="2286000" cy="868680"/>
          </a:xfrm>
          <a:prstGeom prst="roundRect">
            <a:avLst>
              <a:gd name="adj" fmla="val 10526"/>
            </a:avLst>
          </a:prstGeom>
          <a:solidFill>
            <a:srgbClr val="E6F0F3"/>
          </a:solidFill>
          <a:ln w="12700">
            <a:solidFill>
              <a:srgbClr val="E6F0F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107424" y="50749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Constitución, art. 90 · Ley 1949 de 2019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94944" y="38404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MARCO LEGAL DEL DAÑO MÉDICO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94944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La guía y la historia clínica son la prueba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94944" y="1828800"/>
            <a:ext cx="2514600" cy="914400"/>
          </a:xfrm>
          <a:prstGeom prst="roundRect">
            <a:avLst>
              <a:gd name="adj" fmla="val 50000"/>
            </a:avLst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94944" y="18288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DAÑO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3209544" y="182880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C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3666744" y="1828800"/>
            <a:ext cx="2514600" cy="914400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666744" y="18288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FALLA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181344" y="182880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C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6638544" y="1828800"/>
            <a:ext cx="2514600" cy="914400"/>
          </a:xfrm>
          <a:prstGeom prst="roundRect">
            <a:avLst>
              <a:gd name="adj" fmla="val 50000"/>
            </a:avLst>
          </a:prstGeom>
          <a:solidFill>
            <a:srgbClr val="0B3954"/>
          </a:solidFill>
          <a:ln w="12700">
            <a:solidFill>
              <a:srgbClr val="0B395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638544" y="18288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NEXO CAUSAL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9153144" y="182880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C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3000" dirty="0"/>
          </a:p>
        </p:txBody>
      </p:sp>
      <p:sp>
        <p:nvSpPr>
          <p:cNvPr id="14" name="Shape 11"/>
          <p:cNvSpPr/>
          <p:nvPr/>
        </p:nvSpPr>
        <p:spPr>
          <a:xfrm>
            <a:off x="9601200" y="1828800"/>
            <a:ext cx="1883664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0B395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601200" y="1828800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Responsabilidad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94944" y="3200400"/>
            <a:ext cx="5248656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14984" y="34290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87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Obligación de medios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1014984" y="397764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médico no garantiza la curación, pero sí atender con la diligencia de la lex artis: el conocimiento y las prácticas aceptadas.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236208" y="3200400"/>
            <a:ext cx="5248656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556248" y="34290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se prueba?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6556248" y="397764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juez compara la atención con la guía vigente. La historia clínica (Res. 1995 de 1999) muestra si se siguió y por qué.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94944" y="38404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EJEMPLOS DE CONSECUENCIAS CONCRETAS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94944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Consecuencias reales de no seguir la norma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94944" y="1783080"/>
            <a:ext cx="5248656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25400">
            <a:solidFill>
              <a:srgbClr val="E457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14984" y="20116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Barrancabermeja, 2026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1014984" y="2560320"/>
            <a:ext cx="3291840" cy="411480"/>
          </a:xfrm>
          <a:prstGeom prst="roundRect">
            <a:avLst>
              <a:gd name="adj" fmla="val 48889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14984" y="25603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Consecuencia penal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014984" y="320040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médico fue condenado en primera instancia a 4 años de prisión por homicidio culposo, tras un procedimiento estético para el que, según Medicina Legal, no tenía la especialización requerida.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014984" y="56235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El Colombiano (febrero de 2026).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36208" y="1783080"/>
            <a:ext cx="5248656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25400">
            <a:solidFill>
              <a:srgbClr val="0B395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56248" y="20116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3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Yarumal (Antioquia), 2026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6556248" y="2560320"/>
            <a:ext cx="3291840" cy="411480"/>
          </a:xfrm>
          <a:prstGeom prst="roundRect">
            <a:avLst>
              <a:gd name="adj" fmla="val 48889"/>
            </a:avLst>
          </a:prstGeom>
          <a:solidFill>
            <a:srgbClr val="0B3954"/>
          </a:solidFill>
          <a:ln w="12700">
            <a:solidFill>
              <a:srgbClr val="0B395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556248" y="25603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Consecuencia clínica e institucional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556248" y="320040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antiácido de uso oral se aplicó por vía intravenosa: la paciente llegó a cuidados intensivos y el hospital reconoció el evento adverso, inició una investigación y apartó a la estudiante responsable.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556248" y="56235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comunicado de la ESE Hospital San Juan de Dios de Yarumal y medios nacionales (abril de 2026).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94944" y="38404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PREGUNTA ORIENTADORA 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94944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Repercusiones de no adherirse a las guías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1289304" y="1828800"/>
            <a:ext cx="1371600" cy="137160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289304" y="1828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694944" y="3429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Clínicas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86384" y="393192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Complicaciones, secuelas y muertes evitables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032504" y="1828800"/>
            <a:ext cx="1371600" cy="1371600"/>
          </a:xfrm>
          <a:prstGeom prst="ellipse">
            <a:avLst/>
          </a:prstGeom>
          <a:solidFill>
            <a:srgbClr val="0B3954"/>
          </a:solidFill>
          <a:ln w="12700">
            <a:solidFill>
              <a:srgbClr val="0B395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032504" y="1828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3438144" y="3429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Éticas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3529584" y="393192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rompen los principios de no maleficencia y beneficencia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775704" y="1828800"/>
            <a:ext cx="1371600" cy="1371600"/>
          </a:xfrm>
          <a:prstGeom prst="ellipse">
            <a:avLst/>
          </a:prstGeom>
          <a:solidFill>
            <a:srgbClr val="B07600"/>
          </a:solidFill>
          <a:ln w="12700">
            <a:solidFill>
              <a:srgbClr val="B0760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775704" y="1828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6181344" y="3429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07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Legales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6272784" y="393192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Demandas, condenas y sanciones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9518904" y="1828800"/>
            <a:ext cx="1371600" cy="1371600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518904" y="1828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000" dirty="0"/>
          </a:p>
        </p:txBody>
      </p:sp>
      <p:sp>
        <p:nvSpPr>
          <p:cNvPr id="19" name="Text 16"/>
          <p:cNvSpPr txBox="1"/>
          <p:nvPr/>
        </p:nvSpPr>
        <p:spPr>
          <a:xfrm>
            <a:off x="8924544" y="3429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7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Institucionales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9015984" y="393192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costos, pérdida de confianza y riesgo para la habilitación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"/>
          <p:cNvSpPr/>
          <p:nvPr/>
        </p:nvSpPr>
        <p:spPr>
          <a:xfrm>
            <a:off x="0" y="0"/>
            <a:ext cx="5212080" cy="6858000"/>
          </a:xfrm>
          <a:prstGeom prst="rect">
            <a:avLst/>
          </a:prstGeom>
          <a:solidFill>
            <a:srgbClr val="0B3954">
              <a:alpha val="9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914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3A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CRÍTICO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25880"/>
            <a:ext cx="4114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Barreras para cumplir la guía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926080"/>
            <a:ext cx="4114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F3A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Recursos: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urgencias saturadas durante la epidemia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F3A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Capacitación: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que rota y no conoce la guía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F3A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Cultura de seguridad: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decidir por un solo dato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F3A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Liderazgo: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mide la adherencia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008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E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guía no es un papel · 17</a:t>
            </a:r>
            <a:endParaRPr lang="en-US" sz="1000" dirty="0"/>
          </a:p>
        </p:txBody>
      </p:sp>
      <p:sp>
        <p:nvSpPr>
          <p:cNvPr id="7" name="Indicación (borrar antes de exportar)"/>
          <p:cNvSpPr txBox="1"/>
          <p:nvPr/>
        </p:nvSpPr>
        <p:spPr>
          <a:xfrm>
            <a:off x="5852160" y="2926080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C6B73"/>
                </a:solidFill>
              </a:rPr>
              <a:t>Zona transparente: aquí va el video de stock de Clipchamp («busy emergency room»). Este recuadro no se exporta en la imagen OVERLAY.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94944" y="38404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ACCIONES DE MEJORA REALISTAS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94944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Del análisis a la acción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94944" y="1737360"/>
            <a:ext cx="107899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96112" y="1874520"/>
            <a:ext cx="502920" cy="502920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96112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18288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Capacitación en GPC y RIAS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5303520" y="182880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 de la guía de dengue con casos reales para urgencias y consulta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94944" y="2624328"/>
            <a:ext cx="107899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6112" y="2761488"/>
            <a:ext cx="502920" cy="502920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96112" y="2761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600200" y="271576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Estandarización de formatos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5303520" y="2715768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Hoja de egreso con signos de alarma y cita de control en 24 horas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94944" y="3511296"/>
            <a:ext cx="107899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96112" y="3648456"/>
            <a:ext cx="502920" cy="502920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96112" y="36484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600200" y="3602736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Auditorías internas (PAMEC)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0" y="3602736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mensual de historias clínicas de pacientes con dengue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94944" y="4398264"/>
            <a:ext cx="107899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96112" y="4535424"/>
            <a:ext cx="502920" cy="502920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96112" y="45354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600200" y="4489704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Simulacros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303520" y="4489704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Atención del dengue grave y del choque, cada trimestre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694944" y="5285232"/>
            <a:ext cx="107899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96112" y="5422392"/>
            <a:ext cx="502920" cy="502920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96112" y="5422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600200" y="537667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de casos</a:t>
            </a:r>
            <a:endParaRPr lang="en-US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303520" y="5376672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de análisis de toda muerte por dengue, sin buscar culpables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94944" y="38404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SEGUIMIENTO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94944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Indicadores para medir la mejora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94944" y="1783080"/>
            <a:ext cx="34290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25400">
            <a:solidFill>
              <a:srgbClr val="087E8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69264" y="198424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87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Adherencia a la guía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969264" y="244144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Historias que cumplen ÷ historias revisadas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69264" y="3200400"/>
            <a:ext cx="2880360" cy="411480"/>
          </a:xfrm>
          <a:prstGeom prst="roundRect">
            <a:avLst>
              <a:gd name="adj" fmla="val 48889"/>
            </a:avLst>
          </a:prstGeom>
          <a:solidFill>
            <a:srgbClr val="E6F0F3"/>
          </a:solidFill>
          <a:ln w="12700">
            <a:solidFill>
              <a:srgbClr val="E6F0F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69264" y="32004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7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Meta: 90 % o más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79976" y="1783080"/>
            <a:ext cx="34290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25400">
            <a:solidFill>
              <a:srgbClr val="E4572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54296" y="198424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Reconsultas &lt; 72 h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4654296" y="244144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Pacientes con dengue que reconsultan ÷ egresados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654296" y="3200400"/>
            <a:ext cx="2880360" cy="411480"/>
          </a:xfrm>
          <a:prstGeom prst="roundRect">
            <a:avLst>
              <a:gd name="adj" fmla="val 48889"/>
            </a:avLst>
          </a:prstGeom>
          <a:solidFill>
            <a:srgbClr val="E6F0F3"/>
          </a:solidFill>
          <a:ln w="12700">
            <a:solidFill>
              <a:srgbClr val="E6F0F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654296" y="32004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Meta: reducir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065008" y="1783080"/>
            <a:ext cx="34290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25400">
            <a:solidFill>
              <a:srgbClr val="0B395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39328" y="198424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3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Eventos adversos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8339328" y="244144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Eventos reportados y analizados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339328" y="3200400"/>
            <a:ext cx="2880360" cy="411480"/>
          </a:xfrm>
          <a:prstGeom prst="roundRect">
            <a:avLst>
              <a:gd name="adj" fmla="val 48889"/>
            </a:avLst>
          </a:prstGeom>
          <a:solidFill>
            <a:srgbClr val="E6F0F3"/>
          </a:solidFill>
          <a:ln w="12700">
            <a:solidFill>
              <a:srgbClr val="E6F0F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339328" y="32004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Meta: 100 % analizados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94944" y="4023360"/>
            <a:ext cx="34290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25400">
            <a:solidFill>
              <a:srgbClr val="B0760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69264" y="422452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07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de atención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969264" y="468172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Minutos del triage a la valoración médica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969264" y="5440680"/>
            <a:ext cx="2880360" cy="411480"/>
          </a:xfrm>
          <a:prstGeom prst="roundRect">
            <a:avLst>
              <a:gd name="adj" fmla="val 48889"/>
            </a:avLst>
          </a:prstGeom>
          <a:solidFill>
            <a:srgbClr val="E6F0F3"/>
          </a:solidFill>
          <a:ln w="12700">
            <a:solidFill>
              <a:srgbClr val="E6F0F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69264" y="54406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07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Meta: reducir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379976" y="4023360"/>
            <a:ext cx="34290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254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654296" y="422452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Letalidad por dengue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4654296" y="468172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Muertes por dengue ÷ casos de dengue grave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654296" y="5440680"/>
            <a:ext cx="2880360" cy="411480"/>
          </a:xfrm>
          <a:prstGeom prst="roundRect">
            <a:avLst>
              <a:gd name="adj" fmla="val 48889"/>
            </a:avLst>
          </a:prstGeom>
          <a:solidFill>
            <a:srgbClr val="E6F0F3"/>
          </a:solidFill>
          <a:ln w="12700">
            <a:solidFill>
              <a:srgbClr val="E6F0F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654296" y="54406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Meta: menos de 1 %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94944" y="38404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POSTURA PERSONAL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94944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¿Las guías limitan la autonomía médica?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480560" y="2743200"/>
            <a:ext cx="3200400" cy="0"/>
          </a:xfrm>
          <a:prstGeom prst="line">
            <a:avLst/>
          </a:prstGeom>
          <a:noFill/>
          <a:ln w="63500">
            <a:solidFill>
              <a:srgbClr val="0B395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760720" y="2788920"/>
            <a:ext cx="640080" cy="685800"/>
          </a:xfrm>
          <a:prstGeom prst="triangle">
            <a:avLst/>
          </a:prstGeom>
          <a:solidFill>
            <a:srgbClr val="0B3954"/>
          </a:solidFill>
          <a:ln w="12700">
            <a:solidFill>
              <a:srgbClr val="0B395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94944" y="1691640"/>
            <a:ext cx="3803904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87E8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69264" y="1874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87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APORTA LA GUÍA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969264" y="233172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la variabilidad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basa en evidencia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Protege al paciente y al profesional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680960" y="1691640"/>
            <a:ext cx="3803904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E4572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55280" y="1874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LÍMITE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955280" y="233172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reemplaza el juicio clínico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paciente es distinto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Debe actualizarse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94944" y="4251960"/>
            <a:ext cx="10789920" cy="1783080"/>
          </a:xfrm>
          <a:prstGeom prst="roundRect">
            <a:avLst>
              <a:gd name="adj" fmla="val 7692"/>
            </a:avLst>
          </a:prstGeom>
          <a:solidFill>
            <a:srgbClr val="0B3954"/>
          </a:solidFill>
          <a:ln w="12700">
            <a:solidFill>
              <a:srgbClr val="0B395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4400" y="448056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 postura: la guía es el piso, no el techo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51663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E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Apartarse de ella es posible, pero debe justificarse y quedar escrito en la historia clínica.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94944" y="38404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PREGUNTA ORIENTADORA 1 · IMPORTANCIA SEGÚN EL MARCO LEGAL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94944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¿Por qué importa adherirse a las guías?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1792224" y="1783080"/>
            <a:ext cx="1234440" cy="1234440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792224" y="178308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694944" y="32004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7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Protege al paciente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77824" y="37033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errores y eventos adversos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77256" y="1783080"/>
            <a:ext cx="1234440" cy="1234440"/>
          </a:xfrm>
          <a:prstGeom prst="ellipse">
            <a:avLst/>
          </a:prstGeom>
          <a:solidFill>
            <a:srgbClr val="0B3954"/>
          </a:solidFill>
          <a:ln w="12700">
            <a:solidFill>
              <a:srgbClr val="0B395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77256" y="178308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4379976" y="32004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Protege al profesional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4562856" y="37033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Demuestra que actuó con diligencia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9162288" y="1783080"/>
            <a:ext cx="1234440" cy="12344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62288" y="178308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8065008" y="32004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Protege a la institución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8247888" y="37033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Cumple el sistema de garantía de calidad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94944" y="5074920"/>
            <a:ext cx="10789920" cy="777240"/>
          </a:xfrm>
          <a:prstGeom prst="roundRect">
            <a:avLst>
              <a:gd name="adj" fmla="val 14118"/>
            </a:avLst>
          </a:prstGeom>
          <a:solidFill>
            <a:srgbClr val="E6F0F3"/>
          </a:solidFill>
          <a:ln w="12700">
            <a:solidFill>
              <a:srgbClr val="E6F0F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14400" y="507492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Adherirse a las guías es una forma concreta de seguridad del paciente.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"/>
          <p:cNvSpPr/>
          <p:nvPr/>
        </p:nvSpPr>
        <p:spPr>
          <a:xfrm>
            <a:off x="0" y="0"/>
            <a:ext cx="5212080" cy="6858000"/>
          </a:xfrm>
          <a:prstGeom prst="rect">
            <a:avLst/>
          </a:prstGeom>
          <a:solidFill>
            <a:srgbClr val="0B3954">
              <a:alpha val="9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914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3A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REFLEXIÓN FINAL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25880"/>
            <a:ext cx="4114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guía bien aplicada es una decisión a tiempo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008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E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guía no es un papel · 22</a:t>
            </a:r>
            <a:endParaRPr lang="en-US" sz="1000" dirty="0"/>
          </a:p>
        </p:txBody>
      </p:sp>
      <p:sp>
        <p:nvSpPr>
          <p:cNvPr id="6" name="Indicación (borrar antes de exportar)"/>
          <p:cNvSpPr txBox="1"/>
          <p:nvPr/>
        </p:nvSpPr>
        <p:spPr>
          <a:xfrm>
            <a:off x="5852160" y="2926080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C6B73"/>
                </a:solidFill>
              </a:rPr>
              <a:t>Zona transparente: aquí va el video de stock de Clipchamp («doctor child patient»). Este recuadro no se exporta en la imagen OVERLAY.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94944" y="38404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FUENTES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94944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Referencias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94944" y="1691640"/>
            <a:ext cx="107899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Arias Capote, J. C., Hidalgo Mesa, C. J. y Hidalgo Cepero, H. E. (2019). Utilidad de las guías, protocolos y algoritmos en la práctica clínica. Revista Cubana de Medicina, 58(1).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Torres-Tamayo, M., Zurita-Cruz, J. N., Aguilar-Herrera, B. E. et al. (2020). Metodología para la elaboración de la guía de práctica clínica. Boletín Médico del Hospital Infantil de México.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Ministerio de Salud y Protección Social. Guía para la atención clínica integral del paciente con dengue; algoritmo clínico (2019). OPS (2020). Algoritmos para el manejo clínico de los casos de dengue.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Congreso de Colombia. Ley 23 de 1981; Ley 599 de 2000; Ley 911 de 2004; Ley 1438 de 2011; Ley 1616 de 2013; Ley 1751 de 2015; Ley 1949 de 2019; Ley 2244 de 2022.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Ministerio de Salud y Protección Social. Res. 1995 de 1999; Res. 459 de 2012; Decreto 780 de 2016; Res. 3280 de 2018; Res. 3100 de 2019; Res. 2350 de 2020; Decreto 681 de 2022; Res. 465 de 2025; Res. 115 de 2026.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Tiempo, Vanguardia e Infobae (2025, noviembre); El Colombiano (2026, febrero). Notas periodísticas sobre los casos citados.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94944" y="38404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VIDEO · SEMANA [N.º]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94944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Créditos</a:t>
            </a:r>
            <a:endParaRPr lang="en-US" sz="3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" y="1737360"/>
          <a:ext cx="1078992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68580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87E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Investigación, guion, voz y edición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Yina Vanessa Cadena Mantilla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87E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Curso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[Nombre del curso]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87E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Docente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[Nombre del docente]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87E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Imágenes y videos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Diseño propio y biblioteca de stock de Clipchamp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87E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Música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Producción propia / biblioteca de Clipchamp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87E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Edición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Clipchamp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87E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Institución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Corporación Universitaria Minuto de Dios – UNIMINUTO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 guia no es un papel">
  <a:themeElements>
    <a:clrScheme name="La guia no es un papel">
      <a:dk1>
        <a:srgbClr val="1C2833"/>
      </a:dk1>
      <a:lt1>
        <a:srgbClr val="FFFFFF"/>
      </a:lt1>
      <a:dk2>
        <a:srgbClr val="0B3954"/>
      </a:dk2>
      <a:lt2>
        <a:srgbClr val="F6F8FA"/>
      </a:lt2>
      <a:accent1>
        <a:srgbClr val="087E8B"/>
      </a:accent1>
      <a:accent2>
        <a:srgbClr val="E4572E"/>
      </a:accent2>
      <a:accent3>
        <a:srgbClr val="F3A712"/>
      </a:accent3>
      <a:accent4>
        <a:srgbClr val="2E8B57"/>
      </a:accent4>
      <a:accent5>
        <a:srgbClr val="5C6B73"/>
      </a:accent5>
      <a:accent6>
        <a:srgbClr val="B07600"/>
      </a:accent6>
      <a:hlink>
        <a:srgbClr val="087E8B"/>
      </a:hlink>
      <a:folHlink>
        <a:srgbClr val="0B3954"/>
      </a:folHlink>
    </a:clrScheme>
    <a:fontScheme name="La guia no es un pape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guía no es un papel</dc:title>
  <dc:subject>PptxGenJS Presentation</dc:subject>
  <dc:creator>Yina Vanessa Cadena Mantilla</dc:creator>
  <cp:lastModifiedBy>Yina Vanessa Cadena Mantilla</cp:lastModifiedBy>
  <cp:revision>1</cp:revision>
  <dcterms:created xsi:type="dcterms:W3CDTF">2026-10-16T16:09:56Z</dcterms:created>
  <dcterms:modified xsi:type="dcterms:W3CDTF">2026-10-16T16:09:56Z</dcterms:modified>
</cp:coreProperties>
</file>