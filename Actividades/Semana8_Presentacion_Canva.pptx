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de108cc6-857a-53f7-1a4c-6af9bf52eb3a}">
          <p14:sldIdLst>
            <p14:sldId id="256"/>
            <p14:sldId id="257"/>
          </p14:sldIdLst>
        </p14:section>
        <p14:section name="Conceptos" id="{b6172d22-9d9e-468b-373e-c5b59c5f4172}">
          <p14:sldIdLst>
            <p14:sldId id="258"/>
            <p14:sldId id="259"/>
          </p14:sldIdLst>
        </p14:section>
        <p14:section name="Caso 1: comunidad rural" id="{df6d97db-37d2-72d8-9721-5e28df5bccc9}">
          <p14:sldIdLst>
            <p14:sldId id="260"/>
            <p14:sldId id="261"/>
            <p14:sldId id="262"/>
            <p14:sldId id="263"/>
            <p14:sldId id="264"/>
          </p14:sldIdLst>
        </p14:section>
        <p14:section name="Caso 2: universitarios" id="{38c2834f-2b7c-32bb-5b08-845d2af3ced2}">
          <p14:sldIdLst>
            <p14:sldId id="265"/>
            <p14:sldId id="266"/>
            <p14:sldId id="267"/>
            <p14:sldId id="268"/>
            <p14:sldId id="269"/>
          </p14:sldIdLst>
        </p14:section>
        <p14:section name="Caso 3: adultos mayores" id="{247c9fca-4f77-b832-06c1-ea9b2de8d7a9}">
          <p14:sldIdLst>
            <p14:sldId id="270"/>
            <p14:sldId id="271"/>
            <p14:sldId id="272"/>
            <p14:sldId id="273"/>
            <p14:sldId id="274"/>
          </p14:sldIdLst>
        </p14:section>
        <p14:section name="Beneficios" id="{6badf3b3-713d-d347-9007-23a54b454afa}">
          <p14:sldIdLst>
            <p14:sldId id="275"/>
            <p14:sldId id="276"/>
          </p14:sldIdLst>
        </p14:section>
        <p14:section name="Cierre" id="{23b6877d-be52-1425-e63d-1b0a74388e9d}">
          <p14:sldIdLst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1. Portada (0:00 – 0:10, 10 s)
Música: Apertura cálida
VOZ EN OFF:
(Sin voz. Solo música de apertura.)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2. Introducción (0:10 – 0:30, 20 s)
Música: Suave
VOZ EN OFF:
Hola, soy Yina Vanessa Cadena Mantilla, estudiante de la Especialización en Gerencia y Auditoría de la Calidad en Salud de UNIMINUTO. En este video presento tres propuestas de prevención para una comunidad rural agrícola, estudiantes universitarios y adultos mayores de un barrio periférico.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3. Niveles de prevención (0:30 – 0:50, 20 s)
Música: Suave
VOZ EN OFF:
Promover la salud es dar a las personas herramientas para cuidarse. La prevención tiene tres niveles: la primaria evita que la enfermedad aparezca; la secundaria la detecta a tiempo, con tamizajes y controles; y la terciaria evita complicaciones en quien ya está enfermo.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4. Marco normativo (0:50 – 1:10, 20 s)
Música: Suave
VOZ EN OFF:
Estas propuestas se apoyan en normas vigentes: la Ley 1751 de 2015 reconoce la salud como derecho fundamental; la Resolución 3280 de 2018 adopta la Ruta de Promoción y Mantenimiento; y la Resolución 1597 de 2025 regula hoy el Plan de Intervenciones Colectivas.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5. Caso 1: población y necesidades (1:10 – 1:35, 25 s)
Música: Acústica de campo
VOZ EN OFF:
El primer caso es una vereda agrícola, con familias campesinas de varias generaciones: adultos de 30 a 50 años y niños que acompañan las labores del campo. En salud, consultan poco de forma preventiva; en nutrición, manipulan los alimentos sin higiene; en su entorno, el agua no se trata y las letrinas son improvisadas; y en prevención, fumigan sin protección.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6. Caso 1: riesgos (1:35 – 1:55, 20 s)
Música: Acústica de campo
VOZ EN OFF:
Por eso aparecen intoxicaciones leves, enfermedades de la piel y respiratorias, diarrea en los niños y lesiones articulares. Es un riesgo ambiental y ocupacional, de tipo colectivo, porque toda la vereda comparte la misma agua y la misma exposición. Su prioridad es 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7. Caso 1: la actividad (1:55 – 2:15, 20 s)
Música: Acústica de campo
VOZ EN OFF:
Propongo la jornada “Finca sana, familia sana”, de prevención primaria. Su objetivo es reducir la exposición al agua no segura y a los agroquímicos. Lo novedoso es que se hace en la misma vereda, sin interrumpir el trabajo, y con juegos entre madres e hijos.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8. Caso 1: ¿cómo se hace? (2:15 – 2:35, 20 s)
Música: Acústica de campo
VOZ EN OFF:
La jornada tiene tres estaciones: agua segura, agroquímicos sin riesgo y cuerpo sano. La atienden el técnico de saneamiento, enfermería y un promotor de salud, junto con la Secretaría de Salud, la ESE, la UMATA y la escuela. Se mide cuántos hogares tratan el agua.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9. Caso 1: respaldo normativo y viabilidad (2:35 – 2:55, 20 s)
Música: Acústica de campo
VOZ EN OFF:
Se financia con el Plan de Intervenciones Colectivas y se apoya en el Código Sanitario y en las normas de calidad del agua. Es viable porque es de bajo costo, pero tiene un reto: la Secretaría de Salud debe incluirla en su plan territorial para que haya recursos.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10. Caso 2: población y necesidades (2:55 – 3:20, 25 s)
Música: Dinámica y juvenil
VOZ EN OFF:
El segundo caso son estudiantes universitarios de 18 a 25 años que vienen de otras regiones y viven en residencias o viviendas compartidas. En salud, no tienen hábitos de autocuidado; en nutrición, comen comida rápida y toman mucho café y bebidas energéticas; en su entorno, pasan horas frente a pantallas; y en prevención, se mueven poco y duermen 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11. Caso 2: riesgos (3:20 – 3:40, 20 s)
Música: Dinámica y juvenil
VOZ EN OFF:
Esto genera sobrepeso, sedentarismo, problemas posturales, ansiedad, insomnio y, con los años, riesgo cardiovascular. Es un riesgo por estilos de vida y psicosocial; es individual, pero se repite en muchos estudiantes. Por eso su prioridad es media-alta.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12. Caso 2: la actividad (3:40 – 4:00, 20 s)
Música: Dinámica y juvenil
VOZ EN OFF:
Propongo la campaña “Recarga tu bienestar”, de prevención primaria y secundaria. Busca que los estudiantes cuiden su alimentación, su actividad física, su descanso y su salud mental. Lo innovador es que la feria se hace antes de los parciales y continúa con retos en redes sociales.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13. Caso 2: ¿cómo se hace? (4:00 – 4:20, 20 s)
Música: Dinámica y juvenil
VOZ EN OFF:
La feria tiene tres estaciones: tamizaje, comida rápida pero sana, y muévete y desconéctate. La atienden enfermería, nutrición, psicología y deporte, con Bienestar Universitario y la EPS. Quien tenga un riesgo se remite a atención, y se mide cuántos estudiantes fueron tamizados.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14. Caso 2: respaldo normativo y viabilidad (4:20 – 4:40, 20 s)
Música: Dinámica y juvenil
VOZ EN OFF:
La respaldan la Resolución 3280 en el momento de juventud, las leyes de obesidad y de etiquetado frontal, la Ley de salud mental y el Decreto 729 de 2025. Es viable porque Bienestar Universitario tiene presupuesto propio; el reto es lograr que los estudiantes participen.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15. Caso 3: población y necesidades (4:40 – 5:05, 25 s)
Música: Cálida (piano)
VOZ EN OFF:
El tercer caso son adultos mayores de un barrio periférico, con bajos ingresos, y muchos viven solos. En salud, tienen hipertensión y diabetes y no siguen bien sus tratamientos; en nutrición, comen poca proteína, fruta y verdura; en su entorno, las casas tienen pisos resbalosos y poca luz; y en prevención, casi no asisten a los encuentros comunitarios.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16. Caso 3: riesgos (5:05 – 5:25, 20 s)
Música: Cálida (piano)
VOZ EN OFF:
Los riesgos son las complicaciones de la hipertensión y la diabetes, la pérdida de masa muscular, las caídas y la soledad. Es un riesgo cardiovascular, de caídas y psicosocial. Su prioridad es alta, porque una caída o un infarto pueden quitarle la autonomía a quien vive solo.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17. Caso 3: la actividad (5:25 – 5:45, 20 s)
Música: Cálida (piano)
VOZ EN OFF:
Propongo el club “Envejecer con salud”, de prevención secundaria y terciaria, para personas de 60 años o más y sus cuidadores. Su objetivo es controlar las enfermedades crónicas, prevenir caídas y reducir la soledad. Lo innovador es el “vecino acompañante” y que los mayores enseñan sus oficios.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18. Caso 3: ¿cómo se hace? (5:45 – 6:05, 20 s)
Música: Cálida (piano)
VOZ EN OFF:
Cada semana se toma la presión y la glucosa, se hacen ejercicios de fuerza y equilibrio y talleres de alimentación económica. Además, se visitan las casas para revisar riesgos de caídas. Participan enfermería, medicina, nutrición y trabajo social, con el Centro Vida, la ESE y la 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19. Caso 3: respaldo normativo y viabilidad (6:05 – 6:25, 20 s)
Música: Cálida (piano)
VOZ EN OFF:
La respaldan la Resolución 3280 en el momento de vejez, la Ley 1251, la Ley 1276, que crea los Centros Vida, y el Decreto 681 de 2022. Se financia con la estampilla del adulto mayor; el reto es llegar a quienes no pueden salir de casa.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20. Beneficios para todos (6:25 – 6:45, 20 s)
Música: Suave
VOZ EN OFF:
¿Cuáles son los beneficios para todos? Prevenir significa menos enfermedades, menos gastos y más calidad de vida. Tratar tarde significa hospitalizaciones, complicaciones, gasto de bolsillo y pérdida de autonomía. Prevenir siempre cuesta menos que tratar una enfermedad avanzada.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21. Beneficios del sistema (6:45 – 7:05, 20 s)
Música: Suave
VOZ EN OFF:
Además, el sistema de salud colombiano garantiza la Ruta de Promoción y Mantenimiento, servicios de promoción y prevención sin copagos ni cuotas moderadoras, acciones gratuitas del Plan de Intervenciones Colectivas y vacunación gratuita para toda la población.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22. Cierre (7:05 – 7:25, 20 s)
Música: Cálida, en crescendo
VOZ EN OFF:
Cada población necesita una respuesta distinta. Cuando la comunidad, el sistema de salud y el Estado trabajan juntos, la prevención llega a donde vive la gente. Prevenir es cuidar, y cuidar es tarea de todos. Gracias.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23. Referencias (7:25 – 7:35, 10 s)
Música: Suave
VOZ EN OFF:
(Sin voz.)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24. Créditos (7:35 – 7:45, 10 s)
Música: Se desvanece
VOZ EN OFF:
(Sin voz.)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49377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UNIMINUTO"/>
          <p:cNvSpPr/>
          <p:nvPr/>
        </p:nvSpPr>
        <p:spPr>
          <a:xfrm>
            <a:off x="548640" y="164592"/>
            <a:ext cx="17373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A7D8"/>
            </a:solidFill>
            <a:prstDash val="dash"/>
          </a:ln>
        </p:spPr>
      </p:sp>
      <p:sp>
        <p:nvSpPr>
          <p:cNvPr id="3" name="Reemplazar por el logo"/>
          <p:cNvSpPr txBox="1"/>
          <p:nvPr/>
        </p:nvSpPr>
        <p:spPr>
          <a:xfrm>
            <a:off x="548640" y="16459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1F47"/>
                </a:solidFill>
              </a:rPr>
              <a:t>LOGO UNIMINUTO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</a:rPr>
              <a:t>VIDEO · SEMANA 8</a:t>
            </a:r>
            <a:endParaRPr lang="en-US" sz="1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109728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Prevenir es cuidar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9A825"/>
                </a:solidFill>
              </a:rPr>
              <a:t>Tema: </a:t>
            </a:r>
            <a:pPr indent="0" marL="0">
              <a:buNone/>
            </a:pPr>
            <a:r>
              <a:rPr lang="en-US" sz="1600" dirty="0">
                <a:solidFill>
                  <a:srgbClr val="E1BEE7"/>
                </a:solidFill>
              </a:rPr>
              <a:t>una mirada hacia la prevención de los individuos y las poblaciones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256032" cy="2560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971800"/>
            <a:ext cx="256032" cy="256032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2971800"/>
            <a:ext cx="256032" cy="256032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4290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</a:rPr>
              <a:t>Yina Vanessa Cadena Mantilla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</a:rPr>
              <a:t>Curso: [Nombre del curso]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</a:rPr>
              <a:t>Especialización en Gerencia y Auditoría de la Calidad en Salud · UNIMINUTO</a:t>
            </a:r>
            <a:endParaRPr lang="en-US" sz="1200" dirty="0"/>
          </a:p>
        </p:txBody>
      </p:sp>
      <p:sp>
        <p:nvSpPr>
          <p:cNvPr id="11" name="Recuadro de imagen"/>
          <p:cNvSpPr/>
          <p:nvPr/>
        </p:nvSpPr>
        <p:spPr>
          <a:xfrm>
            <a:off x="5852160" y="502920"/>
            <a:ext cx="2834640" cy="4114800"/>
          </a:xfrm>
          <a:prstGeom prst="rect">
            <a:avLst/>
          </a:prstGeom>
          <a:solidFill>
            <a:srgbClr val="4A2E58"/>
          </a:solidFill>
          <a:ln w="15875">
            <a:solidFill>
              <a:srgbClr val="C9A7D8"/>
            </a:solidFill>
            <a:prstDash val="dash"/>
          </a:ln>
        </p:spPr>
      </p:sp>
      <p:sp>
        <p:nvSpPr>
          <p:cNvPr id="12" name="Indicación de imagen"/>
          <p:cNvSpPr txBox="1"/>
          <p:nvPr/>
        </p:nvSpPr>
        <p:spPr>
          <a:xfrm>
            <a:off x="5961888" y="612648"/>
            <a:ext cx="2615184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A825"/>
                </a:solidFill>
              </a:rPr>
              <a:t>IMAGEN SUGERIDA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Foto vertical de una familia o comunidad con un profesional de salud (Pexels: “community health worker”, “family health”). En Canva, con un filtro morado suave.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1F47"/>
                </a:solidFill>
              </a:rPr>
              <a:t>TRES CONTEXTOS, TRES PROPUESTAS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¿De qué trata este video?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25880" y="1280160"/>
            <a:ext cx="868680" cy="8686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25880" y="1280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402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32"/>
                </a:solidFill>
              </a:rPr>
              <a:t>Comunidad rural agrícola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0" y="1280160"/>
            <a:ext cx="868680" cy="86868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0" y="1280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22402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1B9A"/>
                </a:solidFill>
              </a:rPr>
              <a:t>Estudiantes universitarios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903720" y="1280160"/>
            <a:ext cx="868680" cy="8686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03720" y="1280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22402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5100"/>
                </a:solidFill>
              </a:rPr>
              <a:t>Adultos mayores en barrio periférico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5120640" cy="1463040"/>
          </a:xfrm>
          <a:prstGeom prst="roundRect">
            <a:avLst>
              <a:gd name="adj" fmla="val 6250"/>
            </a:avLst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2004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B1F47"/>
                </a:solidFill>
              </a:rPr>
              <a:t>Dirigido a: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comunidad en general y sus líderes, y a los equipos de salud, bienestar universitario y secretarías de salud que pueden implementar las propuestas.</a:t>
            </a:r>
            <a:endParaRPr lang="en-US" sz="1400" dirty="0"/>
          </a:p>
        </p:txBody>
      </p:sp>
      <p:pic>
        <p:nvPicPr>
          <p:cNvPr id="15" name="Image 0" descr="Campesino colombiano y su gan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3063240"/>
            <a:ext cx="914400" cy="146304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852160" y="4306824"/>
            <a:ext cx="914400" cy="219456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925312" y="4306824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Foto: Julianruizp · CC BY-SA 4.0 · Wikimedia Commons</a:t>
            </a:r>
            <a:endParaRPr lang="en-US" sz="750" dirty="0"/>
          </a:p>
        </p:txBody>
      </p:sp>
      <p:pic>
        <p:nvPicPr>
          <p:cNvPr id="18" name="Image 1" descr="Sias Library - Students Studying 2017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3063240"/>
            <a:ext cx="914400" cy="146304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6812280" y="4306824"/>
            <a:ext cx="914400" cy="219456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6885432" y="4306824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Foto: Gary Todd · CC0 · Wikimedia Commons</a:t>
            </a:r>
            <a:endParaRPr lang="en-US" sz="750" dirty="0"/>
          </a:p>
        </p:txBody>
      </p:sp>
      <p:sp>
        <p:nvSpPr>
          <p:cNvPr id="21" name="Recuadro de imagen"/>
          <p:cNvSpPr/>
          <p:nvPr/>
        </p:nvSpPr>
        <p:spPr>
          <a:xfrm>
            <a:off x="7772400" y="3063240"/>
            <a:ext cx="914400" cy="1463040"/>
          </a:xfrm>
          <a:prstGeom prst="rect">
            <a:avLst/>
          </a:prstGeom>
          <a:solidFill>
            <a:srgbClr val="F7F7F7"/>
          </a:solidFill>
          <a:ln w="15875">
            <a:solidFill>
              <a:srgbClr val="9E9E9E"/>
            </a:solidFill>
            <a:prstDash val="dash"/>
          </a:ln>
        </p:spPr>
      </p:sp>
      <p:sp>
        <p:nvSpPr>
          <p:cNvPr id="22" name="Indicación de imagen"/>
          <p:cNvSpPr txBox="1"/>
          <p:nvPr/>
        </p:nvSpPr>
        <p:spPr>
          <a:xfrm>
            <a:off x="7882128" y="3172968"/>
            <a:ext cx="69494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A1B9A"/>
                </a:solidFill>
              </a:rPr>
              <a:t>IMAGEN SUGERIDA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63238"/>
                </a:solidFill>
              </a:rPr>
              <a:t>Adulto mayor (Pexels: “elderly”)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1F47"/>
                </a:solidFill>
              </a:rPr>
              <a:t>CONCEPTOS CLAVE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Los tres niveles de prevención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926080"/>
            <a:ext cx="1874520" cy="1600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303580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Primaria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4290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Evitar que la enfermedad llegue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9319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Educación, vacunación, hábitos saludables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3160" y="2194560"/>
            <a:ext cx="1874520" cy="23317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32888" y="230428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Secundaria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532888" y="2697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Detectarla a tiempo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532888" y="3200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Tamizajes, controles y diagnóstico temprano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1463040"/>
            <a:ext cx="1874520" cy="30632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98848" y="157276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Terciaria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498848" y="19659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Evitar complicaciones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498848" y="24688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Control de enfermedades crónicas y rehabilitación</a:t>
            </a:r>
            <a:endParaRPr lang="en-US" sz="1100" dirty="0"/>
          </a:p>
        </p:txBody>
      </p:sp>
      <p:pic>
        <p:nvPicPr>
          <p:cNvPr id="16" name="Image 0" descr="Nurse checks blood press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280160"/>
            <a:ext cx="2194560" cy="32004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6492240" y="4261104"/>
            <a:ext cx="2194560" cy="219456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565392" y="4261104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Foto: Linda Bartlett (Photographer) · Public domain · Wikimedia Commons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1F47"/>
                </a:solidFill>
              </a:rPr>
              <a:t>MARCO NORMATIVO VIGENTE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Las normas que respaldan la prevención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8046720" cy="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33172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554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2015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34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Ley 1751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546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D8B"/>
                </a:solidFill>
              </a:rPr>
              <a:t>Derecho fundamental a la salud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640" y="2331720"/>
            <a:ext cx="365760" cy="36576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31720" y="1554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1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2018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331720" y="2834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Res. 3280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31546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D8B"/>
                </a:solidFill>
              </a:rPr>
              <a:t>Ruta de Promoción y Mantenimiento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2331720"/>
            <a:ext cx="365760" cy="36576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0" y="1554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2022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2834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Res. 1035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0" y="31546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D8B"/>
                </a:solidFill>
              </a:rPr>
              <a:t>Plan Decenal de Salud Pública 2022-2031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2331720"/>
            <a:ext cx="365760" cy="36576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97880" y="1554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8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2834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Res. 100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897880" y="31546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D8B"/>
                </a:solidFill>
              </a:rPr>
              <a:t>Planeación Integral para la Salud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83880" y="2331720"/>
            <a:ext cx="365760" cy="365760"/>
          </a:xfrm>
          <a:prstGeom prst="ellipse">
            <a:avLst/>
          </a:prstGeom>
          <a:solidFill>
            <a:srgbClr val="3B1F47"/>
          </a:solidFill>
          <a:ln w="12700">
            <a:solidFill>
              <a:srgbClr val="3B1F4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80960" y="1554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0" y="2834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Res. 1597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680960" y="31546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D8B"/>
                </a:solidFill>
              </a:rPr>
              <a:t>Plan de Intervenciones Colectivas (PIC)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251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07D8B"/>
                </a:solidFill>
              </a:rPr>
              <a:t>La Resolución 1597 de 2025 reemplazó a la Resolución 518 de 2015.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0" y="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CASO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32"/>
                </a:solidFill>
              </a:rPr>
              <a:t>POBLACIÓN Y NECESIDADES</a:t>
            </a:r>
            <a:endParaRPr lang="en-US" sz="1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Una vereda que vive del campo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572000" cy="685800"/>
          </a:xfrm>
          <a:prstGeom prst="rect">
            <a:avLst/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73152" cy="685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23444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Población: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Familias campesinas de varias generaciones: adultos de 30 a 50 años y niños escolares que acompañan las labores del campo.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2240280" cy="1161288"/>
          </a:xfrm>
          <a:prstGeom prst="rect">
            <a:avLst/>
          </a:prstGeom>
          <a:solidFill>
            <a:srgbClr val="FFFFFF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057400"/>
            <a:ext cx="2240280" cy="32918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05740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Salud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459736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Escasa consulta preventiva y subregistro de eventos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88920" y="2057400"/>
            <a:ext cx="2240280" cy="1161288"/>
          </a:xfrm>
          <a:prstGeom prst="rect">
            <a:avLst/>
          </a:prstGeom>
          <a:solidFill>
            <a:srgbClr val="FFFFFF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88920" y="2057400"/>
            <a:ext cx="2240280" cy="32918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880360" y="205740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Nutrición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880360" y="2459736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Alimentos manipulados sin condiciones de higiene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310128"/>
            <a:ext cx="2240280" cy="1161288"/>
          </a:xfrm>
          <a:prstGeom prst="rect">
            <a:avLst/>
          </a:prstGeom>
          <a:solidFill>
            <a:srgbClr val="FFFFFF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310128"/>
            <a:ext cx="2240280" cy="32918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31012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Higiene y entorno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712464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Agua sin tratar, letrinas improvisadas y residuos sin recoger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88920" y="3310128"/>
            <a:ext cx="2240280" cy="1161288"/>
          </a:xfrm>
          <a:prstGeom prst="rect">
            <a:avLst/>
          </a:prstGeom>
          <a:solidFill>
            <a:srgbClr val="FFFFFF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88920" y="3310128"/>
            <a:ext cx="2240280" cy="32918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880360" y="331012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Prevención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880360" y="3712464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Fumigan sin protección y no conocen el cuidado articular</a:t>
            </a:r>
            <a:endParaRPr lang="en-US" sz="1150" dirty="0"/>
          </a:p>
        </p:txBody>
      </p:sp>
      <p:pic>
        <p:nvPicPr>
          <p:cNvPr id="25" name="Image 0" descr="Sweet potato farmers in Peru with pesticide spray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1234440"/>
            <a:ext cx="3474720" cy="329184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5212080" y="4306824"/>
            <a:ext cx="3474720" cy="219456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285232" y="4306824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Foto: JIRCAS · CC BY 2.0 · Wikimedia Commons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0" y="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CASO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32"/>
                </a:solidFill>
              </a:rPr>
              <a:t>RIESGOS Y ENFERMEDADES PREVALENTES</a:t>
            </a:r>
            <a:endParaRPr lang="en-US" sz="1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¿Qué pone en riesgo su salud?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5F3F7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32588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Intoxicaciones leves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856232"/>
            <a:ext cx="1517904" cy="29260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856232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Químico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31720" y="123444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5F3F7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41448" y="132588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Enfermedades de la piel y respiratorias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41448" y="1856232"/>
            <a:ext cx="1517904" cy="29260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41448" y="1856232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Químico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06240" y="123444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5F3F7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15968" y="132588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Diarrea en niños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15968" y="1856232"/>
            <a:ext cx="1517904" cy="29260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15968" y="1856232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Biológico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33172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5F3F7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6928" y="242316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Lesiones articulares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2953512"/>
            <a:ext cx="1517904" cy="29260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2953512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Ergonómico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331720" y="233172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5F3F7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441448" y="242316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Sedentarismo en mujeres y niños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441448" y="2953512"/>
            <a:ext cx="1517904" cy="29260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441448" y="2953512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Estilo de vida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06240" y="233172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5F3F7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315968" y="242316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Poca consulta preventiva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15968" y="2953512"/>
            <a:ext cx="1517904" cy="29260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315968" y="2953512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Acceso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3364992"/>
            <a:ext cx="5532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E7D32"/>
                </a:solidFill>
              </a:rPr>
              <a:t>¿Por qué? Toda la vereda comparte la misma agua y la misma exposición a los agroquímicos: el riesgo es colectivo y la respuesta debe ser comunitaria.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023360"/>
            <a:ext cx="5532120" cy="548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4360" y="40233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Clasificación: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Riesgo ambiental y ocupacional · colectivo · prioridad ALTA</a:t>
            </a:r>
            <a:endParaRPr lang="en-US" sz="1300" dirty="0"/>
          </a:p>
        </p:txBody>
      </p:sp>
      <p:pic>
        <p:nvPicPr>
          <p:cNvPr id="33" name="Image 0" descr="A farmer fetching water in a muddy pond to mix spraying chemical (herbicide) 0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280160"/>
            <a:ext cx="2468880" cy="3291840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6217920" y="4352544"/>
            <a:ext cx="2468880" cy="219456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6291072" y="4352544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Foto: Danjuma Anthony · CC BY-SA 4.0 · Wikimedia Commons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0" y="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CASO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32"/>
                </a:solidFill>
              </a:rPr>
              <a:t>LA ACTIVIDAD PROPUESTA</a:t>
            </a:r>
            <a:endParaRPr lang="en-US" sz="1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“Finca sana, familia sana”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572000" cy="749808"/>
          </a:xfrm>
          <a:prstGeom prst="rect">
            <a:avLst/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1417320" cy="7498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234440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Nivel de prevención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1234440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Primaria (con canalización secundaria)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4572000" cy="749808"/>
          </a:xfrm>
          <a:prstGeom prst="rect">
            <a:avLst/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057400"/>
            <a:ext cx="1417320" cy="7498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057400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Población objetivo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2057400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Familias de la vereda: agricultores, mujeres y niños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4572000" cy="749808"/>
          </a:xfrm>
          <a:prstGeom prst="rect">
            <a:avLst/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880360"/>
            <a:ext cx="1417320" cy="7498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880360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Objetivo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011680" y="2880360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Reducir la exposición al agua no segura y a los agroquímicos, y fortalecer el autocuidado sin interrumpir el trabajo del campo.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4572000" cy="749808"/>
          </a:xfrm>
          <a:prstGeom prst="rect">
            <a:avLst/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703320"/>
            <a:ext cx="1417320" cy="74980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703320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1F47"/>
                </a:solidFill>
              </a:rPr>
              <a:t>Lo innovador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2011680" y="3703320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Se hace en la misma vereda, sin interrumpir el trabajo, con estaciones prácticas y juego entre madres e hijos.</a:t>
            </a:r>
            <a:endParaRPr lang="en-US" sz="1100" dirty="0"/>
          </a:p>
        </p:txBody>
      </p:sp>
      <p:sp>
        <p:nvSpPr>
          <p:cNvPr id="22" name="Recuadro de imagen"/>
          <p:cNvSpPr/>
          <p:nvPr/>
        </p:nvSpPr>
        <p:spPr>
          <a:xfrm>
            <a:off x="5303520" y="1280160"/>
            <a:ext cx="3383280" cy="3108960"/>
          </a:xfrm>
          <a:prstGeom prst="rect">
            <a:avLst/>
          </a:prstGeom>
          <a:solidFill>
            <a:srgbClr val="F7F7F7"/>
          </a:solidFill>
          <a:ln w="15875">
            <a:solidFill>
              <a:srgbClr val="9E9E9E"/>
            </a:solidFill>
            <a:prstDash val="dash"/>
          </a:ln>
        </p:spPr>
      </p:sp>
      <p:sp>
        <p:nvSpPr>
          <p:cNvPr id="23" name="Indicación de imagen"/>
          <p:cNvSpPr txBox="1"/>
          <p:nvPr/>
        </p:nvSpPr>
        <p:spPr>
          <a:xfrm>
            <a:off x="5413248" y="1389888"/>
            <a:ext cx="3163824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A1B9A"/>
                </a:solidFill>
              </a:rPr>
              <a:t>IMAGEN SUGERIDA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63238"/>
                </a:solidFill>
              </a:rPr>
              <a:t>Foto de un taller comunitario en una escuela o caseta rural (Pexels: “community workshop rural”).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0" y="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CASO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32"/>
                </a:solidFill>
              </a:rPr>
              <a:t>ACCIONES, RECURSOS Y GESTIÓN PÚBLICA</a:t>
            </a:r>
            <a:endParaRPr lang="en-US" sz="1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¿Cómo se hace?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920240" cy="640080"/>
          </a:xfrm>
          <a:prstGeom prst="chevron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234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1. Agua segura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96596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Hervir, clorar y tapar el agua; lavado de manos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31720" y="1234440"/>
            <a:ext cx="1920240" cy="640080"/>
          </a:xfrm>
          <a:prstGeom prst="chevron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51760" y="1234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2. Agroquímicos sin riesgo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331720" y="196596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Guantes, tapabocas, gafas; triple lavado de envases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06240" y="1234440"/>
            <a:ext cx="1920240" cy="640080"/>
          </a:xfrm>
          <a:prstGeom prst="chevron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26280" y="1234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3. Cuerpo sano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196596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Pausas activas y juego entre madres e hijos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74320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</a:rPr>
              <a:t>Recursos: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Técnico de saneamiento · enfermería · promotor · kits de cloro · cartillas · caseta comunal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47472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</a:rPr>
              <a:t>Indicadores: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% de hogares que tratan el agua · casos de diarrea en niños · % de agricultores que usan protección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543800" y="1783080"/>
            <a:ext cx="9144" cy="1051560"/>
          </a:xfrm>
          <a:prstGeom prst="line">
            <a:avLst/>
          </a:prstGeom>
          <a:noFill/>
          <a:ln w="12700">
            <a:solidFill>
              <a:srgbClr val="BDBDB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>
            <a:off x="7543800" y="2509690"/>
            <a:ext cx="1000093" cy="324950"/>
          </a:xfrm>
          <a:prstGeom prst="line">
            <a:avLst/>
          </a:prstGeom>
          <a:noFill/>
          <a:ln w="12700">
            <a:solidFill>
              <a:srgbClr val="BDBDB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43800" y="2834640"/>
            <a:ext cx="618091" cy="850730"/>
          </a:xfrm>
          <a:prstGeom prst="line">
            <a:avLst/>
          </a:prstGeom>
          <a:noFill/>
          <a:ln w="12700">
            <a:solidFill>
              <a:srgbClr val="BDBDB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H="1">
            <a:off x="6925709" y="2834640"/>
            <a:ext cx="618091" cy="850730"/>
          </a:xfrm>
          <a:prstGeom prst="line">
            <a:avLst/>
          </a:prstGeom>
          <a:noFill/>
          <a:ln w="12700">
            <a:solidFill>
              <a:srgbClr val="BDBDB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43707" y="2509690"/>
            <a:ext cx="1000093" cy="324950"/>
          </a:xfrm>
          <a:prstGeom prst="line">
            <a:avLst/>
          </a:prstGeom>
          <a:noFill/>
          <a:ln w="12700">
            <a:solidFill>
              <a:srgbClr val="BDBDB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86600" y="2377440"/>
            <a:ext cx="914400" cy="9144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86600" y="2377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Actores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040880" y="1581912"/>
            <a:ext cx="10058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059168" y="1581912"/>
            <a:ext cx="969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63238"/>
                </a:solidFill>
              </a:rPr>
              <a:t>Secretaría de Salud (PIC)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040973" y="2308522"/>
            <a:ext cx="10058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59261" y="2308522"/>
            <a:ext cx="969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63238"/>
                </a:solidFill>
              </a:rPr>
              <a:t>ESE municipal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658971" y="3484202"/>
            <a:ext cx="10058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77259" y="3484202"/>
            <a:ext cx="969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63238"/>
                </a:solidFill>
              </a:rPr>
              <a:t>UMATA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22789" y="3484202"/>
            <a:ext cx="10058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41077" y="3484202"/>
            <a:ext cx="969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63238"/>
                </a:solidFill>
              </a:rPr>
              <a:t>Acueducto comunitario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40787" y="2308522"/>
            <a:ext cx="10058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059075" y="2308522"/>
            <a:ext cx="969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63238"/>
                </a:solidFill>
              </a:rPr>
              <a:t>Escuela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0" y="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CASO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32"/>
                </a:solidFill>
              </a:rPr>
              <a:t>NORMAS, PROGRAMAS Y VIABILIDAD</a:t>
            </a:r>
            <a:endParaRPr lang="en-US" sz="1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¿Qué la respalda y por qué es viable?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394960" cy="685800"/>
          </a:xfrm>
          <a:prstGeom prst="rect">
            <a:avLst/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1920240" cy="685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2344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Res. 1597 de 2025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123444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PIC: acciones colectivas gratuitas en el entorno comunitario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5394960" cy="685800"/>
          </a:xfrm>
          <a:prstGeom prst="rect">
            <a:avLst/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011680"/>
            <a:ext cx="1920240" cy="685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0116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Res. 3280 de 2018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514600" y="20116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Ruta de Promoción y Mantenimiento: educación para la salud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5394960" cy="685800"/>
          </a:xfrm>
          <a:prstGeom prst="rect">
            <a:avLst/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788920"/>
            <a:ext cx="1920240" cy="685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7889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Ley 9 de 1979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2514600" y="278892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Código Sanitario: agua, residuos y uso de plaguicidas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5394960" cy="685800"/>
          </a:xfrm>
          <a:prstGeom prst="rect">
            <a:avLst/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566160"/>
            <a:ext cx="1920240" cy="685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5661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Decreto 1575 y Res. 2115 de 2007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2514600" y="356616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Control de la calidad del agua para consumo humano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38912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07D8B"/>
                </a:solidFill>
              </a:rPr>
              <a:t>Normas vigentes, verificadas en fuentes oficiales.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26480" y="1234440"/>
            <a:ext cx="2560320" cy="1024128"/>
          </a:xfrm>
          <a:prstGeom prst="rect">
            <a:avLst/>
          </a:prstGeom>
          <a:solidFill>
            <a:srgbClr val="F5F3F7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1234440"/>
            <a:ext cx="256032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0" y="12344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Financiación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157276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PIC municipal, ejecutado por la ESE.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26480" y="2350008"/>
            <a:ext cx="2560320" cy="1024128"/>
          </a:xfrm>
          <a:prstGeom prst="rect">
            <a:avLst/>
          </a:prstGeom>
          <a:solidFill>
            <a:srgbClr val="F5F3F7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0" y="2350008"/>
            <a:ext cx="256032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17920" y="23500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Viabilidad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217920" y="268833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Bajo costo, en la vereda, con lenguaje sencillo y respeto por los horarios del campo.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26480" y="3465576"/>
            <a:ext cx="2560320" cy="1024128"/>
          </a:xfrm>
          <a:prstGeom prst="rect">
            <a:avLst/>
          </a:prstGeom>
          <a:solidFill>
            <a:srgbClr val="FFF8E1"/>
          </a:solidFill>
          <a:ln w="15875">
            <a:solidFill>
              <a:srgbClr val="F9A82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3465576"/>
            <a:ext cx="2560320" cy="29260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17920" y="34655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1F47"/>
                </a:solidFill>
              </a:rPr>
              <a:t>Reto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6217920" y="380390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La Secretaría de Salud debe incluirla en su plan territorial (Res. 100 de 2024).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4572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0" y="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CASO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A1B9A"/>
                </a:solidFill>
              </a:rPr>
              <a:t>POBLACIÓN Y NECESIDADES</a:t>
            </a:r>
            <a:endParaRPr lang="en-US" sz="1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Una vida universitaria acelerada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572000" cy="685800"/>
          </a:xfrm>
          <a:prstGeom prst="rect">
            <a:avLst/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73152" cy="6858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23444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1B9A"/>
                </a:solidFill>
              </a:rPr>
              <a:t>Población: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Jóvenes de 18 a 25 años, de distintas regiones, que viven en residencias o viviendas compartidas.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2240280" cy="1161288"/>
          </a:xfrm>
          <a:prstGeom prst="rect">
            <a:avLst/>
          </a:prstGeom>
          <a:solidFill>
            <a:srgbClr val="FFFFFF"/>
          </a:solidFill>
          <a:ln w="15875">
            <a:solidFill>
              <a:srgbClr val="6A1B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057400"/>
            <a:ext cx="2240280" cy="32918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05740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Salud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459736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Sin hábitos de autocuidado; poca atención al descanso y la salud mental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88920" y="2057400"/>
            <a:ext cx="2240280" cy="1161288"/>
          </a:xfrm>
          <a:prstGeom prst="rect">
            <a:avLst/>
          </a:prstGeom>
          <a:solidFill>
            <a:srgbClr val="FFFFFF"/>
          </a:solidFill>
          <a:ln w="15875">
            <a:solidFill>
              <a:srgbClr val="6A1B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88920" y="2057400"/>
            <a:ext cx="2240280" cy="32918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880360" y="205740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Nutrición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880360" y="2459736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Comida rápida, domicilios, café y bebidas energéticas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310128"/>
            <a:ext cx="2240280" cy="1161288"/>
          </a:xfrm>
          <a:prstGeom prst="rect">
            <a:avLst/>
          </a:prstGeom>
          <a:solidFill>
            <a:srgbClr val="FFFFFF"/>
          </a:solidFill>
          <a:ln w="15875">
            <a:solidFill>
              <a:srgbClr val="6A1B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310128"/>
            <a:ext cx="2240280" cy="32918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31012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Higiene y entorno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712464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Espacios urbanos limitados y largas horas frente a pantallas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88920" y="3310128"/>
            <a:ext cx="2240280" cy="1161288"/>
          </a:xfrm>
          <a:prstGeom prst="rect">
            <a:avLst/>
          </a:prstGeom>
          <a:solidFill>
            <a:srgbClr val="FFFFFF"/>
          </a:solidFill>
          <a:ln w="15875">
            <a:solidFill>
              <a:srgbClr val="6A1B9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88920" y="3310128"/>
            <a:ext cx="2240280" cy="32918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880360" y="331012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Prevención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880360" y="3712464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Poca actividad física y horarios irregulares de sueño</a:t>
            </a:r>
            <a:endParaRPr lang="en-US" sz="1150" dirty="0"/>
          </a:p>
        </p:txBody>
      </p:sp>
      <p:sp>
        <p:nvSpPr>
          <p:cNvPr id="25" name="Recuadro de imagen"/>
          <p:cNvSpPr/>
          <p:nvPr/>
        </p:nvSpPr>
        <p:spPr>
          <a:xfrm>
            <a:off x="5212080" y="1234440"/>
            <a:ext cx="3474720" cy="3291840"/>
          </a:xfrm>
          <a:prstGeom prst="rect">
            <a:avLst/>
          </a:prstGeom>
          <a:solidFill>
            <a:srgbClr val="F7F7F7"/>
          </a:solidFill>
          <a:ln w="15875">
            <a:solidFill>
              <a:srgbClr val="9E9E9E"/>
            </a:solidFill>
            <a:prstDash val="dash"/>
          </a:ln>
        </p:spPr>
      </p:sp>
      <p:sp>
        <p:nvSpPr>
          <p:cNvPr id="26" name="Indicación de imagen"/>
          <p:cNvSpPr txBox="1"/>
          <p:nvPr/>
        </p:nvSpPr>
        <p:spPr>
          <a:xfrm>
            <a:off x="5321808" y="1344168"/>
            <a:ext cx="3255264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A1B9A"/>
                </a:solidFill>
              </a:rPr>
              <a:t>IMAGEN SUGERIDA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63238"/>
                </a:solidFill>
              </a:rPr>
              <a:t>Video de estudiantes comiendo comida rápida o estudiando de noche frente al computador (Pexels: “student studying night”, “fast food students”).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4572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0" y="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CASO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A1B9A"/>
                </a:solidFill>
              </a:rPr>
              <a:t>RIESGOS Y ENFERMEDADES PREVALENTES</a:t>
            </a:r>
            <a:endParaRPr lang="en-US" sz="1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¿Qué pone en riesgo su salud?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5F3F7"/>
          </a:solidFill>
          <a:ln w="19050">
            <a:solidFill>
              <a:srgbClr val="6A1B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32588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Sobrepeso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856232"/>
            <a:ext cx="1517904" cy="292608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856232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Nutricional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31720" y="123444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5F3F7"/>
          </a:solidFill>
          <a:ln w="19050">
            <a:solidFill>
              <a:srgbClr val="6A1B9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41448" y="132588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Riesgo cardiovascular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41448" y="1856232"/>
            <a:ext cx="1517904" cy="292608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41448" y="1856232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Estilo de vida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06240" y="123444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5F3F7"/>
          </a:solidFill>
          <a:ln w="19050">
            <a:solidFill>
              <a:srgbClr val="6A1B9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15968" y="132588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Problemas posturales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15968" y="1856232"/>
            <a:ext cx="1517904" cy="292608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15968" y="1856232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Ergonómico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33172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5F3F7"/>
          </a:solidFill>
          <a:ln w="19050">
            <a:solidFill>
              <a:srgbClr val="6A1B9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6928" y="242316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Ansiedad e insomnio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2953512"/>
            <a:ext cx="1517904" cy="292608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2953512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Psicosocial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331720" y="233172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5F3F7"/>
          </a:solidFill>
          <a:ln w="19050">
            <a:solidFill>
              <a:srgbClr val="6A1B9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441448" y="242316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Sedentarismo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441448" y="2953512"/>
            <a:ext cx="1517904" cy="292608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441448" y="2953512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Estilo de vida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06240" y="233172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5F3F7"/>
          </a:solidFill>
          <a:ln w="19050">
            <a:solidFill>
              <a:srgbClr val="6A1B9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315968" y="242316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Exceso de cafeína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15968" y="2953512"/>
            <a:ext cx="1517904" cy="292608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315968" y="2953512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Consumo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3364992"/>
            <a:ext cx="5532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6A1B9A"/>
                </a:solidFill>
              </a:rPr>
              <a:t>¿Por qué? Los hábitos de hoy se convierten en enfermedad crónica mañana: el riesgo es individual, pero se repite en muchos estudiantes.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023360"/>
            <a:ext cx="5532120" cy="5486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4360" y="40233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Clasificación: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Riesgo por estilos de vida y psicosocial · individual · prioridad MEDIA-ALTA</a:t>
            </a:r>
            <a:endParaRPr lang="en-US" sz="1300" dirty="0"/>
          </a:p>
        </p:txBody>
      </p:sp>
      <p:sp>
        <p:nvSpPr>
          <p:cNvPr id="33" name="Recuadro de imagen"/>
          <p:cNvSpPr/>
          <p:nvPr/>
        </p:nvSpPr>
        <p:spPr>
          <a:xfrm>
            <a:off x="6217920" y="1280160"/>
            <a:ext cx="2468880" cy="3291840"/>
          </a:xfrm>
          <a:prstGeom prst="rect">
            <a:avLst/>
          </a:prstGeom>
          <a:solidFill>
            <a:srgbClr val="F7F7F7"/>
          </a:solidFill>
          <a:ln w="15875">
            <a:solidFill>
              <a:srgbClr val="9E9E9E"/>
            </a:solidFill>
            <a:prstDash val="dash"/>
          </a:ln>
        </p:spPr>
      </p:sp>
      <p:sp>
        <p:nvSpPr>
          <p:cNvPr id="34" name="Indicación de imagen"/>
          <p:cNvSpPr txBox="1"/>
          <p:nvPr/>
        </p:nvSpPr>
        <p:spPr>
          <a:xfrm>
            <a:off x="6327648" y="1389888"/>
            <a:ext cx="2249424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A1B9A"/>
                </a:solidFill>
              </a:rPr>
              <a:t>IMAGEN SUGERIDA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63238"/>
                </a:solidFill>
              </a:rPr>
              <a:t>Íconos de Canva para cada riesgo, o una foto relacionada con el riesgo principal.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4572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0" y="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CASO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A1B9A"/>
                </a:solidFill>
              </a:rPr>
              <a:t>LA ACTIVIDAD PROPUESTA</a:t>
            </a:r>
            <a:endParaRPr lang="en-US" sz="1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“Recarga tu bienestar”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572000" cy="749808"/>
          </a:xfrm>
          <a:prstGeom prst="rect">
            <a:avLst/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1417320" cy="74980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234440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Nivel de prevención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1234440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Primaria y secundaria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4572000" cy="749808"/>
          </a:xfrm>
          <a:prstGeom prst="rect">
            <a:avLst/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057400"/>
            <a:ext cx="1417320" cy="74980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057400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Población objetivo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2057400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Estudiantes de pregrado de 18 a 25 años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4572000" cy="749808"/>
          </a:xfrm>
          <a:prstGeom prst="rect">
            <a:avLst/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880360"/>
            <a:ext cx="1417320" cy="74980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880360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Objetivo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011680" y="2880360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Promover hábitos de autocuidado en alimentación, actividad física, descanso y salud mental, adaptados a su ritmo de vida.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4572000" cy="749808"/>
          </a:xfrm>
          <a:prstGeom prst="rect">
            <a:avLst/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703320"/>
            <a:ext cx="1417320" cy="74980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703320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1F47"/>
                </a:solidFill>
              </a:rPr>
              <a:t>Lo innovador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2011680" y="3703320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La feria se hace al inicio del semestre y antes de los parciales, y sigue con retos en redes sociales durante cuatro semanas.</a:t>
            </a:r>
            <a:endParaRPr lang="en-US" sz="1100" dirty="0"/>
          </a:p>
        </p:txBody>
      </p:sp>
      <p:sp>
        <p:nvSpPr>
          <p:cNvPr id="22" name="Recuadro de imagen"/>
          <p:cNvSpPr/>
          <p:nvPr/>
        </p:nvSpPr>
        <p:spPr>
          <a:xfrm>
            <a:off x="5303520" y="1280160"/>
            <a:ext cx="3383280" cy="3108960"/>
          </a:xfrm>
          <a:prstGeom prst="rect">
            <a:avLst/>
          </a:prstGeom>
          <a:solidFill>
            <a:srgbClr val="F7F7F7"/>
          </a:solidFill>
          <a:ln w="15875">
            <a:solidFill>
              <a:srgbClr val="9E9E9E"/>
            </a:solidFill>
            <a:prstDash val="dash"/>
          </a:ln>
        </p:spPr>
      </p:sp>
      <p:sp>
        <p:nvSpPr>
          <p:cNvPr id="23" name="Indicación de imagen"/>
          <p:cNvSpPr txBox="1"/>
          <p:nvPr/>
        </p:nvSpPr>
        <p:spPr>
          <a:xfrm>
            <a:off x="5413248" y="1389888"/>
            <a:ext cx="3163824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A1B9A"/>
                </a:solidFill>
              </a:rPr>
              <a:t>IMAGEN SUGERIDA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63238"/>
                </a:solidFill>
              </a:rPr>
              <a:t>Foto de una feria de salud o actividad de bienestar en un campus (Pexels: “university health fair”, “students yoga campus”).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4572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0" y="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CASO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A1B9A"/>
                </a:solidFill>
              </a:rPr>
              <a:t>ACCIONES, RECURSOS Y GESTIÓN PÚBLICA</a:t>
            </a:r>
            <a:endParaRPr lang="en-US" sz="1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¿Cómo se hace?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920240" cy="640080"/>
          </a:xfrm>
          <a:prstGeom prst="chevron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234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1. Tamizaje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96596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Peso, IMC, presión arterial y escalas de ansiedad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31720" y="1234440"/>
            <a:ext cx="1920240" cy="640080"/>
          </a:xfrm>
          <a:prstGeom prst="chevron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51760" y="1234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2. Comida rápida pero sana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331720" y="196596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Recetas de 15 minutos y etiquetado frontal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06240" y="1234440"/>
            <a:ext cx="1920240" cy="640080"/>
          </a:xfrm>
          <a:prstGeom prst="chevron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26280" y="1234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3. Muévete y desconéctate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196596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Pausas activas, sueño y manejo del estrés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74320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A1B9A"/>
                </a:solidFill>
              </a:rPr>
              <a:t>Recursos: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Enfermería · nutrición · psicología · deporte · báscula y tensiómetro · campaña en redes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47472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A1B9A"/>
                </a:solidFill>
              </a:rPr>
              <a:t>Indicadores: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Estudiantes tamizados · % con riesgo remitidos · participación en talleres · alcance de la campaña digital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543800" y="1783080"/>
            <a:ext cx="9144" cy="1051560"/>
          </a:xfrm>
          <a:prstGeom prst="line">
            <a:avLst/>
          </a:prstGeom>
          <a:noFill/>
          <a:ln w="12700">
            <a:solidFill>
              <a:srgbClr val="BDBDB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3800" y="2834640"/>
            <a:ext cx="1051560" cy="9144"/>
          </a:xfrm>
          <a:prstGeom prst="line">
            <a:avLst/>
          </a:prstGeom>
          <a:noFill/>
          <a:ln w="12700">
            <a:solidFill>
              <a:srgbClr val="BDBDB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43800" y="2834640"/>
            <a:ext cx="9144" cy="1051560"/>
          </a:xfrm>
          <a:prstGeom prst="line">
            <a:avLst/>
          </a:prstGeom>
          <a:noFill/>
          <a:ln w="12700">
            <a:solidFill>
              <a:srgbClr val="BDBDB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2834640"/>
            <a:ext cx="1051560" cy="9144"/>
          </a:xfrm>
          <a:prstGeom prst="line">
            <a:avLst/>
          </a:prstGeom>
          <a:noFill/>
          <a:ln w="12700">
            <a:solidFill>
              <a:srgbClr val="BDBDB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86600" y="2377440"/>
            <a:ext cx="914400" cy="91440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86600" y="2377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Actores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040880" y="1581912"/>
            <a:ext cx="10058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59168" y="1581912"/>
            <a:ext cx="969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63238"/>
                </a:solidFill>
              </a:rPr>
              <a:t>Bienestar Universitario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092440" y="2633472"/>
            <a:ext cx="10058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110728" y="2633472"/>
            <a:ext cx="969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63238"/>
                </a:solidFill>
              </a:rPr>
              <a:t>EPS e IPS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040880" y="3685032"/>
            <a:ext cx="10058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059168" y="3685032"/>
            <a:ext cx="969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63238"/>
                </a:solidFill>
              </a:rPr>
              <a:t>Secretaría de Salud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89320" y="2633472"/>
            <a:ext cx="10058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007608" y="2633472"/>
            <a:ext cx="969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63238"/>
                </a:solidFill>
              </a:rPr>
              <a:t>Líderes estudiantiles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4572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0" y="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CASO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A1B9A"/>
                </a:solidFill>
              </a:rPr>
              <a:t>NORMAS, PROGRAMAS Y VIABILIDAD</a:t>
            </a:r>
            <a:endParaRPr lang="en-US" sz="1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¿Qué la respalda y por qué es viable?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394960" cy="685800"/>
          </a:xfrm>
          <a:prstGeom prst="rect">
            <a:avLst/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1920240" cy="6858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2344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Res. 3280 de 2018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123444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Momento de juventud: valoración integral y tamizajes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5394960" cy="685800"/>
          </a:xfrm>
          <a:prstGeom prst="rect">
            <a:avLst/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011680"/>
            <a:ext cx="1920240" cy="6858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0116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Ley 1355 de 2009 y Ley 2120 de 2021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514600" y="20116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Obesidad como prioridad; entornos alimentarios y etiquetado frontal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5394960" cy="685800"/>
          </a:xfrm>
          <a:prstGeom prst="rect">
            <a:avLst/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788920"/>
            <a:ext cx="1920240" cy="6858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7889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Ley 1616 de 2013 y Decreto 729 de 2025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2514600" y="278892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Salud mental y Política Nacional de Salud Mental 2025-2034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5394960" cy="685800"/>
          </a:xfrm>
          <a:prstGeom prst="rect">
            <a:avLst/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566160"/>
            <a:ext cx="1920240" cy="6858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5661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Ley 30 de 1992 (art. 117)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2514600" y="356616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La universidad debe tener programas de bienestar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38912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07D8B"/>
                </a:solidFill>
              </a:rPr>
              <a:t>Normas vigentes, verificadas en fuentes oficiales.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26480" y="1234440"/>
            <a:ext cx="2560320" cy="1024128"/>
          </a:xfrm>
          <a:prstGeom prst="rect">
            <a:avLst/>
          </a:prstGeom>
          <a:solidFill>
            <a:srgbClr val="F5F3F7"/>
          </a:solidFill>
          <a:ln w="15875">
            <a:solidFill>
              <a:srgbClr val="6A1B9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1234440"/>
            <a:ext cx="2560320" cy="29260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0" y="12344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Financiación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157276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Presupuesto de Bienestar Universitario y apoyo de la EPS.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26480" y="2350008"/>
            <a:ext cx="2560320" cy="1024128"/>
          </a:xfrm>
          <a:prstGeom prst="rect">
            <a:avLst/>
          </a:prstGeom>
          <a:solidFill>
            <a:srgbClr val="F5F3F7"/>
          </a:solidFill>
          <a:ln w="15875">
            <a:solidFill>
              <a:srgbClr val="6A1B9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0" y="2350008"/>
            <a:ext cx="2560320" cy="29260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17920" y="23500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Viabilidad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217920" y="268833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Se hace en el campus, en horarios de descanso y con los medios digitales que ya usan.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26480" y="3465576"/>
            <a:ext cx="2560320" cy="1024128"/>
          </a:xfrm>
          <a:prstGeom prst="rect">
            <a:avLst/>
          </a:prstGeom>
          <a:solidFill>
            <a:srgbClr val="FFF8E1"/>
          </a:solidFill>
          <a:ln w="15875">
            <a:solidFill>
              <a:srgbClr val="F9A82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3465576"/>
            <a:ext cx="2560320" cy="29260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17920" y="34655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1F47"/>
                </a:solidFill>
              </a:rPr>
              <a:t>Reto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6217920" y="380390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Lograr que los estudiantes participen: por eso se usan retos y un lenguaje juvenil.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0" y="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CASO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5100"/>
                </a:solidFill>
              </a:rPr>
              <a:t>POBLACIÓN Y NECESIDADES</a:t>
            </a:r>
            <a:endParaRPr lang="en-US" sz="1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Envejecer en un barrio periférico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572000" cy="685800"/>
          </a:xfrm>
          <a:prstGeom prst="rect">
            <a:avLst/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73152" cy="6858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23444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</a:rPr>
              <a:t>Población: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Personas mayores jubiladas o con trabajos informales, de bajos ingresos; muchas viven solas.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2240280" cy="1161288"/>
          </a:xfrm>
          <a:prstGeom prst="rect">
            <a:avLst/>
          </a:prstGeom>
          <a:solidFill>
            <a:srgbClr val="FFFFFF"/>
          </a:solidFill>
          <a:ln w="15875">
            <a:solidFill>
              <a:srgbClr val="E651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057400"/>
            <a:ext cx="2240280" cy="32918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05740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Salud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459736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Hipertensión y diabetes con baja adherencia e inasistencia a controles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88920" y="2057400"/>
            <a:ext cx="2240280" cy="1161288"/>
          </a:xfrm>
          <a:prstGeom prst="rect">
            <a:avLst/>
          </a:prstGeom>
          <a:solidFill>
            <a:srgbClr val="FFFFFF"/>
          </a:solidFill>
          <a:ln w="15875">
            <a:solidFill>
              <a:srgbClr val="E651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88920" y="2057400"/>
            <a:ext cx="2240280" cy="32918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880360" y="205740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Nutrición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880360" y="2459736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Poca proteína, fruta y verdura; pérdida de masa muscular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310128"/>
            <a:ext cx="2240280" cy="1161288"/>
          </a:xfrm>
          <a:prstGeom prst="rect">
            <a:avLst/>
          </a:prstGeom>
          <a:solidFill>
            <a:srgbClr val="FFFFFF"/>
          </a:solidFill>
          <a:ln w="15875">
            <a:solidFill>
              <a:srgbClr val="E651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310128"/>
            <a:ext cx="2240280" cy="32918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31012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Higiene y entorno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712464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Pisos resbalosos, escaleras sin barandas y poca luz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88920" y="3310128"/>
            <a:ext cx="2240280" cy="1161288"/>
          </a:xfrm>
          <a:prstGeom prst="rect">
            <a:avLst/>
          </a:prstGeom>
          <a:solidFill>
            <a:srgbClr val="FFFFFF"/>
          </a:solidFill>
          <a:ln w="15875">
            <a:solidFill>
              <a:srgbClr val="E651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88920" y="3310128"/>
            <a:ext cx="2240280" cy="32918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880360" y="331012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Prevención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880360" y="3712464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Encuentros comunitarios esporádicos y con baja asistencia</a:t>
            </a:r>
            <a:endParaRPr lang="en-US" sz="1150" dirty="0"/>
          </a:p>
        </p:txBody>
      </p:sp>
      <p:sp>
        <p:nvSpPr>
          <p:cNvPr id="25" name="Recuadro de imagen"/>
          <p:cNvSpPr/>
          <p:nvPr/>
        </p:nvSpPr>
        <p:spPr>
          <a:xfrm>
            <a:off x="5212080" y="1234440"/>
            <a:ext cx="3474720" cy="3291840"/>
          </a:xfrm>
          <a:prstGeom prst="rect">
            <a:avLst/>
          </a:prstGeom>
          <a:solidFill>
            <a:srgbClr val="F7F7F7"/>
          </a:solidFill>
          <a:ln w="15875">
            <a:solidFill>
              <a:srgbClr val="9E9E9E"/>
            </a:solidFill>
            <a:prstDash val="dash"/>
          </a:ln>
        </p:spPr>
      </p:sp>
      <p:sp>
        <p:nvSpPr>
          <p:cNvPr id="26" name="Indicación de imagen"/>
          <p:cNvSpPr txBox="1"/>
          <p:nvPr/>
        </p:nvSpPr>
        <p:spPr>
          <a:xfrm>
            <a:off x="5321808" y="1344168"/>
            <a:ext cx="3255264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A1B9A"/>
                </a:solidFill>
              </a:rPr>
              <a:t>IMAGEN SUGERIDA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63238"/>
                </a:solidFill>
              </a:rPr>
              <a:t>Foto de un adulto mayor solo en casa o caminando con dificultad en un barrio (Pexels: “elderly man alone”, “senior walking”).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0" y="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CASO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5100"/>
                </a:solidFill>
              </a:rPr>
              <a:t>RIESGOS Y ENFERMEDADES PREVALENTES</a:t>
            </a:r>
            <a:endParaRPr lang="en-US" sz="1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¿Qué pone en riesgo su salud?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5F3F7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32588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Complicaciones de hipertensión y diabetes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856232"/>
            <a:ext cx="1517904" cy="292608"/>
          </a:xfrm>
          <a:prstGeom prst="roundRect">
            <a:avLst>
              <a:gd name="adj" fmla="val 50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856232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Crónico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31720" y="123444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5F3F7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41448" y="132588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Pérdida de masa muscular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41448" y="1856232"/>
            <a:ext cx="1517904" cy="292608"/>
          </a:xfrm>
          <a:prstGeom prst="roundRect">
            <a:avLst>
              <a:gd name="adj" fmla="val 50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41448" y="1856232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Nutricional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06240" y="123444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5F3F7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15968" y="132588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Caídas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15968" y="1856232"/>
            <a:ext cx="1517904" cy="292608"/>
          </a:xfrm>
          <a:prstGeom prst="roundRect">
            <a:avLst>
              <a:gd name="adj" fmla="val 50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15968" y="1856232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Entorno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33172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5F3F7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6928" y="242316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Problemas de visión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2953512"/>
            <a:ext cx="1517904" cy="292608"/>
          </a:xfrm>
          <a:prstGeom prst="roundRect">
            <a:avLst>
              <a:gd name="adj" fmla="val 50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2953512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Biológico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331720" y="233172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5F3F7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441448" y="242316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Soledad y aislamiento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441448" y="2953512"/>
            <a:ext cx="1517904" cy="292608"/>
          </a:xfrm>
          <a:prstGeom prst="roundRect">
            <a:avLst>
              <a:gd name="adj" fmla="val 50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441448" y="2953512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Psicosocial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06240" y="233172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5F3F7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315968" y="242316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Baja asistencia a controles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15968" y="2953512"/>
            <a:ext cx="1517904" cy="292608"/>
          </a:xfrm>
          <a:prstGeom prst="roundRect">
            <a:avLst>
              <a:gd name="adj" fmla="val 50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315968" y="2953512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Acceso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3364992"/>
            <a:ext cx="5532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65100"/>
                </a:solidFill>
              </a:rPr>
              <a:t>¿Por qué? Una caída o una complicación cardiovascular pueden quitarle la autonomía a una persona mayor que vive sola.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023360"/>
            <a:ext cx="5532120" cy="5486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4360" y="40233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Clasificación: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Riesgo cardiovascular, de caídas y psicosocial · individual y comunitario · prioridad ALTA</a:t>
            </a:r>
            <a:endParaRPr lang="en-US" sz="1300" dirty="0"/>
          </a:p>
        </p:txBody>
      </p:sp>
      <p:sp>
        <p:nvSpPr>
          <p:cNvPr id="33" name="Recuadro de imagen"/>
          <p:cNvSpPr/>
          <p:nvPr/>
        </p:nvSpPr>
        <p:spPr>
          <a:xfrm>
            <a:off x="6217920" y="1280160"/>
            <a:ext cx="2468880" cy="3291840"/>
          </a:xfrm>
          <a:prstGeom prst="rect">
            <a:avLst/>
          </a:prstGeom>
          <a:solidFill>
            <a:srgbClr val="F7F7F7"/>
          </a:solidFill>
          <a:ln w="15875">
            <a:solidFill>
              <a:srgbClr val="9E9E9E"/>
            </a:solidFill>
            <a:prstDash val="dash"/>
          </a:ln>
        </p:spPr>
      </p:sp>
      <p:sp>
        <p:nvSpPr>
          <p:cNvPr id="34" name="Indicación de imagen"/>
          <p:cNvSpPr txBox="1"/>
          <p:nvPr/>
        </p:nvSpPr>
        <p:spPr>
          <a:xfrm>
            <a:off x="6327648" y="1389888"/>
            <a:ext cx="2249424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A1B9A"/>
                </a:solidFill>
              </a:rPr>
              <a:t>IMAGEN SUGERIDA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63238"/>
                </a:solidFill>
              </a:rPr>
              <a:t>Íconos de Canva para cada riesgo, o una foto relacionada con el riesgo principal.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0" y="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CASO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5100"/>
                </a:solidFill>
              </a:rPr>
              <a:t>LA ACTIVIDAD PROPUESTA</a:t>
            </a:r>
            <a:endParaRPr lang="en-US" sz="1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“Envejecer con salud”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572000" cy="749808"/>
          </a:xfrm>
          <a:prstGeom prst="rect">
            <a:avLst/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1417320" cy="7498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234440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Nivel de prevención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1234440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Secundaria y terciaria (con acciones primarias)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4572000" cy="749808"/>
          </a:xfrm>
          <a:prstGeom prst="rect">
            <a:avLst/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057400"/>
            <a:ext cx="1417320" cy="7498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057400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Población objetivo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2057400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Personas de 60 años o más y sus cuidadores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4572000" cy="749808"/>
          </a:xfrm>
          <a:prstGeom prst="rect">
            <a:avLst/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880360"/>
            <a:ext cx="1417320" cy="7498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880360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Objetivo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011680" y="2880360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Mejorar el control de las enfermedades crónicas, prevenir caídas y reducir el aislamiento social.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4572000" cy="749808"/>
          </a:xfrm>
          <a:prstGeom prst="rect">
            <a:avLst/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703320"/>
            <a:ext cx="1417320" cy="74980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703320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1F47"/>
                </a:solidFill>
              </a:rPr>
              <a:t>Lo innovador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2011680" y="3703320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“Vecino acompañante”, visitas con lista de chequeo de caídas y espacios donde los mayores enseñan sus oficios.</a:t>
            </a:r>
            <a:endParaRPr lang="en-US" sz="1100" dirty="0"/>
          </a:p>
        </p:txBody>
      </p:sp>
      <p:sp>
        <p:nvSpPr>
          <p:cNvPr id="22" name="Recuadro de imagen"/>
          <p:cNvSpPr/>
          <p:nvPr/>
        </p:nvSpPr>
        <p:spPr>
          <a:xfrm>
            <a:off x="5303520" y="1280160"/>
            <a:ext cx="3383280" cy="3108960"/>
          </a:xfrm>
          <a:prstGeom prst="rect">
            <a:avLst/>
          </a:prstGeom>
          <a:solidFill>
            <a:srgbClr val="F7F7F7"/>
          </a:solidFill>
          <a:ln w="15875">
            <a:solidFill>
              <a:srgbClr val="9E9E9E"/>
            </a:solidFill>
            <a:prstDash val="dash"/>
          </a:ln>
        </p:spPr>
      </p:sp>
      <p:sp>
        <p:nvSpPr>
          <p:cNvPr id="23" name="Indicación de imagen"/>
          <p:cNvSpPr txBox="1"/>
          <p:nvPr/>
        </p:nvSpPr>
        <p:spPr>
          <a:xfrm>
            <a:off x="5413248" y="1389888"/>
            <a:ext cx="3163824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A1B9A"/>
                </a:solidFill>
              </a:rPr>
              <a:t>IMAGEN SUGERIDA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63238"/>
                </a:solidFill>
              </a:rPr>
              <a:t>Foto de adultos mayores haciendo ejercicio en grupo o compartiendo en un centro comunitario (Pexels: “seniors exercise group”).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0" y="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CASO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5100"/>
                </a:solidFill>
              </a:rPr>
              <a:t>ACCIONES, RECURSOS Y GESTIÓN PÚBLICA</a:t>
            </a:r>
            <a:endParaRPr lang="en-US" sz="1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¿Cómo se hace?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920240" cy="640080"/>
          </a:xfrm>
          <a:prstGeom prst="chevron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234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1. Control y adherencia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96596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Presión, glucometría y pastillero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31720" y="1234440"/>
            <a:ext cx="1920240" cy="640080"/>
          </a:xfrm>
          <a:prstGeom prst="chevron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51760" y="1234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2. Muévete seguro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331720" y="196596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Ejercicios de fuerza y equilibrio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06240" y="1234440"/>
            <a:ext cx="1920240" cy="640080"/>
          </a:xfrm>
          <a:prstGeom prst="chevron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26280" y="1234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3. Come bien y comparte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196596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Alimentación económica y red de vecinos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74320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65100"/>
                </a:solidFill>
              </a:rPr>
              <a:t>Recursos: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Enfermería · médico · nutricionista · trabajo social · tensiómetro y glucómetro · Centro Vida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47472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65100"/>
                </a:solidFill>
              </a:rPr>
              <a:t>Indicadores: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% con presión arterial controlada · asistencia a controles · caídas reportadas · viviendas adecuadas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543800" y="1783080"/>
            <a:ext cx="9144" cy="1051560"/>
          </a:xfrm>
          <a:prstGeom prst="line">
            <a:avLst/>
          </a:prstGeom>
          <a:noFill/>
          <a:ln w="12700">
            <a:solidFill>
              <a:srgbClr val="BDBDB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>
            <a:off x="7543800" y="2509690"/>
            <a:ext cx="1000093" cy="324950"/>
          </a:xfrm>
          <a:prstGeom prst="line">
            <a:avLst/>
          </a:prstGeom>
          <a:noFill/>
          <a:ln w="12700">
            <a:solidFill>
              <a:srgbClr val="BDBDB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43800" y="2834640"/>
            <a:ext cx="618091" cy="850730"/>
          </a:xfrm>
          <a:prstGeom prst="line">
            <a:avLst/>
          </a:prstGeom>
          <a:noFill/>
          <a:ln w="12700">
            <a:solidFill>
              <a:srgbClr val="BDBDB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H="1">
            <a:off x="6925709" y="2834640"/>
            <a:ext cx="618091" cy="850730"/>
          </a:xfrm>
          <a:prstGeom prst="line">
            <a:avLst/>
          </a:prstGeom>
          <a:noFill/>
          <a:ln w="12700">
            <a:solidFill>
              <a:srgbClr val="BDBDB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43707" y="2509690"/>
            <a:ext cx="1000093" cy="324950"/>
          </a:xfrm>
          <a:prstGeom prst="line">
            <a:avLst/>
          </a:prstGeom>
          <a:noFill/>
          <a:ln w="12700">
            <a:solidFill>
              <a:srgbClr val="BDBDB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86600" y="2377440"/>
            <a:ext cx="914400" cy="91440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86600" y="2377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Actores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040880" y="1581912"/>
            <a:ext cx="10058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059168" y="1581912"/>
            <a:ext cx="969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63238"/>
                </a:solidFill>
              </a:rPr>
              <a:t>Secretaría de Salud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040973" y="2308522"/>
            <a:ext cx="10058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59261" y="2308522"/>
            <a:ext cx="969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63238"/>
                </a:solidFill>
              </a:rPr>
              <a:t>Centro Vida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658971" y="3484202"/>
            <a:ext cx="10058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77259" y="3484202"/>
            <a:ext cx="969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63238"/>
                </a:solidFill>
              </a:rPr>
              <a:t>ESE y EPS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22789" y="3484202"/>
            <a:ext cx="10058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41077" y="3484202"/>
            <a:ext cx="969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63238"/>
                </a:solidFill>
              </a:rPr>
              <a:t>Acción comunal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40787" y="2308522"/>
            <a:ext cx="10058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059075" y="2308522"/>
            <a:ext cx="969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63238"/>
                </a:solidFill>
              </a:rPr>
              <a:t>Familias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0" y="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CASO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5100"/>
                </a:solidFill>
              </a:rPr>
              <a:t>NORMAS, PROGRAMAS Y VIABILIDAD</a:t>
            </a:r>
            <a:endParaRPr lang="en-US" sz="1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¿Qué la respalda y por qué es viable?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394960" cy="685800"/>
          </a:xfrm>
          <a:prstGeom prst="rect">
            <a:avLst/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1920240" cy="6858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2344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Res. 3280 de 2018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123444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Momento de vejez: valoración integral y riesgo cardiovascular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5394960" cy="685800"/>
          </a:xfrm>
          <a:prstGeom prst="rect">
            <a:avLst/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011680"/>
            <a:ext cx="1920240" cy="6858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0116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Ley 1251 de 2008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514600" y="20116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Protección y promoción de los derechos de los adultos mayores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5394960" cy="685800"/>
          </a:xfrm>
          <a:prstGeom prst="rect">
            <a:avLst/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788920"/>
            <a:ext cx="1920240" cy="6858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7889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Ley 1276 de 2009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2514600" y="278892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Centros Vida y estampilla para el bienestar del adulto mayor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5394960" cy="685800"/>
          </a:xfrm>
          <a:prstGeom prst="rect">
            <a:avLst/>
          </a:prstGeom>
          <a:solidFill>
            <a:srgbClr val="F5F3F7"/>
          </a:solidFill>
          <a:ln w="12700">
            <a:solidFill>
              <a:srgbClr val="F5F3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566160"/>
            <a:ext cx="1920240" cy="6858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5661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Decreto 681 de 2022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2514600" y="356616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Política Pública Nacional de Envejecimiento y Vejez 2022-2031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38912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07D8B"/>
                </a:solidFill>
              </a:rPr>
              <a:t>Normas vigentes, verificadas en fuentes oficiales.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26480" y="1234440"/>
            <a:ext cx="2560320" cy="1024128"/>
          </a:xfrm>
          <a:prstGeom prst="rect">
            <a:avLst/>
          </a:prstGeom>
          <a:solidFill>
            <a:srgbClr val="F5F3F7"/>
          </a:solidFill>
          <a:ln w="15875">
            <a:solidFill>
              <a:srgbClr val="E651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1234440"/>
            <a:ext cx="2560320" cy="2926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0" y="12344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Financiación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157276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Estampilla del adulto mayor, PIC y EPS para los controles.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26480" y="2350008"/>
            <a:ext cx="2560320" cy="1024128"/>
          </a:xfrm>
          <a:prstGeom prst="rect">
            <a:avLst/>
          </a:prstGeom>
          <a:solidFill>
            <a:srgbClr val="F5F3F7"/>
          </a:solidFill>
          <a:ln w="15875">
            <a:solidFill>
              <a:srgbClr val="E651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0" y="2350008"/>
            <a:ext cx="2560320" cy="2926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17920" y="23500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Viabilidad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217920" y="268833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Usa el centro comunitario existente y supera las barreras de movilidad con visitas.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26480" y="3465576"/>
            <a:ext cx="2560320" cy="1024128"/>
          </a:xfrm>
          <a:prstGeom prst="rect">
            <a:avLst/>
          </a:prstGeom>
          <a:solidFill>
            <a:srgbClr val="FFF8E1"/>
          </a:solidFill>
          <a:ln w="15875">
            <a:solidFill>
              <a:srgbClr val="F9A82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3465576"/>
            <a:ext cx="2560320" cy="29260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17920" y="34655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1F47"/>
                </a:solidFill>
              </a:rPr>
              <a:t>Reto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6217920" y="380390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Llegar a quienes no pueden salir de casa: por eso se hace búsqueda activa.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1F47"/>
                </a:solidFill>
              </a:rPr>
              <a:t>PREGUNTA ORIENTADORA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¿Cuáles son los beneficios para todos?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206240" y="3291840"/>
            <a:ext cx="731520" cy="731520"/>
          </a:xfrm>
          <a:prstGeom prst="triangle">
            <a:avLst/>
          </a:prstGeom>
          <a:solidFill>
            <a:srgbClr val="3B1F47"/>
          </a:solidFill>
          <a:ln w="12700">
            <a:solidFill>
              <a:srgbClr val="3B1F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280160" y="3017520"/>
            <a:ext cx="6583680" cy="320040"/>
          </a:xfrm>
          <a:prstGeom prst="line">
            <a:avLst/>
          </a:prstGeom>
          <a:noFill/>
          <a:ln w="38100">
            <a:solidFill>
              <a:srgbClr val="3B1F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5F3F7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691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PREVENIR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75688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Menos enfermedades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Menos costos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Más calidad de vida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Más productividad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28016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5F3F7"/>
          </a:solidFill>
          <a:ln w="254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325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5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TRATAR TARDE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709928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Hospitalizaciones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Complicaciones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Gasto de bolsillo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Pérdida de autonomía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B1F47"/>
                </a:solidFill>
              </a:rPr>
              <a:t>Prevenir siempre cuesta menos que tratar una enfermedad avanzada (OMS, 2021).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1F47"/>
                </a:solidFill>
              </a:rPr>
              <a:t>PREGUNTA ORIENTADORA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Lo que el sistema colombiano garantiza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1463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Ruta de Promoción y Mantenimiento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659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Valoraciones y tamizajes en cada etapa de la vida (Res. 3280 de 2018)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17720" y="1280160"/>
            <a:ext cx="4023360" cy="14630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463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copagos ni cuotas moderadoras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9659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En los servicios de promoción y prevención (Acuerdo 260 de 2004)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4023360" cy="14630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108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Intervenciones Colectivas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6118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Acciones gratuitas en hogares, colegios y comunidades (Res. 1597 de 2025)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17720" y="2926080"/>
            <a:ext cx="4023360" cy="14630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3108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Vacunación gratuita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36118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Programa Ampliado de Inmunizaciones (Ley 1373 de 2010)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85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</a:rPr>
              <a:t>REFLEXIÓN FINAL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09728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Prevenir es cuidar, y cuidar es tarea de todos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7180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1BEE7"/>
                </a:solidFill>
              </a:rPr>
              <a:t>Cada población necesita una respuesta distinta. Cuando la comunidad, el sistema de salud y el Estado trabajan juntos, la prevención llega a donde vive la gente.</a:t>
            </a:r>
            <a:endParaRPr lang="en-US" sz="1600" dirty="0"/>
          </a:p>
        </p:txBody>
      </p:sp>
      <p:sp>
        <p:nvSpPr>
          <p:cNvPr id="5" name="Recuadro de imagen"/>
          <p:cNvSpPr/>
          <p:nvPr/>
        </p:nvSpPr>
        <p:spPr>
          <a:xfrm>
            <a:off x="5852160" y="502920"/>
            <a:ext cx="2834640" cy="4114800"/>
          </a:xfrm>
          <a:prstGeom prst="rect">
            <a:avLst/>
          </a:prstGeom>
          <a:solidFill>
            <a:srgbClr val="4A2E58"/>
          </a:solidFill>
          <a:ln w="15875">
            <a:solidFill>
              <a:srgbClr val="C9A7D8"/>
            </a:solidFill>
            <a:prstDash val="dash"/>
          </a:ln>
        </p:spPr>
      </p:sp>
      <p:sp>
        <p:nvSpPr>
          <p:cNvPr id="6" name="Indicación de imagen"/>
          <p:cNvSpPr txBox="1"/>
          <p:nvPr/>
        </p:nvSpPr>
        <p:spPr>
          <a:xfrm>
            <a:off x="5961888" y="612648"/>
            <a:ext cx="2615184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A825"/>
                </a:solidFill>
              </a:rPr>
              <a:t>IMAGEN SUGERIDA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Foto de una comunidad unida o de manos juntas (Pexels: “community together”, “hands together diversity”).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1F47"/>
                </a:solidFill>
              </a:rPr>
              <a:t>REFERENCIAS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Referencias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Congreso de la República. (2015). Ley Estatutaria 1751.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Congreso de la República. (2009). Ley 1355; Ley 1276.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Congreso de la República. (2013). Ley 1616.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Congreso de la República. (2021). Ley 2120.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Congreso de la República. (2008). Ley 1251.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Congreso de la República. (2020). Ley 2055.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Congreso de la República. (1979). Ley 9.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Congreso de la República. (1992). Ley 30.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Congreso de la República. (2010). Ley 1373.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Hernández-Sarmiento, J. M., et al. (2020). La educación en salud como una importante estrategia de promoción y prevención. Archivos de Medicina, 20(2), 4-20.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23444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Ministerio de Salud y Protección Social. (2018). Resolución 3280.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Ministerio de Salud y Protección Social. (2022). Resolución 1035; Decreto 681.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Ministerio de Salud y Protección Social. (2024). Resolución 100.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Ministerio de Salud y Protección Social. (2025). Resolución 1597; Decreto 729.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Ministerio de la Protección Social. (2007). Decreto 1575; Resolución 2115.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Consejo Nacional de Seguridad Social en Salud. (2004). Acuerdo 260.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Organización Mundial de la Salud. (2021). Estrategia mundial para acelerar la eliminación del cáncer del cuello uterino como problema de salud pública.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1F47"/>
                </a:solidFill>
              </a:rPr>
              <a:t>PREVENIR ES CUIDAR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Créditos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6A1B9A"/>
                          </a:solidFill>
                        </a:rPr>
                        <a:t>Investigación, guion, voz y edición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Yina Vanessa Cadena Mantilla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6A1B9A"/>
                          </a:solidFill>
                        </a:rPr>
                        <a:t>Imágenes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Wikimedia Commons, licencias libres (autor y licencia en cada foto)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6A1B9A"/>
                          </a:solidFill>
                        </a:rPr>
                        <a:t>Música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Producción propia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6A1B9A"/>
                          </a:solidFill>
                        </a:rPr>
                        <a:t>Edición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Canva / Clipchamp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6A1B9A"/>
                          </a:solidFill>
                        </a:rPr>
                        <a:t>Curso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[Nombre del curso] · Semana 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6A1B9A"/>
                          </a:solidFill>
                        </a:rPr>
                        <a:t>Docente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[Nombre del docente]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6A1B9A"/>
                          </a:solidFill>
                        </a:rPr>
                        <a:t>Institución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Corporación Universitaria Minuto de Dios – UNIMINUTO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evenir es cuidar">
  <a:themeElements>
    <a:clrScheme name="Prevenir es cuidar">
      <a:dk1>
        <a:srgbClr val="263238"/>
      </a:dk1>
      <a:lt1>
        <a:srgbClr val="FFFFFF"/>
      </a:lt1>
      <a:dk2>
        <a:srgbClr val="3B1F47"/>
      </a:dk2>
      <a:lt2>
        <a:srgbClr val="F5F3F7"/>
      </a:lt2>
      <a:accent1>
        <a:srgbClr val="2E7D32"/>
      </a:accent1>
      <a:accent2>
        <a:srgbClr val="6A1B9A"/>
      </a:accent2>
      <a:accent3>
        <a:srgbClr val="E65100"/>
      </a:accent3>
      <a:accent4>
        <a:srgbClr val="F9A825"/>
      </a:accent4>
      <a:accent5>
        <a:srgbClr val="607D8B"/>
      </a:accent5>
      <a:accent6>
        <a:srgbClr val="00897B"/>
      </a:accent6>
      <a:hlink>
        <a:srgbClr val="6A1B9A"/>
      </a:hlink>
      <a:folHlink>
        <a:srgbClr val="3B1F47"/>
      </a:folHlink>
    </a:clrScheme>
    <a:fontScheme name="Prevenir es cuida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Prevenir es cuidar</dc:title>
  <dc:subject>PptxGenJS Presentation</dc:subject>
  <dc:creator>Yina Vanessa Cadena Mantilla</dc:creator>
  <cp:lastModifiedBy>Yina Vanessa Cadena Mantilla</cp:lastModifiedBy>
  <cp:revision>1</cp:revision>
  <dcterms:created xsi:type="dcterms:W3CDTF">2026-10-14T23:26:45Z</dcterms:created>
  <dcterms:modified xsi:type="dcterms:W3CDTF">2026-10-14T23:26:45Z</dcterms:modified>
</cp:coreProperties>
</file>