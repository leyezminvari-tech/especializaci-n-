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ón" id="{055fdf2d-c020-b12c-90c1-66984da50c75}">
          <p14:sldIdLst>
            <p14:sldId id="256"/>
            <p14:sldId id="257"/>
          </p14:sldIdLst>
        </p14:section>
        <p14:section name="Conceptos" id="{ca7e3031-7e8e-d8b5-ee17-5a2bca33c220}">
          <p14:sldIdLst>
            <p14:sldId id="258"/>
            <p14:sldId id="259"/>
          </p14:sldIdLst>
        </p14:section>
        <p14:section name="Caso 1: comunidad rural" id="{6d7cb8e3-81e0-be40-5eed-03f08ed62238}">
          <p14:sldIdLst>
            <p14:sldId id="260"/>
            <p14:sldId id="261"/>
            <p14:sldId id="262"/>
            <p14:sldId id="263"/>
            <p14:sldId id="264"/>
          </p14:sldIdLst>
        </p14:section>
        <p14:section name="Caso 2: universitarios" id="{2f2c67bf-6aae-84ad-79b7-6e56b4435187}">
          <p14:sldIdLst>
            <p14:sldId id="265"/>
            <p14:sldId id="266"/>
            <p14:sldId id="267"/>
            <p14:sldId id="268"/>
            <p14:sldId id="269"/>
          </p14:sldIdLst>
        </p14:section>
        <p14:section name="Caso 3: adultos mayores" id="{cb697ed0-5ad6-76c8-5321-2af237e0b4c3}">
          <p14:sldIdLst>
            <p14:sldId id="270"/>
            <p14:sldId id="271"/>
            <p14:sldId id="272"/>
            <p14:sldId id="273"/>
            <p14:sldId id="274"/>
          </p14:sldIdLst>
        </p14:section>
        <p14:section name="Beneficios" id="{4e9e93df-50f0-daaf-b92a-a3ac9c427eab}">
          <p14:sldIdLst>
            <p14:sldId id="275"/>
            <p14:sldId id="276"/>
          </p14:sldIdLst>
        </p14:section>
        <p14:section name="Cierre" id="{5db9e599-29a1-3ee8-d3c9-02f7e34acfdc}">
          <p14:sldIdLst>
            <p14:sldId id="277"/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Escena 1. Portada (0:00 – 0:10, 10 s)
Música: Apertura cálida
VOZ EN OFF:
(Sin voz. Solo música de apertura.)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Escena 2. Introducción (0:10 – 0:35, 25 s)
Música: Suave
VOZ EN OFF:
Hola, soy Yina Vanessa Cadena Mantilla, estudiante de la Especialización en Gerencia y Auditoría de la Calidad en Salud de UNIMINUTO. Este video está dirigido a la comunidad y a los equipos de salud, y presenta propuestas de prevención para una comunidad rural, estudiantes universitarios y adultos mayores.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Escena 3. Niveles de prevención (0:35 – 0:55, 20 s)
Música: Suave
VOZ EN OFF:
Promover la salud es dar a las personas herramientas para cuidarse. La prevención tiene tres niveles: la primaria evita que la enfermedad aparezca; la secundaria la detecta a tiempo, con tamizajes y controles; y la terciaria evita complicaciones en quien ya está enfermo.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Escena 4. Marco normativo (0:55 – 1:15, 20 s)
Música: Suave
VOZ EN OFF:
Estas propuestas no parten de cero: la Ley 1751 de 2015 reconoce la salud como un derecho fundamental; la Resolución 3280 de 2018 crea la Ruta de Promoción y Mantenimiento de la Salud; y la Resolución 1597 de 2025 define el Plan de Intervenciones Colectivas.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Escena 5. Caso 1: población y necesidades (1:15 – 1:40, 25 s)
Música: Acústica de campo
VOZ EN OFF:
El primer caso es una vereda agrícola, con familias campesinas de varias generaciones: adultos de 30 a 50 años y niños que acompañan las labores del campo. En salud, consultan poco de forma preventiva; en nutrición, manipulan los alimentos sin higiene; en su entorno, el agua no se trata y las letrinas son improvisadas; y en prevención, fumigan sin protección.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Escena 6. Caso 1: riesgos (1:40 – 2:00, 20 s)
Música: Acústica de campo
VOZ EN OFF:
Por eso aparecen intoxicaciones leves, enfermedades de la piel y respiratorias, diarrea en los niños y lesiones articulares. Es un riesgo ambiental y ocupacional, de tipo colectivo, porque toda la vereda comparte la misma agua y la misma exposición. Su prioridad es alta.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Escena 7. Caso 1: la actividad (2:00 – 2:20, 20 s)
Música: Acústica de campo
VOZ EN OFF:
Propongo la jornada “Finca sana, familia sana”, de prevención primaria. Su objetivo es reducir la exposición al agua no segura y a los agroquímicos. Lo novedoso es que se hace en la misma vereda, sin interrumpir el trabajo, y con juegos entre madres e hijos.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Escena 8. Caso 1: ¿cómo se hace? (2:20 – 2:40, 20 s)
Música: Acústica de campo
VOZ EN OFF:
La jornada tiene tres estaciones: agua segura, agroquímicos sin riesgo y cuerpo sano. La atienden el técnico de saneamiento, enfermería y un promotor de salud, junto con la Secretaría de Salud, la ESE, la UMATA y la escuela. Se mide cuántos hogares tratan el agua.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Escena 9. Caso 1: respaldo normativo y viabilidad (2:40 – 3:00, 20 s)
Música: Acústica de campo
VOZ EN OFF:
Se financia con el Plan de Intervenciones Colectivas y se apoya en la Ley 9 de 1979 y en la Resolución 2115 de 2007, sobre calidad del agua. Es de bajo costo, pero tiene un reto: la Secretaría de Salud debe incluirla en su plan territorial.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Escena 10. Caso 2: población y necesidades (3:00 – 3:25, 25 s)
Música: Dinámica y juvenil
VOZ EN OFF:
El segundo caso es el de estudiantes universitarios de 18 a 25 años que vienen de otras regiones y viven en residencias o viviendas compartidas. En salud, no tienen hábitos de autocuidado; en nutrición, comen comida rápida y toman mucho café y bebidas energéticas; en su entorno, pasan horas frente a pantallas; y en prevención, se mueven poco y duermen mal.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Escena 11. Caso 2: riesgos (3:25 – 3:45, 20 s)
Música: Dinámica y juvenil
VOZ EN OFF:
Esto genera sobrepeso, sedentarismo, problemas posturales, ansiedad, insomnio y, con los años, riesgo cardiovascular. Es un riesgo por estilos de vida y psicosocial; es individual, pero se repite en muchos estudiantes. Por eso su prioridad es media-alta.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Escena 12. Caso 2: la actividad (3:45 – 4:05, 20 s)
Música: Dinámica y juvenil
VOZ EN OFF:
Propongo la campaña “Recarga tu bienestar”, de prevención primaria y secundaria. Busca que los estudiantes cuiden su alimentación, su actividad física, su descanso y su salud mental. Lo innovador es que la feria se hace antes de los parciales y continúa con retos en redes sociales.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Escena 13. Caso 2: ¿cómo se hace? (4:05 – 4:25, 20 s)
Música: Dinámica y juvenil
VOZ EN OFF:
La feria tiene tres estaciones: tamizaje, comida rápida pero sana, y muévete y desconéctate. La atienden enfermería, nutrición, psicología y deporte, con Bienestar Universitario y la EPS. Quien tenga un riesgo se remite a atención, y se mide cuántos estudiantes fueron tamizados.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Escena 14. Caso 2: respaldo normativo y viabilidad (4:25 – 4:45, 20 s)
Música: Dinámica y juvenil
VOZ EN OFF:
La respaldan la Resolución 3280, en la juventud; las leyes 1355, de obesidad, y 2120, de etiquetado frontal; y el Decreto 729 de 2025, de salud mental. Es viable con el presupuesto de Bienestar Universitario; el reto es lograr que los estudiantes participen.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Escena 15. Caso 3: población y necesidades (4:45 – 5:10, 25 s)
Música: Cálida (piano)
VOZ EN OFF:
El tercer caso es el de adultos mayores de un barrio periférico, con bajos ingresos; muchos viven solos. En salud, tienen hipertensión y diabetes y no siguen bien sus tratamientos; en nutrición, comen poca proteína, fruta y verdura; en su entorno, las casas tienen pisos resbalosos y poca luz; y en prevención, casi no asisten a los encuentros comunitarios.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Escena 16. Caso 3: riesgos (5:10 – 5:30, 20 s)
Música: Cálida (piano)
VOZ EN OFF:
Los riesgos son las complicaciones de la hipertensión y la diabetes, la pérdida de masa muscular, las caídas y la soledad. Es un riesgo cardiovascular, de caídas y psicosocial. Su prioridad es alta, porque una caída o un infarto pueden quitarle la autonomía a quien vive solo.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Escena 17. Caso 3: la actividad (5:30 – 5:50, 20 s)
Música: Cálida (piano)
VOZ EN OFF:
Propongo el club “Envejecer con salud”, de prevención secundaria y terciaria, para personas de 60 años o más y sus cuidadores. Su objetivo es controlar las enfermedades crónicas, prevenir caídas y reducir la soledad. Lo innovador es el “vecino acompañante” y que los mayores enseñan sus oficios.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Escena 18. Caso 3: ¿cómo se hace? (5:50 – 6:10, 20 s)
Música: Cálida (piano)
VOZ EN OFF:
Cada semana se toma la presión y la glucosa, se hacen ejercicios de fuerza y equilibrio y talleres de alimentación económica. Además, se visitan las casas para revisar riesgos de caídas. Participan enfermería, medicina, nutrición y trabajo social, con el Centro Vida, la ESE y la 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Escena 19. Caso 3: respaldo normativo y viabilidad (6:10 – 6:30, 20 s)
Música: Cálida (piano)
VOZ EN OFF:
La respaldan la Resolución 3280 en el momento de vejez, la Ley 1251, la Ley 1276, que crea los Centros Vida, y el Decreto 681 de 2022. Se financia con la estampilla del adulto mayor; el reto es llegar a quienes no pueden salir de casa.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Escena 20. Beneficios para todos (6:30 – 6:50, 20 s)
Música: Suave
VOZ EN OFF:
¿Cuáles son los beneficios para todos? Las personas viven más años con salud y autonomía; las familias gastan menos y tienen menos enfermos que cuidar; y el sistema ahorra hospitalizaciones y tratamientos costosos. Prevenir siempre cuesta menos que tratar una enfermedad avanzada.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Escena 21. Beneficios del sistema (6:50 – 7:10, 20 s)
Música: Suave
VOZ EN OFF:
Además, el sistema de salud colombiano garantiza la Ruta de Promoción y Mantenimiento, servicios de promoción y prevención sin copagos ni cuotas moderadoras, acciones gratuitas del Plan de Intervenciones Colectivas y vacunación gratuita para toda la población.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Escena 22. Cierre (7:10 – 7:30, 20 s)
Música: Cálida, en crescendo
VOZ EN OFF:
Prevenir no es esperar a que llegue la enfermedad, es adelantarse a ella. Con acciones sencillas, cercanas y pensadas para cada población, es posible ganar años de vida con salud. Gracias por acompañarme.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Escena 23. Referencias (7:30 – 7:40, 10 s)
Música: Suave
VOZ EN OFF:
(Sin voz.)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Escena 24. Créditos (7:40 – 7:50, 10 s)
Música: Se desvanece
VOZ EN OFF:
(Sin voz.)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097280"/>
            <a:ext cx="4937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UNIMINUTO"/>
          <p:cNvSpPr/>
          <p:nvPr/>
        </p:nvSpPr>
        <p:spPr>
          <a:xfrm>
            <a:off x="548640" y="164592"/>
            <a:ext cx="173736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C9A7D8"/>
            </a:solidFill>
            <a:prstDash val="dash"/>
          </a:ln>
        </p:spPr>
      </p:sp>
      <p:sp>
        <p:nvSpPr>
          <p:cNvPr id="3" name="Reemplazar por el logo"/>
          <p:cNvSpPr txBox="1"/>
          <p:nvPr/>
        </p:nvSpPr>
        <p:spPr>
          <a:xfrm>
            <a:off x="548640" y="16459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B1F47"/>
                </a:solidFill>
              </a:rPr>
              <a:t>LOGO UNIMINUTO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315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A825"/>
                </a:solidFill>
              </a:rPr>
              <a:t>VIDEO · SEMANA 8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109728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Prevenir es cuidar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9A825"/>
                </a:solidFill>
              </a:rPr>
              <a:t>Tema: </a:t>
            </a:r>
            <a:pPr indent="0" marL="0">
              <a:buNone/>
            </a:pPr>
            <a:r>
              <a:rPr lang="en-US" sz="1600" dirty="0">
                <a:solidFill>
                  <a:srgbClr val="E1BEE7"/>
                </a:solidFill>
              </a:rPr>
              <a:t>una mirada hacia la prevención de los individuos y las poblaciones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971800"/>
            <a:ext cx="256032" cy="256032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05840" y="2971800"/>
            <a:ext cx="256032" cy="256032"/>
          </a:xfrm>
          <a:prstGeom prst="ellipse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63040" y="2971800"/>
            <a:ext cx="256032" cy="256032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42900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Yina Vanessa Cadena Mantilla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FFFFFF"/>
                </a:solidFill>
              </a:rPr>
              <a:t>Curso: [Nombre del curso]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FFFFFF"/>
                </a:solidFill>
              </a:rPr>
              <a:t>Especialización en Gerencia y Auditoría de la Calidad en Salud · UNIMINUTO</a:t>
            </a:r>
            <a:endParaRPr lang="en-US" sz="1200" dirty="0"/>
          </a:p>
        </p:txBody>
      </p:sp>
      <p:sp>
        <p:nvSpPr>
          <p:cNvPr id="11" name="Recuadro de imagen"/>
          <p:cNvSpPr/>
          <p:nvPr/>
        </p:nvSpPr>
        <p:spPr>
          <a:xfrm>
            <a:off x="5852160" y="502920"/>
            <a:ext cx="2834640" cy="4114800"/>
          </a:xfrm>
          <a:prstGeom prst="rect">
            <a:avLst/>
          </a:prstGeom>
          <a:solidFill>
            <a:srgbClr val="4A2E58"/>
          </a:solidFill>
          <a:ln w="15875">
            <a:solidFill>
              <a:srgbClr val="C9A7D8"/>
            </a:solidFill>
            <a:prstDash val="dash"/>
          </a:ln>
        </p:spPr>
      </p:sp>
      <p:sp>
        <p:nvSpPr>
          <p:cNvPr id="12" name="Indicación de imagen"/>
          <p:cNvSpPr txBox="1"/>
          <p:nvPr/>
        </p:nvSpPr>
        <p:spPr>
          <a:xfrm>
            <a:off x="5961888" y="612648"/>
            <a:ext cx="2615184" cy="3895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A825"/>
                </a:solidFill>
              </a:rPr>
              <a:t>IMAGEN SUGERIDA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Foto vertical de una familia o comunidad con un profesional de salud (Pexels: “community health worker”, “family health”). En Canva, con un filtro morado suave.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1F47"/>
                </a:solidFill>
              </a:rPr>
              <a:t>TRES CONTEXTOS, TRES PROPUESTAS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¿De qué trata este video?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325880" y="1280160"/>
            <a:ext cx="868680" cy="86868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25880" y="12801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2402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7D32"/>
                </a:solidFill>
              </a:rPr>
              <a:t>Comunidad rural agrícola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114800" y="1280160"/>
            <a:ext cx="868680" cy="868680"/>
          </a:xfrm>
          <a:prstGeom prst="ellipse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114800" y="12801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2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246120" y="22402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A1B9A"/>
                </a:solidFill>
              </a:rPr>
              <a:t>Estudiantes universitarios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903720" y="1280160"/>
            <a:ext cx="868680" cy="86868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03720" y="12801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3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22402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5100"/>
                </a:solidFill>
              </a:rPr>
              <a:t>Adultos mayores en barrio periférico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3063240"/>
            <a:ext cx="5120640" cy="1463040"/>
          </a:xfrm>
          <a:prstGeom prst="roundRect">
            <a:avLst>
              <a:gd name="adj" fmla="val 6250"/>
            </a:avLst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320040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B1F47"/>
                </a:solidFill>
              </a:rPr>
              <a:t>Dirigido a: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comunidad en general y sus líderes, y a los equipos de salud, bienestar universitario y secretarías de salud que pueden implementar las propuestas.</a:t>
            </a:r>
            <a:endParaRPr lang="en-US" sz="1400" dirty="0"/>
          </a:p>
        </p:txBody>
      </p:sp>
      <p:pic>
        <p:nvPicPr>
          <p:cNvPr id="15" name="Image 0" descr="Campesino colombiano y su gana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3063240"/>
            <a:ext cx="914400" cy="146304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5852160" y="4306824"/>
            <a:ext cx="914400" cy="219456"/>
          </a:xfrm>
          <a:prstGeom prst="rect">
            <a:avLst/>
          </a:prstGeom>
          <a:solidFill>
            <a:srgbClr val="000000">
              <a:alpha val="55000"/>
            </a:srgbClr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925312" y="4306824"/>
            <a:ext cx="768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Foto: Julianruizp · CC BY-SA 4.0 · Wikimedia Commons</a:t>
            </a:r>
            <a:endParaRPr lang="en-US" sz="750" dirty="0"/>
          </a:p>
        </p:txBody>
      </p:sp>
      <p:pic>
        <p:nvPicPr>
          <p:cNvPr id="18" name="Image 1" descr="Sias Library - Students Studying 2017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3063240"/>
            <a:ext cx="914400" cy="1463040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6812280" y="4306824"/>
            <a:ext cx="914400" cy="219456"/>
          </a:xfrm>
          <a:prstGeom prst="rect">
            <a:avLst/>
          </a:prstGeom>
          <a:solidFill>
            <a:srgbClr val="000000">
              <a:alpha val="55000"/>
            </a:srgbClr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6885432" y="4306824"/>
            <a:ext cx="768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Foto: Gary Todd · CC0 · Wikimedia Commons</a:t>
            </a:r>
            <a:endParaRPr lang="en-US" sz="750" dirty="0"/>
          </a:p>
        </p:txBody>
      </p:sp>
      <p:sp>
        <p:nvSpPr>
          <p:cNvPr id="21" name="Recuadro de imagen"/>
          <p:cNvSpPr/>
          <p:nvPr/>
        </p:nvSpPr>
        <p:spPr>
          <a:xfrm>
            <a:off x="7772400" y="3063240"/>
            <a:ext cx="914400" cy="1463040"/>
          </a:xfrm>
          <a:prstGeom prst="rect">
            <a:avLst/>
          </a:prstGeom>
          <a:solidFill>
            <a:srgbClr val="F7F7F7"/>
          </a:solidFill>
          <a:ln w="15875">
            <a:solidFill>
              <a:srgbClr val="9E9E9E"/>
            </a:solidFill>
            <a:prstDash val="dash"/>
          </a:ln>
        </p:spPr>
      </p:sp>
      <p:sp>
        <p:nvSpPr>
          <p:cNvPr id="22" name="Indicación de imagen"/>
          <p:cNvSpPr txBox="1"/>
          <p:nvPr/>
        </p:nvSpPr>
        <p:spPr>
          <a:xfrm>
            <a:off x="7882128" y="3172968"/>
            <a:ext cx="69494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1B9A"/>
                </a:solidFill>
              </a:rPr>
              <a:t>IMAGEN SUGERIDA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63238"/>
                </a:solidFill>
              </a:rPr>
              <a:t>Adulto mayor (Pexels: “elderly”)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1F47"/>
                </a:solidFill>
              </a:rPr>
              <a:t>CONCEPTOS CLAVE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Los tres niveles de prevención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2926080"/>
            <a:ext cx="1874520" cy="16002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303580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Primaria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34290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Evitar que la enfermedad llegue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93192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Educación, vacunación, hábitos saludables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23160" y="2194560"/>
            <a:ext cx="1874520" cy="2331720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32888" y="230428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Secundaria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532888" y="26974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Detectarla a tiempo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532888" y="32004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Tamizajes, controles y diagnóstico temprano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89120" y="1463040"/>
            <a:ext cx="1874520" cy="306324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98848" y="157276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Terciaria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498848" y="19659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Evitar complicaciones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498848" y="246888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Control de enfermedades crónicas y rehabilitación</a:t>
            </a:r>
            <a:endParaRPr lang="en-US" sz="1100" dirty="0"/>
          </a:p>
        </p:txBody>
      </p:sp>
      <p:pic>
        <p:nvPicPr>
          <p:cNvPr id="16" name="Image 0" descr="Nurse checks blood press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80160"/>
            <a:ext cx="2194560" cy="320040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492240" y="4261104"/>
            <a:ext cx="2194560" cy="219456"/>
          </a:xfrm>
          <a:prstGeom prst="rect">
            <a:avLst/>
          </a:prstGeom>
          <a:solidFill>
            <a:srgbClr val="000000">
              <a:alpha val="55000"/>
            </a:srgbClr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565392" y="4261104"/>
            <a:ext cx="20482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Foto: Linda Bartlett (Photographer) · Public domain · Wikimedia Commons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1F47"/>
                </a:solidFill>
              </a:rPr>
              <a:t>MARCO NORMATIVO VIGENTE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Las normas que respaldan la prevención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514600"/>
            <a:ext cx="8046720" cy="0"/>
          </a:xfrm>
          <a:prstGeom prst="line">
            <a:avLst/>
          </a:prstGeom>
          <a:noFill/>
          <a:ln w="25400">
            <a:solidFill>
              <a:srgbClr val="607D8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1560" y="23317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5544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2015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8346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Ley 1751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1546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7D8B"/>
                </a:solidFill>
              </a:rPr>
              <a:t>Derecho fundamental a la salud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34640" y="2331720"/>
            <a:ext cx="365760" cy="365760"/>
          </a:xfrm>
          <a:prstGeom prst="ellipse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31720" y="15544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A1B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2018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2331720" y="28346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Res. 3280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31546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7D8B"/>
                </a:solidFill>
              </a:rPr>
              <a:t>Ruta de Promoción y Mantenimiento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17720" y="2331720"/>
            <a:ext cx="365760" cy="36576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0" y="15544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2022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4114800" y="28346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Res. 1035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114800" y="31546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7D8B"/>
                </a:solidFill>
              </a:rPr>
              <a:t>Plan Decenal de Salud Pública 2022-2031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0" y="2331720"/>
            <a:ext cx="365760" cy="36576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897880" y="15544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89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2024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5897880" y="28346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Res. 100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897880" y="31546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7D8B"/>
                </a:solidFill>
              </a:rPr>
              <a:t>Planeación Integral para la Salud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83880" y="2331720"/>
            <a:ext cx="365760" cy="365760"/>
          </a:xfrm>
          <a:prstGeom prst="ellipse">
            <a:avLst/>
          </a:prstGeom>
          <a:solidFill>
            <a:srgbClr val="3B1F47"/>
          </a:solidFill>
          <a:ln w="12700">
            <a:solidFill>
              <a:srgbClr val="3B1F4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680960" y="15544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1F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7680960" y="28346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Res. 1597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680960" y="31546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7D8B"/>
                </a:solidFill>
              </a:rPr>
              <a:t>Plan de Intervenciones Colectivas (PIC)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42519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07D8B"/>
                </a:solidFill>
              </a:rPr>
              <a:t>La Resolución 1597 de 2025 reemplazó a la Resolución 518 de 2015.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914400" cy="4572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0" y="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CASO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D32"/>
                </a:solidFill>
              </a:rPr>
              <a:t>POBLACIÓN Y NECESIDADES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vereda que vive del campo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4572000" cy="685800"/>
          </a:xfrm>
          <a:prstGeom prst="rect">
            <a:avLst/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34440"/>
            <a:ext cx="73152" cy="6858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234440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32"/>
                </a:solidFill>
              </a:rPr>
              <a:t>Población: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Familias campesinas de varias generaciones: adultos de 30 a 50 años y niños escolares que acompañan las labores del campo.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2240280" cy="1161288"/>
          </a:xfrm>
          <a:prstGeom prst="rect">
            <a:avLst/>
          </a:prstGeom>
          <a:solidFill>
            <a:srgbClr val="FFFFFF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2057400"/>
            <a:ext cx="2240280" cy="32918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057400"/>
            <a:ext cx="205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Salud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459736"/>
            <a:ext cx="2057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Escasa consulta preventiva y subregistro de eventos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788920" y="2057400"/>
            <a:ext cx="2240280" cy="1161288"/>
          </a:xfrm>
          <a:prstGeom prst="rect">
            <a:avLst/>
          </a:prstGeom>
          <a:solidFill>
            <a:srgbClr val="FFFFFF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88920" y="2057400"/>
            <a:ext cx="2240280" cy="32918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880360" y="2057400"/>
            <a:ext cx="205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Nutrición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880360" y="2459736"/>
            <a:ext cx="2057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Alimentos manipulados sin condiciones de higiene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3310128"/>
            <a:ext cx="2240280" cy="1161288"/>
          </a:xfrm>
          <a:prstGeom prst="rect">
            <a:avLst/>
          </a:prstGeom>
          <a:solidFill>
            <a:srgbClr val="FFFFFF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310128"/>
            <a:ext cx="2240280" cy="32918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3310128"/>
            <a:ext cx="205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Higiene y entorno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712464"/>
            <a:ext cx="2057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Agua sin tratar, letrinas improvisadas y residuos sin recoger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2788920" y="3310128"/>
            <a:ext cx="2240280" cy="1161288"/>
          </a:xfrm>
          <a:prstGeom prst="rect">
            <a:avLst/>
          </a:prstGeom>
          <a:solidFill>
            <a:srgbClr val="FFFFFF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88920" y="3310128"/>
            <a:ext cx="2240280" cy="329184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880360" y="3310128"/>
            <a:ext cx="205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Prevención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880360" y="3712464"/>
            <a:ext cx="2057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Fumigan sin protección y no conocen el cuidado articular</a:t>
            </a:r>
            <a:endParaRPr lang="en-US" sz="1150" dirty="0"/>
          </a:p>
        </p:txBody>
      </p:sp>
      <p:pic>
        <p:nvPicPr>
          <p:cNvPr id="25" name="Image 0" descr="Sweet potato farmers in Peru with pesticide spray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0" y="1234440"/>
            <a:ext cx="3474720" cy="3291840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5212080" y="4306824"/>
            <a:ext cx="3474720" cy="219456"/>
          </a:xfrm>
          <a:prstGeom prst="rect">
            <a:avLst/>
          </a:prstGeom>
          <a:solidFill>
            <a:srgbClr val="000000">
              <a:alpha val="55000"/>
            </a:srgbClr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5285232" y="4306824"/>
            <a:ext cx="3328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Foto: JIRCAS · CC BY 2.0 · Wikimedia Commons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914400" cy="4572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0" y="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CASO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D32"/>
                </a:solidFill>
              </a:rPr>
              <a:t>RIESGOS Y ENFERMEDADES PREVALENTES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¿Qué pone en riesgo su salud?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1737360" cy="1005840"/>
          </a:xfrm>
          <a:prstGeom prst="roundRect">
            <a:avLst>
              <a:gd name="adj" fmla="val 7273"/>
            </a:avLst>
          </a:prstGeom>
          <a:solidFill>
            <a:srgbClr val="F5F3F7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1325880"/>
            <a:ext cx="1517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Intoxicaciones leves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1856232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1856232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Químico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331720" y="1234440"/>
            <a:ext cx="1737360" cy="1005840"/>
          </a:xfrm>
          <a:prstGeom prst="roundRect">
            <a:avLst>
              <a:gd name="adj" fmla="val 7273"/>
            </a:avLst>
          </a:prstGeom>
          <a:solidFill>
            <a:srgbClr val="F5F3F7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441448" y="1325880"/>
            <a:ext cx="1517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Enfermedades de la piel y respiratorias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441448" y="1856232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41448" y="1856232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Químico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06240" y="1234440"/>
            <a:ext cx="1737360" cy="1005840"/>
          </a:xfrm>
          <a:prstGeom prst="roundRect">
            <a:avLst>
              <a:gd name="adj" fmla="val 7273"/>
            </a:avLst>
          </a:prstGeom>
          <a:solidFill>
            <a:srgbClr val="F5F3F7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15968" y="1325880"/>
            <a:ext cx="1517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Diarrea en niños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15968" y="1856232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15968" y="1856232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Biológico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331720"/>
            <a:ext cx="1737360" cy="1005840"/>
          </a:xfrm>
          <a:prstGeom prst="roundRect">
            <a:avLst>
              <a:gd name="adj" fmla="val 7273"/>
            </a:avLst>
          </a:prstGeom>
          <a:solidFill>
            <a:srgbClr val="F5F3F7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66928" y="2423160"/>
            <a:ext cx="1517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Lesiones articulares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2953512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2953512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Ergonómico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331720" y="2331720"/>
            <a:ext cx="1737360" cy="1005840"/>
          </a:xfrm>
          <a:prstGeom prst="roundRect">
            <a:avLst>
              <a:gd name="adj" fmla="val 7273"/>
            </a:avLst>
          </a:prstGeom>
          <a:solidFill>
            <a:srgbClr val="F5F3F7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441448" y="2423160"/>
            <a:ext cx="1517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Sedentarismo en mujeres y niños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441448" y="2953512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441448" y="2953512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Estilo de vida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206240" y="2331720"/>
            <a:ext cx="1737360" cy="1005840"/>
          </a:xfrm>
          <a:prstGeom prst="roundRect">
            <a:avLst>
              <a:gd name="adj" fmla="val 7273"/>
            </a:avLst>
          </a:prstGeom>
          <a:solidFill>
            <a:srgbClr val="F5F3F7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15968" y="2423160"/>
            <a:ext cx="1517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Poca consulta preventiva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315968" y="2953512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315968" y="2953512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Acceso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3364992"/>
            <a:ext cx="5532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2E7D32"/>
                </a:solidFill>
              </a:rPr>
              <a:t>¿Por qué? Toda la vereda comparte la misma agua y la misma exposición a los agroquímicos: el riesgo es colectivo y la respuesta debe ser comunitaria.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023360"/>
            <a:ext cx="5532120" cy="54864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94360" y="402336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Clasificación: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Riesgo ambiental y ocupacional · colectivo · prioridad ALTA</a:t>
            </a:r>
            <a:endParaRPr lang="en-US" sz="1300" dirty="0"/>
          </a:p>
        </p:txBody>
      </p:sp>
      <p:pic>
        <p:nvPicPr>
          <p:cNvPr id="33" name="Image 0" descr="A farmer fetching water in a muddy pond to mix spraying chemical (herbicide) 0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1280160"/>
            <a:ext cx="2468880" cy="3291840"/>
          </a:xfrm>
          <a:prstGeom prst="rect">
            <a:avLst/>
          </a:prstGeom>
        </p:spPr>
      </p:pic>
      <p:sp>
        <p:nvSpPr>
          <p:cNvPr id="34" name="Shape 31"/>
          <p:cNvSpPr/>
          <p:nvPr/>
        </p:nvSpPr>
        <p:spPr>
          <a:xfrm>
            <a:off x="6217920" y="4352544"/>
            <a:ext cx="2468880" cy="219456"/>
          </a:xfrm>
          <a:prstGeom prst="rect">
            <a:avLst/>
          </a:prstGeom>
          <a:solidFill>
            <a:srgbClr val="000000">
              <a:alpha val="55000"/>
            </a:srgbClr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6291072" y="4352544"/>
            <a:ext cx="2322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Foto: Danjuma Anthony · CC BY-SA 4.0 · Wikimedia Commons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914400" cy="4572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0" y="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CASO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D32"/>
                </a:solidFill>
              </a:rPr>
              <a:t>LA ACTIVIDAD PROPUESTA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“Finca sana, familia sana”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4572000" cy="749808"/>
          </a:xfrm>
          <a:prstGeom prst="rect">
            <a:avLst/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34440"/>
            <a:ext cx="1417320" cy="749808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234440"/>
            <a:ext cx="1234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Nivel de prevención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2011680" y="1234440"/>
            <a:ext cx="2971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Primaria (con canalización secundaria)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057400"/>
            <a:ext cx="4572000" cy="749808"/>
          </a:xfrm>
          <a:prstGeom prst="rect">
            <a:avLst/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057400"/>
            <a:ext cx="1417320" cy="749808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057400"/>
            <a:ext cx="1234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Población objetivo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2011680" y="2057400"/>
            <a:ext cx="2971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Familias de la vereda: agricultores, mujeres y niños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880360"/>
            <a:ext cx="4572000" cy="749808"/>
          </a:xfrm>
          <a:prstGeom prst="rect">
            <a:avLst/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2880360"/>
            <a:ext cx="1417320" cy="749808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2880360"/>
            <a:ext cx="1234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Objetivo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2880360"/>
            <a:ext cx="2971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Reducir la exposición al agua no segura y a los agroquímicos, y fortalecer el autocuidado sin interrumpir el trabajo del campo.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703320"/>
            <a:ext cx="4572000" cy="749808"/>
          </a:xfrm>
          <a:prstGeom prst="rect">
            <a:avLst/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703320"/>
            <a:ext cx="1417320" cy="749808"/>
          </a:xfrm>
          <a:prstGeom prst="rect">
            <a:avLst/>
          </a:prstGeom>
          <a:solidFill>
            <a:srgbClr val="F9A825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703320"/>
            <a:ext cx="1234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1F47"/>
                </a:solidFill>
              </a:rPr>
              <a:t>Lo innovador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2011680" y="3703320"/>
            <a:ext cx="2971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Se hace en la misma vereda, sin interrumpir el trabajo, con estaciones prácticas y juego entre madres e hijos.</a:t>
            </a:r>
            <a:endParaRPr lang="en-US" sz="1100" dirty="0"/>
          </a:p>
        </p:txBody>
      </p:sp>
      <p:sp>
        <p:nvSpPr>
          <p:cNvPr id="22" name="Recuadro de imagen"/>
          <p:cNvSpPr/>
          <p:nvPr/>
        </p:nvSpPr>
        <p:spPr>
          <a:xfrm>
            <a:off x="5303520" y="1280160"/>
            <a:ext cx="3383280" cy="3108960"/>
          </a:xfrm>
          <a:prstGeom prst="rect">
            <a:avLst/>
          </a:prstGeom>
          <a:solidFill>
            <a:srgbClr val="F7F7F7"/>
          </a:solidFill>
          <a:ln w="15875">
            <a:solidFill>
              <a:srgbClr val="9E9E9E"/>
            </a:solidFill>
            <a:prstDash val="dash"/>
          </a:ln>
        </p:spPr>
      </p:sp>
      <p:sp>
        <p:nvSpPr>
          <p:cNvPr id="23" name="Indicación de imagen"/>
          <p:cNvSpPr txBox="1"/>
          <p:nvPr/>
        </p:nvSpPr>
        <p:spPr>
          <a:xfrm>
            <a:off x="5413248" y="1389888"/>
            <a:ext cx="316382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1B9A"/>
                </a:solidFill>
              </a:rPr>
              <a:t>IMAGEN SUGERIDA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63238"/>
                </a:solidFill>
              </a:rPr>
              <a:t>Foto de un taller comunitario en una escuela o caseta rural (Pexels: “community workshop rural”).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914400" cy="4572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0" y="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CASO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D32"/>
                </a:solidFill>
              </a:rPr>
              <a:t>ACCIONES, RECURSOS Y GESTIÓN PÚBLICA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¿Cómo se hace?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1920240" cy="640080"/>
          </a:xfrm>
          <a:prstGeom prst="chevron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2344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1. Agua segura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9659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Hervir, clorar y tapar el agua; lavado de manos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331720" y="1234440"/>
            <a:ext cx="1920240" cy="640080"/>
          </a:xfrm>
          <a:prstGeom prst="chevron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2344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2. Agroquímicos sin riesgo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331720" y="19659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Guantes, tapabocas, gafas; triple lavado de envases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06240" y="1234440"/>
            <a:ext cx="1920240" cy="640080"/>
          </a:xfrm>
          <a:prstGeom prst="chevron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26280" y="12344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3. Cuerpo sano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206240" y="19659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Pausas activas y juego entre madres e hijos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74320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</a:rPr>
              <a:t>Recursos: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Técnico de saneamiento · enfermería · promotor · kits de cloro · cartillas · caseta comunal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47472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</a:rPr>
              <a:t>Indicadores: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% de hogares que tratan el agua · casos de diarrea en niños · % de agricultores que usan protección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543800" y="1783080"/>
            <a:ext cx="9144" cy="1051560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H="1">
            <a:off x="7543800" y="2509690"/>
            <a:ext cx="1000093" cy="324950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43800" y="2834640"/>
            <a:ext cx="618091" cy="850730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>
            <a:off x="6925709" y="2834640"/>
            <a:ext cx="618091" cy="850730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43707" y="2509690"/>
            <a:ext cx="1000093" cy="324950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086600" y="2377440"/>
            <a:ext cx="914400" cy="91440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086600" y="23774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Actores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040880" y="158191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059168" y="158191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Secretaría de Salud (PIC)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040973" y="230852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59261" y="230852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ESE municipal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658971" y="348420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677259" y="348420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UMATA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422789" y="348420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41077" y="348420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Acueducto comunitario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040787" y="230852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59075" y="230852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Escuela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914400" cy="4572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0" y="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CASO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D32"/>
                </a:solidFill>
              </a:rPr>
              <a:t>NORMAS, PROGRAMAS Y VIABILIDAD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¿Qué la respalda y por qué es viable?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5394960" cy="685800"/>
          </a:xfrm>
          <a:prstGeom prst="rect">
            <a:avLst/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34440"/>
            <a:ext cx="1920240" cy="6858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23444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Res. 1597 de 2025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2514600" y="123444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PIC: acciones colectivas gratuitas en el entorno comunitario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5394960" cy="685800"/>
          </a:xfrm>
          <a:prstGeom prst="rect">
            <a:avLst/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011680"/>
            <a:ext cx="1920240" cy="6858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01168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Res. 3280 de 2018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2514600" y="20116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Ruta de Promoción y Mantenimiento: educación para la salud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788920"/>
            <a:ext cx="5394960" cy="685800"/>
          </a:xfrm>
          <a:prstGeom prst="rect">
            <a:avLst/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2788920"/>
            <a:ext cx="1920240" cy="6858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278892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Ley 9 de 1979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2514600" y="278892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Código Sanitario: agua, residuos y uso de plaguicidas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566160"/>
            <a:ext cx="5394960" cy="685800"/>
          </a:xfrm>
          <a:prstGeom prst="rect">
            <a:avLst/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566160"/>
            <a:ext cx="1920240" cy="6858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5661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Decreto 1575 y Res. 2115 de 2007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2514600" y="356616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Control de la calidad del agua para consumo humano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389120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07D8B"/>
                </a:solidFill>
              </a:rPr>
              <a:t>Normas vigentes, verificadas en fuentes oficiales.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26480" y="1234440"/>
            <a:ext cx="2560320" cy="1024128"/>
          </a:xfrm>
          <a:prstGeom prst="rect">
            <a:avLst/>
          </a:prstGeom>
          <a:solidFill>
            <a:srgbClr val="F5F3F7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26480" y="1234440"/>
            <a:ext cx="2560320" cy="292608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0" y="12344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Financiación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217920" y="1572768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PIC municipal, ejecutado por la ESE.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126480" y="2350008"/>
            <a:ext cx="2560320" cy="1024128"/>
          </a:xfrm>
          <a:prstGeom prst="rect">
            <a:avLst/>
          </a:prstGeom>
          <a:solidFill>
            <a:srgbClr val="F5F3F7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0" y="2350008"/>
            <a:ext cx="2560320" cy="292608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17920" y="23500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Viabilidad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6217920" y="2688336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Bajo costo, en la vereda, con lenguaje sencillo y respeto por los horarios del campo.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126480" y="3465576"/>
            <a:ext cx="2560320" cy="1024128"/>
          </a:xfrm>
          <a:prstGeom prst="rect">
            <a:avLst/>
          </a:prstGeom>
          <a:solidFill>
            <a:srgbClr val="FFF8E1"/>
          </a:solidFill>
          <a:ln w="15875">
            <a:solidFill>
              <a:srgbClr val="F9A82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26480" y="3465576"/>
            <a:ext cx="2560320" cy="292608"/>
          </a:xfrm>
          <a:prstGeom prst="rect">
            <a:avLst/>
          </a:prstGeom>
          <a:solidFill>
            <a:srgbClr val="F9A825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17920" y="346557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1F47"/>
                </a:solidFill>
              </a:rPr>
              <a:t>Reto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6217920" y="3803904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La Secretaría de Salud debe incluirla en su plan territorial (Res. 100 de 2024).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914400" cy="457200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0" y="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CASO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A1B9A"/>
                </a:solidFill>
              </a:rPr>
              <a:t>POBLACIÓN Y NECESIDADES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vida universitaria acelerada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4572000" cy="685800"/>
          </a:xfrm>
          <a:prstGeom prst="rect">
            <a:avLst/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34440"/>
            <a:ext cx="73152" cy="685800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234440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A1B9A"/>
                </a:solidFill>
              </a:rPr>
              <a:t>Población: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Jóvenes de 18 a 25 años, de distintas regiones, que viven en residencias o viviendas compartidas.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2240280" cy="1161288"/>
          </a:xfrm>
          <a:prstGeom prst="rect">
            <a:avLst/>
          </a:prstGeom>
          <a:solidFill>
            <a:srgbClr val="FFFFFF"/>
          </a:solidFill>
          <a:ln w="15875">
            <a:solidFill>
              <a:srgbClr val="6A1B9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2057400"/>
            <a:ext cx="2240280" cy="329184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057400"/>
            <a:ext cx="205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Salud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459736"/>
            <a:ext cx="2057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Sin hábitos de autocuidado; poca atención al descanso y la salud mental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788920" y="2057400"/>
            <a:ext cx="2240280" cy="1161288"/>
          </a:xfrm>
          <a:prstGeom prst="rect">
            <a:avLst/>
          </a:prstGeom>
          <a:solidFill>
            <a:srgbClr val="FFFFFF"/>
          </a:solidFill>
          <a:ln w="15875">
            <a:solidFill>
              <a:srgbClr val="6A1B9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88920" y="2057400"/>
            <a:ext cx="2240280" cy="329184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880360" y="2057400"/>
            <a:ext cx="205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Nutrición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880360" y="2459736"/>
            <a:ext cx="2057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Comida rápida, domicilios, café y bebidas energéticas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3310128"/>
            <a:ext cx="2240280" cy="1161288"/>
          </a:xfrm>
          <a:prstGeom prst="rect">
            <a:avLst/>
          </a:prstGeom>
          <a:solidFill>
            <a:srgbClr val="FFFFFF"/>
          </a:solidFill>
          <a:ln w="15875">
            <a:solidFill>
              <a:srgbClr val="6A1B9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310128"/>
            <a:ext cx="2240280" cy="329184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3310128"/>
            <a:ext cx="205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Higiene y entorno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712464"/>
            <a:ext cx="2057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Espacios urbanos limitados y largas horas frente a pantallas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2788920" y="3310128"/>
            <a:ext cx="2240280" cy="1161288"/>
          </a:xfrm>
          <a:prstGeom prst="rect">
            <a:avLst/>
          </a:prstGeom>
          <a:solidFill>
            <a:srgbClr val="FFFFFF"/>
          </a:solidFill>
          <a:ln w="15875">
            <a:solidFill>
              <a:srgbClr val="6A1B9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88920" y="3310128"/>
            <a:ext cx="2240280" cy="329184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880360" y="3310128"/>
            <a:ext cx="205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Prevención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880360" y="3712464"/>
            <a:ext cx="2057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Poca actividad física y horarios irregulares de sueño</a:t>
            </a:r>
            <a:endParaRPr lang="en-US" sz="1150" dirty="0"/>
          </a:p>
        </p:txBody>
      </p:sp>
      <p:sp>
        <p:nvSpPr>
          <p:cNvPr id="25" name="Recuadro de imagen"/>
          <p:cNvSpPr/>
          <p:nvPr/>
        </p:nvSpPr>
        <p:spPr>
          <a:xfrm>
            <a:off x="5212080" y="1234440"/>
            <a:ext cx="3474720" cy="3291840"/>
          </a:xfrm>
          <a:prstGeom prst="rect">
            <a:avLst/>
          </a:prstGeom>
          <a:solidFill>
            <a:srgbClr val="F7F7F7"/>
          </a:solidFill>
          <a:ln w="15875">
            <a:solidFill>
              <a:srgbClr val="9E9E9E"/>
            </a:solidFill>
            <a:prstDash val="dash"/>
          </a:ln>
        </p:spPr>
      </p:sp>
      <p:sp>
        <p:nvSpPr>
          <p:cNvPr id="26" name="Indicación de imagen"/>
          <p:cNvSpPr txBox="1"/>
          <p:nvPr/>
        </p:nvSpPr>
        <p:spPr>
          <a:xfrm>
            <a:off x="5321808" y="1344168"/>
            <a:ext cx="3255264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1B9A"/>
                </a:solidFill>
              </a:rPr>
              <a:t>IMAGEN SUGERIDA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63238"/>
                </a:solidFill>
              </a:rPr>
              <a:t>Video de estudiantes comiendo comida rápida o estudiando de noche frente al computador (Pexels: “student studying night”, “fast food students”).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914400" cy="457200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0" y="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CASO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A1B9A"/>
                </a:solidFill>
              </a:rPr>
              <a:t>RIESGOS Y ENFERMEDADES PREVALENTES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¿Qué pone en riesgo su salud?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1737360" cy="1005840"/>
          </a:xfrm>
          <a:prstGeom prst="roundRect">
            <a:avLst>
              <a:gd name="adj" fmla="val 7273"/>
            </a:avLst>
          </a:prstGeom>
          <a:solidFill>
            <a:srgbClr val="F5F3F7"/>
          </a:solidFill>
          <a:ln w="19050">
            <a:solidFill>
              <a:srgbClr val="6A1B9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1325880"/>
            <a:ext cx="1517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Sobrepeso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1856232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1856232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Nutricional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331720" y="1234440"/>
            <a:ext cx="1737360" cy="1005840"/>
          </a:xfrm>
          <a:prstGeom prst="roundRect">
            <a:avLst>
              <a:gd name="adj" fmla="val 7273"/>
            </a:avLst>
          </a:prstGeom>
          <a:solidFill>
            <a:srgbClr val="F5F3F7"/>
          </a:solidFill>
          <a:ln w="19050">
            <a:solidFill>
              <a:srgbClr val="6A1B9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441448" y="1325880"/>
            <a:ext cx="1517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Riesgo cardiovascular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441448" y="1856232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41448" y="1856232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Estilo de vida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06240" y="1234440"/>
            <a:ext cx="1737360" cy="1005840"/>
          </a:xfrm>
          <a:prstGeom prst="roundRect">
            <a:avLst>
              <a:gd name="adj" fmla="val 7273"/>
            </a:avLst>
          </a:prstGeom>
          <a:solidFill>
            <a:srgbClr val="F5F3F7"/>
          </a:solidFill>
          <a:ln w="19050">
            <a:solidFill>
              <a:srgbClr val="6A1B9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15968" y="1325880"/>
            <a:ext cx="1517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Problemas posturales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15968" y="1856232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15968" y="1856232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Ergonómico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331720"/>
            <a:ext cx="1737360" cy="1005840"/>
          </a:xfrm>
          <a:prstGeom prst="roundRect">
            <a:avLst>
              <a:gd name="adj" fmla="val 7273"/>
            </a:avLst>
          </a:prstGeom>
          <a:solidFill>
            <a:srgbClr val="F5F3F7"/>
          </a:solidFill>
          <a:ln w="19050">
            <a:solidFill>
              <a:srgbClr val="6A1B9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66928" y="2423160"/>
            <a:ext cx="1517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Ansiedad e insomnio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2953512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2953512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Psicosocial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331720" y="2331720"/>
            <a:ext cx="1737360" cy="1005840"/>
          </a:xfrm>
          <a:prstGeom prst="roundRect">
            <a:avLst>
              <a:gd name="adj" fmla="val 7273"/>
            </a:avLst>
          </a:prstGeom>
          <a:solidFill>
            <a:srgbClr val="F5F3F7"/>
          </a:solidFill>
          <a:ln w="19050">
            <a:solidFill>
              <a:srgbClr val="6A1B9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441448" y="2423160"/>
            <a:ext cx="1517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Sedentarismo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441448" y="2953512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441448" y="2953512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Estilo de vida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206240" y="2331720"/>
            <a:ext cx="1737360" cy="1005840"/>
          </a:xfrm>
          <a:prstGeom prst="roundRect">
            <a:avLst>
              <a:gd name="adj" fmla="val 7273"/>
            </a:avLst>
          </a:prstGeom>
          <a:solidFill>
            <a:srgbClr val="F5F3F7"/>
          </a:solidFill>
          <a:ln w="19050">
            <a:solidFill>
              <a:srgbClr val="6A1B9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15968" y="2423160"/>
            <a:ext cx="1517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Exceso de cafeína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315968" y="2953512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315968" y="2953512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Consumo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3364992"/>
            <a:ext cx="5532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6A1B9A"/>
                </a:solidFill>
              </a:rPr>
              <a:t>¿Por qué? Los hábitos de hoy se convierten en enfermedad crónica mañana: el riesgo es individual, pero se repite en muchos estudiantes.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023360"/>
            <a:ext cx="5532120" cy="548640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94360" y="402336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Clasificación: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Riesgo por estilos de vida y psicosocial · individual · prioridad MEDIA-ALTA</a:t>
            </a:r>
            <a:endParaRPr lang="en-US" sz="1300" dirty="0"/>
          </a:p>
        </p:txBody>
      </p:sp>
      <p:sp>
        <p:nvSpPr>
          <p:cNvPr id="33" name="Recuadro de imagen"/>
          <p:cNvSpPr/>
          <p:nvPr/>
        </p:nvSpPr>
        <p:spPr>
          <a:xfrm>
            <a:off x="6217920" y="1280160"/>
            <a:ext cx="2468880" cy="3291840"/>
          </a:xfrm>
          <a:prstGeom prst="rect">
            <a:avLst/>
          </a:prstGeom>
          <a:solidFill>
            <a:srgbClr val="F7F7F7"/>
          </a:solidFill>
          <a:ln w="15875">
            <a:solidFill>
              <a:srgbClr val="9E9E9E"/>
            </a:solidFill>
            <a:prstDash val="dash"/>
          </a:ln>
        </p:spPr>
      </p:sp>
      <p:sp>
        <p:nvSpPr>
          <p:cNvPr id="34" name="Indicación de imagen"/>
          <p:cNvSpPr txBox="1"/>
          <p:nvPr/>
        </p:nvSpPr>
        <p:spPr>
          <a:xfrm>
            <a:off x="6327648" y="1389888"/>
            <a:ext cx="2249424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1B9A"/>
                </a:solidFill>
              </a:rPr>
              <a:t>IMAGEN SUGERIDA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63238"/>
                </a:solidFill>
              </a:rPr>
              <a:t>Íconos de Canva para cada riesgo, o una foto relacionada con el riesgo principal.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914400" cy="457200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0" y="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CASO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A1B9A"/>
                </a:solidFill>
              </a:rPr>
              <a:t>LA ACTIVIDAD PROPUESTA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“Recarga tu bienestar”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4572000" cy="749808"/>
          </a:xfrm>
          <a:prstGeom prst="rect">
            <a:avLst/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34440"/>
            <a:ext cx="1417320" cy="749808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234440"/>
            <a:ext cx="1234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Nivel de prevención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2011680" y="1234440"/>
            <a:ext cx="2971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Primaria y secundaria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057400"/>
            <a:ext cx="4572000" cy="749808"/>
          </a:xfrm>
          <a:prstGeom prst="rect">
            <a:avLst/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057400"/>
            <a:ext cx="1417320" cy="749808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057400"/>
            <a:ext cx="1234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Población objetivo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2011680" y="2057400"/>
            <a:ext cx="2971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Estudiantes de pregrado de 18 a 25 años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880360"/>
            <a:ext cx="4572000" cy="749808"/>
          </a:xfrm>
          <a:prstGeom prst="rect">
            <a:avLst/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2880360"/>
            <a:ext cx="1417320" cy="749808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2880360"/>
            <a:ext cx="1234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Objetivo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2880360"/>
            <a:ext cx="2971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Promover hábitos de autocuidado en alimentación, actividad física, descanso y salud mental, adaptados a su ritmo de vida.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703320"/>
            <a:ext cx="4572000" cy="749808"/>
          </a:xfrm>
          <a:prstGeom prst="rect">
            <a:avLst/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703320"/>
            <a:ext cx="1417320" cy="749808"/>
          </a:xfrm>
          <a:prstGeom prst="rect">
            <a:avLst/>
          </a:prstGeom>
          <a:solidFill>
            <a:srgbClr val="F9A825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703320"/>
            <a:ext cx="1234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1F47"/>
                </a:solidFill>
              </a:rPr>
              <a:t>Lo innovador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2011680" y="3703320"/>
            <a:ext cx="2971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La feria se hace al inicio del semestre y antes de los parciales, y sigue con retos en redes sociales durante cuatro semanas.</a:t>
            </a:r>
            <a:endParaRPr lang="en-US" sz="1100" dirty="0"/>
          </a:p>
        </p:txBody>
      </p:sp>
      <p:sp>
        <p:nvSpPr>
          <p:cNvPr id="22" name="Recuadro de imagen"/>
          <p:cNvSpPr/>
          <p:nvPr/>
        </p:nvSpPr>
        <p:spPr>
          <a:xfrm>
            <a:off x="5303520" y="1280160"/>
            <a:ext cx="3383280" cy="3108960"/>
          </a:xfrm>
          <a:prstGeom prst="rect">
            <a:avLst/>
          </a:prstGeom>
          <a:solidFill>
            <a:srgbClr val="F7F7F7"/>
          </a:solidFill>
          <a:ln w="15875">
            <a:solidFill>
              <a:srgbClr val="9E9E9E"/>
            </a:solidFill>
            <a:prstDash val="dash"/>
          </a:ln>
        </p:spPr>
      </p:sp>
      <p:sp>
        <p:nvSpPr>
          <p:cNvPr id="23" name="Indicación de imagen"/>
          <p:cNvSpPr txBox="1"/>
          <p:nvPr/>
        </p:nvSpPr>
        <p:spPr>
          <a:xfrm>
            <a:off x="5413248" y="1389888"/>
            <a:ext cx="316382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1B9A"/>
                </a:solidFill>
              </a:rPr>
              <a:t>IMAGEN SUGERIDA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63238"/>
                </a:solidFill>
              </a:rPr>
              <a:t>Foto de una feria de salud o actividad de bienestar en un campus (Pexels: “university health fair”, “students yoga campus”).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914400" cy="457200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0" y="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CASO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A1B9A"/>
                </a:solidFill>
              </a:rPr>
              <a:t>ACCIONES, RECURSOS Y GESTIÓN PÚBLICA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¿Cómo se hace?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1920240" cy="640080"/>
          </a:xfrm>
          <a:prstGeom prst="chevron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2344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1. Tamizaje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9659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Peso, IMC, presión arterial y escalas de ansiedad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331720" y="1234440"/>
            <a:ext cx="1920240" cy="640080"/>
          </a:xfrm>
          <a:prstGeom prst="chevron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2344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2. Comida rápida pero sana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331720" y="19659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Recetas de 15 minutos y etiquetado frontal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06240" y="1234440"/>
            <a:ext cx="1920240" cy="640080"/>
          </a:xfrm>
          <a:prstGeom prst="chevron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26280" y="12344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3. Muévete y desconéctate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206240" y="19659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Pausas activas, sueño y manejo del estrés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74320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A1B9A"/>
                </a:solidFill>
              </a:rPr>
              <a:t>Recursos: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Enfermería · nutrición · psicología · deporte · báscula y tensiómetro · campaña en redes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47472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A1B9A"/>
                </a:solidFill>
              </a:rPr>
              <a:t>Indicadores: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Estudiantes tamizados · % con riesgo remitidos · participación en talleres · alcance de la campaña digital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543800" y="1783080"/>
            <a:ext cx="9144" cy="1051560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543800" y="2834640"/>
            <a:ext cx="1051560" cy="9144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43800" y="2834640"/>
            <a:ext cx="9144" cy="1051560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92240" y="2834640"/>
            <a:ext cx="1051560" cy="9144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086600" y="2377440"/>
            <a:ext cx="914400" cy="914400"/>
          </a:xfrm>
          <a:prstGeom prst="ellipse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086600" y="23774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Actores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040880" y="158191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59168" y="158191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Bienestar Universitario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8092440" y="263347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110728" y="263347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EPS e IPS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040880" y="368503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059168" y="368503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Secretaría de Salud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989320" y="263347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007608" y="263347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Líderes estudiantiles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914400" cy="457200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0" y="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CASO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A1B9A"/>
                </a:solidFill>
              </a:rPr>
              <a:t>NORMAS, PROGRAMAS Y VIABILIDAD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¿Qué la respalda y por qué es viable?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5394960" cy="685800"/>
          </a:xfrm>
          <a:prstGeom prst="rect">
            <a:avLst/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34440"/>
            <a:ext cx="1920240" cy="685800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23444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Res. 3280 de 2018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2514600" y="123444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Momento de juventud: valoración integral y tamizajes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5394960" cy="685800"/>
          </a:xfrm>
          <a:prstGeom prst="rect">
            <a:avLst/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011680"/>
            <a:ext cx="1920240" cy="685800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01168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Ley 1355 de 2009 y Ley 2120 de 2021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2514600" y="20116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Obesidad como prioridad; entornos alimentarios y etiquetado frontal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788920"/>
            <a:ext cx="5394960" cy="685800"/>
          </a:xfrm>
          <a:prstGeom prst="rect">
            <a:avLst/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2788920"/>
            <a:ext cx="1920240" cy="685800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278892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Ley 1616 de 2013 y Decreto 729 de 2025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2514600" y="278892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Salud mental y Política Nacional de Salud Mental 2025-2034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566160"/>
            <a:ext cx="5394960" cy="685800"/>
          </a:xfrm>
          <a:prstGeom prst="rect">
            <a:avLst/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566160"/>
            <a:ext cx="1920240" cy="685800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5661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Ley 30 de 1992 (art. 117)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2514600" y="356616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La universidad debe tener programas de bienestar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389120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07D8B"/>
                </a:solidFill>
              </a:rPr>
              <a:t>Normas vigentes, verificadas en fuentes oficiales.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26480" y="1234440"/>
            <a:ext cx="2560320" cy="1024128"/>
          </a:xfrm>
          <a:prstGeom prst="rect">
            <a:avLst/>
          </a:prstGeom>
          <a:solidFill>
            <a:srgbClr val="F5F3F7"/>
          </a:solidFill>
          <a:ln w="15875">
            <a:solidFill>
              <a:srgbClr val="6A1B9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26480" y="1234440"/>
            <a:ext cx="2560320" cy="292608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0" y="12344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Financiación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217920" y="1572768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Presupuesto de Bienestar Universitario y apoyo de la EPS.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126480" y="2350008"/>
            <a:ext cx="2560320" cy="1024128"/>
          </a:xfrm>
          <a:prstGeom prst="rect">
            <a:avLst/>
          </a:prstGeom>
          <a:solidFill>
            <a:srgbClr val="F5F3F7"/>
          </a:solidFill>
          <a:ln w="15875">
            <a:solidFill>
              <a:srgbClr val="6A1B9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0" y="2350008"/>
            <a:ext cx="2560320" cy="292608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17920" y="23500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Viabilidad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6217920" y="2688336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Se hace en el campus, en horarios de descanso y con los medios digitales que ya usan.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126480" y="3465576"/>
            <a:ext cx="2560320" cy="1024128"/>
          </a:xfrm>
          <a:prstGeom prst="rect">
            <a:avLst/>
          </a:prstGeom>
          <a:solidFill>
            <a:srgbClr val="FFF8E1"/>
          </a:solidFill>
          <a:ln w="15875">
            <a:solidFill>
              <a:srgbClr val="F9A82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26480" y="3465576"/>
            <a:ext cx="2560320" cy="292608"/>
          </a:xfrm>
          <a:prstGeom prst="rect">
            <a:avLst/>
          </a:prstGeom>
          <a:solidFill>
            <a:srgbClr val="F9A825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17920" y="346557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1F47"/>
                </a:solidFill>
              </a:rPr>
              <a:t>Reto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6217920" y="3803904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Lograr que los estudiantes participen: por eso se usan retos y un lenguaje juvenil.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914400" cy="4572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0" y="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CASO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5100"/>
                </a:solidFill>
              </a:rPr>
              <a:t>POBLACIÓN Y NECESIDADES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Envejecer en un barrio periférico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4572000" cy="685800"/>
          </a:xfrm>
          <a:prstGeom prst="rect">
            <a:avLst/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34440"/>
            <a:ext cx="73152" cy="6858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234440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5100"/>
                </a:solidFill>
              </a:rPr>
              <a:t>Población: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Personas mayores jubiladas o con trabajos informales, de bajos ingresos; muchas viven solas.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2240280" cy="1161288"/>
          </a:xfrm>
          <a:prstGeom prst="rect">
            <a:avLst/>
          </a:prstGeom>
          <a:solidFill>
            <a:srgbClr val="FFFFFF"/>
          </a:solidFill>
          <a:ln w="15875">
            <a:solidFill>
              <a:srgbClr val="E651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2057400"/>
            <a:ext cx="2240280" cy="329184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057400"/>
            <a:ext cx="205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Salud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459736"/>
            <a:ext cx="2057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Hipertensión y diabetes con baja adherencia e inasistencia a controles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788920" y="2057400"/>
            <a:ext cx="2240280" cy="1161288"/>
          </a:xfrm>
          <a:prstGeom prst="rect">
            <a:avLst/>
          </a:prstGeom>
          <a:solidFill>
            <a:srgbClr val="FFFFFF"/>
          </a:solidFill>
          <a:ln w="15875">
            <a:solidFill>
              <a:srgbClr val="E651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88920" y="2057400"/>
            <a:ext cx="2240280" cy="329184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880360" y="2057400"/>
            <a:ext cx="205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Nutrición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880360" y="2459736"/>
            <a:ext cx="2057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Poca proteína, fruta y verdura; pérdida de masa muscular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3310128"/>
            <a:ext cx="2240280" cy="1161288"/>
          </a:xfrm>
          <a:prstGeom prst="rect">
            <a:avLst/>
          </a:prstGeom>
          <a:solidFill>
            <a:srgbClr val="FFFFFF"/>
          </a:solidFill>
          <a:ln w="15875">
            <a:solidFill>
              <a:srgbClr val="E651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310128"/>
            <a:ext cx="2240280" cy="329184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3310128"/>
            <a:ext cx="205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Higiene y entorno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712464"/>
            <a:ext cx="2057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Pisos resbalosos, escaleras sin barandas y poca luz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2788920" y="3310128"/>
            <a:ext cx="2240280" cy="1161288"/>
          </a:xfrm>
          <a:prstGeom prst="rect">
            <a:avLst/>
          </a:prstGeom>
          <a:solidFill>
            <a:srgbClr val="FFFFFF"/>
          </a:solidFill>
          <a:ln w="15875">
            <a:solidFill>
              <a:srgbClr val="E651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88920" y="3310128"/>
            <a:ext cx="2240280" cy="329184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880360" y="3310128"/>
            <a:ext cx="2057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Prevención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880360" y="3712464"/>
            <a:ext cx="2057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Encuentros comunitarios esporádicos y con baja asistencia</a:t>
            </a:r>
            <a:endParaRPr lang="en-US" sz="1150" dirty="0"/>
          </a:p>
        </p:txBody>
      </p:sp>
      <p:sp>
        <p:nvSpPr>
          <p:cNvPr id="25" name="Recuadro de imagen"/>
          <p:cNvSpPr/>
          <p:nvPr/>
        </p:nvSpPr>
        <p:spPr>
          <a:xfrm>
            <a:off x="5212080" y="1234440"/>
            <a:ext cx="3474720" cy="3291840"/>
          </a:xfrm>
          <a:prstGeom prst="rect">
            <a:avLst/>
          </a:prstGeom>
          <a:solidFill>
            <a:srgbClr val="F7F7F7"/>
          </a:solidFill>
          <a:ln w="15875">
            <a:solidFill>
              <a:srgbClr val="9E9E9E"/>
            </a:solidFill>
            <a:prstDash val="dash"/>
          </a:ln>
        </p:spPr>
      </p:sp>
      <p:sp>
        <p:nvSpPr>
          <p:cNvPr id="26" name="Indicación de imagen"/>
          <p:cNvSpPr txBox="1"/>
          <p:nvPr/>
        </p:nvSpPr>
        <p:spPr>
          <a:xfrm>
            <a:off x="5321808" y="1344168"/>
            <a:ext cx="3255264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1B9A"/>
                </a:solidFill>
              </a:rPr>
              <a:t>IMAGEN SUGERIDA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63238"/>
                </a:solidFill>
              </a:rPr>
              <a:t>Foto de un adulto mayor solo en casa o caminando con dificultad en un barrio (Pexels: “elderly man alone”, “senior walking”).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914400" cy="4572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0" y="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CASO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5100"/>
                </a:solidFill>
              </a:rPr>
              <a:t>RIESGOS Y ENFERMEDADES PREVALENTES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¿Qué pone en riesgo su salud?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1737360" cy="1005840"/>
          </a:xfrm>
          <a:prstGeom prst="roundRect">
            <a:avLst>
              <a:gd name="adj" fmla="val 7273"/>
            </a:avLst>
          </a:prstGeom>
          <a:solidFill>
            <a:srgbClr val="F5F3F7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1325880"/>
            <a:ext cx="1517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Complicaciones de hipertensión y diabetes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1856232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1856232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Crónico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331720" y="1234440"/>
            <a:ext cx="1737360" cy="1005840"/>
          </a:xfrm>
          <a:prstGeom prst="roundRect">
            <a:avLst>
              <a:gd name="adj" fmla="val 7273"/>
            </a:avLst>
          </a:prstGeom>
          <a:solidFill>
            <a:srgbClr val="F5F3F7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441448" y="1325880"/>
            <a:ext cx="1517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Pérdida de masa muscular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441448" y="1856232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41448" y="1856232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Nutricional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06240" y="1234440"/>
            <a:ext cx="1737360" cy="1005840"/>
          </a:xfrm>
          <a:prstGeom prst="roundRect">
            <a:avLst>
              <a:gd name="adj" fmla="val 7273"/>
            </a:avLst>
          </a:prstGeom>
          <a:solidFill>
            <a:srgbClr val="F5F3F7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15968" y="1325880"/>
            <a:ext cx="1517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Caídas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15968" y="1856232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15968" y="1856232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Entorno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331720"/>
            <a:ext cx="1737360" cy="1005840"/>
          </a:xfrm>
          <a:prstGeom prst="roundRect">
            <a:avLst>
              <a:gd name="adj" fmla="val 7273"/>
            </a:avLst>
          </a:prstGeom>
          <a:solidFill>
            <a:srgbClr val="F5F3F7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66928" y="2423160"/>
            <a:ext cx="1517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Problemas de visión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2953512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2953512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Biológico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331720" y="2331720"/>
            <a:ext cx="1737360" cy="1005840"/>
          </a:xfrm>
          <a:prstGeom prst="roundRect">
            <a:avLst>
              <a:gd name="adj" fmla="val 7273"/>
            </a:avLst>
          </a:prstGeom>
          <a:solidFill>
            <a:srgbClr val="F5F3F7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441448" y="2423160"/>
            <a:ext cx="1517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Soledad y aislamiento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441448" y="2953512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441448" y="2953512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Psicosocial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206240" y="2331720"/>
            <a:ext cx="1737360" cy="1005840"/>
          </a:xfrm>
          <a:prstGeom prst="roundRect">
            <a:avLst>
              <a:gd name="adj" fmla="val 7273"/>
            </a:avLst>
          </a:prstGeom>
          <a:solidFill>
            <a:srgbClr val="F5F3F7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15968" y="2423160"/>
            <a:ext cx="1517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Baja asistencia a controles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315968" y="2953512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315968" y="2953512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Acceso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3364992"/>
            <a:ext cx="5532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E65100"/>
                </a:solidFill>
              </a:rPr>
              <a:t>¿Por qué? Una caída o una complicación cardiovascular pueden quitarle la autonomía a una persona mayor que vive sola.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023360"/>
            <a:ext cx="5532120" cy="54864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94360" y="402336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Clasificación: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Riesgo cardiovascular, de caídas y psicosocial · individual y comunitario · prioridad ALTA</a:t>
            </a:r>
            <a:endParaRPr lang="en-US" sz="1300" dirty="0"/>
          </a:p>
        </p:txBody>
      </p:sp>
      <p:sp>
        <p:nvSpPr>
          <p:cNvPr id="33" name="Recuadro de imagen"/>
          <p:cNvSpPr/>
          <p:nvPr/>
        </p:nvSpPr>
        <p:spPr>
          <a:xfrm>
            <a:off x="6217920" y="1280160"/>
            <a:ext cx="2468880" cy="3291840"/>
          </a:xfrm>
          <a:prstGeom prst="rect">
            <a:avLst/>
          </a:prstGeom>
          <a:solidFill>
            <a:srgbClr val="F7F7F7"/>
          </a:solidFill>
          <a:ln w="15875">
            <a:solidFill>
              <a:srgbClr val="9E9E9E"/>
            </a:solidFill>
            <a:prstDash val="dash"/>
          </a:ln>
        </p:spPr>
      </p:sp>
      <p:sp>
        <p:nvSpPr>
          <p:cNvPr id="34" name="Indicación de imagen"/>
          <p:cNvSpPr txBox="1"/>
          <p:nvPr/>
        </p:nvSpPr>
        <p:spPr>
          <a:xfrm>
            <a:off x="6327648" y="1389888"/>
            <a:ext cx="2249424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1B9A"/>
                </a:solidFill>
              </a:rPr>
              <a:t>IMAGEN SUGERIDA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63238"/>
                </a:solidFill>
              </a:rPr>
              <a:t>Íconos de Canva para cada riesgo, o una foto relacionada con el riesgo principal.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914400" cy="4572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0" y="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CASO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5100"/>
                </a:solidFill>
              </a:rPr>
              <a:t>LA ACTIVIDAD PROPUESTA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“Envejecer con salud”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4572000" cy="749808"/>
          </a:xfrm>
          <a:prstGeom prst="rect">
            <a:avLst/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34440"/>
            <a:ext cx="1417320" cy="749808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234440"/>
            <a:ext cx="1234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Nivel de prevención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2011680" y="1234440"/>
            <a:ext cx="2971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Secundaria y terciaria (con acciones primarias)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057400"/>
            <a:ext cx="4572000" cy="749808"/>
          </a:xfrm>
          <a:prstGeom prst="rect">
            <a:avLst/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057400"/>
            <a:ext cx="1417320" cy="749808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057400"/>
            <a:ext cx="1234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Población objetivo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2011680" y="2057400"/>
            <a:ext cx="2971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Personas de 60 años o más y sus cuidadores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880360"/>
            <a:ext cx="4572000" cy="749808"/>
          </a:xfrm>
          <a:prstGeom prst="rect">
            <a:avLst/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2880360"/>
            <a:ext cx="1417320" cy="749808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2880360"/>
            <a:ext cx="1234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Objetivo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2880360"/>
            <a:ext cx="2971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Mejorar el control de las enfermedades crónicas, prevenir caídas y reducir el aislamiento social.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703320"/>
            <a:ext cx="4572000" cy="749808"/>
          </a:xfrm>
          <a:prstGeom prst="rect">
            <a:avLst/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703320"/>
            <a:ext cx="1417320" cy="749808"/>
          </a:xfrm>
          <a:prstGeom prst="rect">
            <a:avLst/>
          </a:prstGeom>
          <a:solidFill>
            <a:srgbClr val="F9A825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703320"/>
            <a:ext cx="1234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1F47"/>
                </a:solidFill>
              </a:rPr>
              <a:t>Lo innovador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2011680" y="3703320"/>
            <a:ext cx="2971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“Vecino acompañante”, visitas con lista de chequeo de caídas y espacios donde los mayores enseñan sus oficios.</a:t>
            </a:r>
            <a:endParaRPr lang="en-US" sz="1100" dirty="0"/>
          </a:p>
        </p:txBody>
      </p:sp>
      <p:sp>
        <p:nvSpPr>
          <p:cNvPr id="22" name="Recuadro de imagen"/>
          <p:cNvSpPr/>
          <p:nvPr/>
        </p:nvSpPr>
        <p:spPr>
          <a:xfrm>
            <a:off x="5303520" y="1280160"/>
            <a:ext cx="3383280" cy="3108960"/>
          </a:xfrm>
          <a:prstGeom prst="rect">
            <a:avLst/>
          </a:prstGeom>
          <a:solidFill>
            <a:srgbClr val="F7F7F7"/>
          </a:solidFill>
          <a:ln w="15875">
            <a:solidFill>
              <a:srgbClr val="9E9E9E"/>
            </a:solidFill>
            <a:prstDash val="dash"/>
          </a:ln>
        </p:spPr>
      </p:sp>
      <p:sp>
        <p:nvSpPr>
          <p:cNvPr id="23" name="Indicación de imagen"/>
          <p:cNvSpPr txBox="1"/>
          <p:nvPr/>
        </p:nvSpPr>
        <p:spPr>
          <a:xfrm>
            <a:off x="5413248" y="1389888"/>
            <a:ext cx="316382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1B9A"/>
                </a:solidFill>
              </a:rPr>
              <a:t>IMAGEN SUGERIDA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63238"/>
                </a:solidFill>
              </a:rPr>
              <a:t>Foto de adultos mayores haciendo ejercicio en grupo o compartiendo en un centro comunitario (Pexels: “seniors exercise group”).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914400" cy="4572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0" y="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CASO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5100"/>
                </a:solidFill>
              </a:rPr>
              <a:t>ACCIONES, RECURSOS Y GESTIÓN PÚBLICA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¿Cómo se hace?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1920240" cy="640080"/>
          </a:xfrm>
          <a:prstGeom prst="chevron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2344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1. Control y adherencia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9659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Presión, glucometría y pastillero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331720" y="1234440"/>
            <a:ext cx="1920240" cy="640080"/>
          </a:xfrm>
          <a:prstGeom prst="chevron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2344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2. Muévete seguro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331720" y="19659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Ejercicios de fuerza y equilibrio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06240" y="1234440"/>
            <a:ext cx="1920240" cy="640080"/>
          </a:xfrm>
          <a:prstGeom prst="chevron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26280" y="12344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3. Come bien y comparte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206240" y="19659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Alimentación económica y red de vecinos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74320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65100"/>
                </a:solidFill>
              </a:rPr>
              <a:t>Recursos: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Enfermería · médico · nutricionista · trabajo social · tensiómetro y glucómetro · Centro Vida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47472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65100"/>
                </a:solidFill>
              </a:rPr>
              <a:t>Indicadores: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% con presión arterial controlada · asistencia a controles · caídas reportadas · viviendas adecuadas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543800" y="1783080"/>
            <a:ext cx="9144" cy="1051560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H="1">
            <a:off x="7543800" y="2509690"/>
            <a:ext cx="1000093" cy="324950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43800" y="2834640"/>
            <a:ext cx="618091" cy="850730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>
            <a:off x="6925709" y="2834640"/>
            <a:ext cx="618091" cy="850730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43707" y="2509690"/>
            <a:ext cx="1000093" cy="324950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086600" y="2377440"/>
            <a:ext cx="914400" cy="91440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086600" y="23774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Actores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040880" y="158191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059168" y="158191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Secretaría de Salud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040973" y="230852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59261" y="230852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Centro Vida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658971" y="348420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677259" y="348420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ESE y EPS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422789" y="348420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41077" y="348420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Acción comunal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040787" y="230852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59075" y="230852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Familias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914400" cy="4572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0" y="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CASO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5100"/>
                </a:solidFill>
              </a:rPr>
              <a:t>NORMAS, PROGRAMAS Y VIABILIDAD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¿Qué la respalda y por qué es viable?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5394960" cy="685800"/>
          </a:xfrm>
          <a:prstGeom prst="rect">
            <a:avLst/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34440"/>
            <a:ext cx="1920240" cy="6858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23444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Res. 3280 de 2018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2514600" y="123444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Momento de vejez: valoración integral y riesgo cardiovascular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5394960" cy="685800"/>
          </a:xfrm>
          <a:prstGeom prst="rect">
            <a:avLst/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011680"/>
            <a:ext cx="1920240" cy="6858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01168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Ley 1251 de 2008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2514600" y="20116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Protección y promoción de los derechos de los adultos mayores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788920"/>
            <a:ext cx="5394960" cy="685800"/>
          </a:xfrm>
          <a:prstGeom prst="rect">
            <a:avLst/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2788920"/>
            <a:ext cx="1920240" cy="6858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278892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Ley 1276 de 2009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2514600" y="278892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Centros Vida y estampilla para el bienestar del adulto mayor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566160"/>
            <a:ext cx="5394960" cy="685800"/>
          </a:xfrm>
          <a:prstGeom prst="rect">
            <a:avLst/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566160"/>
            <a:ext cx="1920240" cy="6858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5661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Decreto 681 de 2022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2514600" y="356616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Política Pública Nacional de Envejecimiento y Vejez 2022-2031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389120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07D8B"/>
                </a:solidFill>
              </a:rPr>
              <a:t>Normas vigentes, verificadas en fuentes oficiales.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26480" y="1234440"/>
            <a:ext cx="2560320" cy="1024128"/>
          </a:xfrm>
          <a:prstGeom prst="rect">
            <a:avLst/>
          </a:prstGeom>
          <a:solidFill>
            <a:srgbClr val="F5F3F7"/>
          </a:solidFill>
          <a:ln w="15875">
            <a:solidFill>
              <a:srgbClr val="E651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26480" y="1234440"/>
            <a:ext cx="2560320" cy="292608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0" y="12344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Financiación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217920" y="1572768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Estampilla del adulto mayor, PIC y EPS para los controles.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126480" y="2350008"/>
            <a:ext cx="2560320" cy="1024128"/>
          </a:xfrm>
          <a:prstGeom prst="rect">
            <a:avLst/>
          </a:prstGeom>
          <a:solidFill>
            <a:srgbClr val="F5F3F7"/>
          </a:solidFill>
          <a:ln w="15875">
            <a:solidFill>
              <a:srgbClr val="E651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0" y="2350008"/>
            <a:ext cx="2560320" cy="292608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17920" y="23500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Viabilidad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6217920" y="2688336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Usa el centro comunitario existente y supera las barreras de movilidad con visitas.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126480" y="3465576"/>
            <a:ext cx="2560320" cy="1024128"/>
          </a:xfrm>
          <a:prstGeom prst="rect">
            <a:avLst/>
          </a:prstGeom>
          <a:solidFill>
            <a:srgbClr val="FFF8E1"/>
          </a:solidFill>
          <a:ln w="15875">
            <a:solidFill>
              <a:srgbClr val="F9A82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26480" y="3465576"/>
            <a:ext cx="2560320" cy="292608"/>
          </a:xfrm>
          <a:prstGeom prst="rect">
            <a:avLst/>
          </a:prstGeom>
          <a:solidFill>
            <a:srgbClr val="F9A825"/>
          </a:solidFill>
          <a:ln w="12700">
            <a:solidFill>
              <a:srgbClr val="F9A82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17920" y="346557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1F47"/>
                </a:solidFill>
              </a:rPr>
              <a:t>Reto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6217920" y="3803904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Llegar a quienes no pueden salir de casa: por eso se hace búsqueda activa.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1F47"/>
                </a:solidFill>
              </a:rPr>
              <a:t>PREGUNTA ORIENTADORA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¿Cuáles son los beneficios para todos?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206240" y="3291840"/>
            <a:ext cx="731520" cy="731520"/>
          </a:xfrm>
          <a:prstGeom prst="triangle">
            <a:avLst/>
          </a:prstGeom>
          <a:solidFill>
            <a:srgbClr val="3B1F47"/>
          </a:solidFill>
          <a:ln w="12700">
            <a:solidFill>
              <a:srgbClr val="3B1F4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280160" y="3017520"/>
            <a:ext cx="6583680" cy="320040"/>
          </a:xfrm>
          <a:prstGeom prst="line">
            <a:avLst/>
          </a:prstGeom>
          <a:noFill/>
          <a:ln w="38100">
            <a:solidFill>
              <a:srgbClr val="3B1F4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645920"/>
            <a:ext cx="2651760" cy="1691640"/>
          </a:xfrm>
          <a:prstGeom prst="roundRect">
            <a:avLst>
              <a:gd name="adj" fmla="val 5405"/>
            </a:avLst>
          </a:prstGeom>
          <a:solidFill>
            <a:srgbClr val="F5F3F7"/>
          </a:solidFill>
          <a:ln w="25400">
            <a:solidFill>
              <a:srgbClr val="2E7D3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691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PREVENIR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75688"/>
            <a:ext cx="2377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Menos enfermedades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Menos costos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Más calidad de vida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Más productividad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35040" y="1280160"/>
            <a:ext cx="2651760" cy="1691640"/>
          </a:xfrm>
          <a:prstGeom prst="roundRect">
            <a:avLst>
              <a:gd name="adj" fmla="val 5405"/>
            </a:avLst>
          </a:prstGeom>
          <a:solidFill>
            <a:srgbClr val="F5F3F7"/>
          </a:solidFill>
          <a:ln w="25400">
            <a:solidFill>
              <a:srgbClr val="E651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3258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5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TRATAR TARDE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709928"/>
            <a:ext cx="2377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Hospitalizaciones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Complicaciones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Gasto de bolsillo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Pérdida de autonomía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251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B1F47"/>
                </a:solidFill>
              </a:rPr>
              <a:t>Prevenir siempre cuesta menos que tratar una enfermedad avanzada (OMS, 2021).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1F47"/>
                </a:solidFill>
              </a:rPr>
              <a:t>PREGUNTA ORIENTADORA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Lo que el sistema colombiano garantiza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023360" cy="146304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4630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Ruta de Promoción y Mantenimiento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659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Valoraciones y tamizajes en cada etapa de la vida (Res. 3280 de 2018)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17720" y="1280160"/>
            <a:ext cx="4023360" cy="1463040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46320" y="14630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copagos ni cuotas moderadoras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19659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En los servicios de promoción y prevención (Acuerdo 260 de 2004)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926080"/>
            <a:ext cx="4023360" cy="146304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1089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de Intervenciones Colectivas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6118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Acciones gratuitas en hogares, colegios y comunidades (Res. 1597 de 2025)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17720" y="2926080"/>
            <a:ext cx="4023360" cy="146304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46320" y="31089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Vacunación gratuita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36118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Programa Ampliado de Inmunizaciones (Ley 1373 de 2010)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A825"/>
                </a:solidFill>
              </a:rPr>
              <a:t>REFLEXIÓN FINAL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09728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Adelantarse a la enfermedad también es cuidar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7180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1BEE7"/>
                </a:solidFill>
              </a:rPr>
              <a:t>Prevenir no es esperar a que llegue la enfermedad. Con acciones sencillas, cercanas y pensadas para cada población, es posible ganar años de vida con salud.</a:t>
            </a:r>
            <a:endParaRPr lang="en-US" sz="1600" dirty="0"/>
          </a:p>
        </p:txBody>
      </p:sp>
      <p:sp>
        <p:nvSpPr>
          <p:cNvPr id="5" name="Recuadro de imagen"/>
          <p:cNvSpPr/>
          <p:nvPr/>
        </p:nvSpPr>
        <p:spPr>
          <a:xfrm>
            <a:off x="5852160" y="502920"/>
            <a:ext cx="2834640" cy="4114800"/>
          </a:xfrm>
          <a:prstGeom prst="rect">
            <a:avLst/>
          </a:prstGeom>
          <a:solidFill>
            <a:srgbClr val="4A2E58"/>
          </a:solidFill>
          <a:ln w="15875">
            <a:solidFill>
              <a:srgbClr val="C9A7D8"/>
            </a:solidFill>
            <a:prstDash val="dash"/>
          </a:ln>
        </p:spPr>
      </p:sp>
      <p:sp>
        <p:nvSpPr>
          <p:cNvPr id="6" name="Indicación de imagen"/>
          <p:cNvSpPr txBox="1"/>
          <p:nvPr/>
        </p:nvSpPr>
        <p:spPr>
          <a:xfrm>
            <a:off x="5961888" y="612648"/>
            <a:ext cx="2615184" cy="3895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A825"/>
                </a:solidFill>
              </a:rPr>
              <a:t>IMAGEN SUGERIDA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Foto de una comunidad unida o de manos juntas (Pexels: “community together”, “hands together diversity”).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1F47"/>
                </a:solidFill>
              </a:rPr>
              <a:t>REFERENCIAS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Referencias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4023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Congreso de la República. (2015). Ley Estatutaria 1751.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Congreso de la República. (2009). Ley 1355; Ley 1276.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Congreso de la República. (2013). Ley 1616.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Congreso de la República. (2021). Ley 2120.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Congreso de la República. (2008). Ley 1251.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Congreso de la República. (2020). Ley 2055.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Congreso de la República. (1979). Ley 9.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Congreso de la República. (1992). Ley 30.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Congreso de la República. (2010). Ley 1373.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Hernández-Sarmiento, J. M., et al. (2020). La educación en salud como una importante estrategia de promoción y prevención. Archivos de Medicina, 20(2), 4-20.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234440"/>
            <a:ext cx="4023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Ministerio de Salud y Protección Social. (2018). Resolución 3280.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Ministerio de Salud y Protección Social. (2022). Resolución 1035; Decreto 681.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Ministerio de Salud y Protección Social. (2024). Resolución 100.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Ministerio de Salud y Protección Social. (2025). Resolución 1597; Decreto 729.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Ministerio de la Protección Social. (2007). Decreto 1575; Resolución 2115.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Consejo Nacional de Seguridad Social en Salud. (2004). Acuerdo 260.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Organización Mundial de la Salud. (2021). Estrategia mundial para acelerar la eliminación del cáncer del cuello uterino como problema de salud pública.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1F47"/>
                </a:solidFill>
              </a:rPr>
              <a:t>PREVENIR ES CUIDAR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Créditos</a:t>
            </a:r>
            <a:endParaRPr lang="en-US" sz="2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6A1B9A"/>
                          </a:solidFill>
                        </a:rPr>
                        <a:t>Investigación, guion, voz y edición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Yina Vanessa Cadena Mantilla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6A1B9A"/>
                          </a:solidFill>
                        </a:rPr>
                        <a:t>Imágenes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Wikimedia Commons, licencias libres (autor y licencia en cada foto)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6A1B9A"/>
                          </a:solidFill>
                        </a:rPr>
                        <a:t>Música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Producción propia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6A1B9A"/>
                          </a:solidFill>
                        </a:rPr>
                        <a:t>Edición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Canva / Clipchamp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6A1B9A"/>
                          </a:solidFill>
                        </a:rPr>
                        <a:t>Curso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[Nombre del curso] · Semana 8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6A1B9A"/>
                          </a:solidFill>
                        </a:rPr>
                        <a:t>Docente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[Nombre del docente]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6A1B9A"/>
                          </a:solidFill>
                        </a:rPr>
                        <a:t>Institución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Corporación Universitaria Minuto de Dios – UNIMINUTO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evenir es cuidar">
  <a:themeElements>
    <a:clrScheme name="Prevenir es cuidar">
      <a:dk1>
        <a:srgbClr val="263238"/>
      </a:dk1>
      <a:lt1>
        <a:srgbClr val="FFFFFF"/>
      </a:lt1>
      <a:dk2>
        <a:srgbClr val="3B1F47"/>
      </a:dk2>
      <a:lt2>
        <a:srgbClr val="F5F3F7"/>
      </a:lt2>
      <a:accent1>
        <a:srgbClr val="2E7D32"/>
      </a:accent1>
      <a:accent2>
        <a:srgbClr val="6A1B9A"/>
      </a:accent2>
      <a:accent3>
        <a:srgbClr val="E65100"/>
      </a:accent3>
      <a:accent4>
        <a:srgbClr val="F9A825"/>
      </a:accent4>
      <a:accent5>
        <a:srgbClr val="607D8B"/>
      </a:accent5>
      <a:accent6>
        <a:srgbClr val="00897B"/>
      </a:accent6>
      <a:hlink>
        <a:srgbClr val="6A1B9A"/>
      </a:hlink>
      <a:folHlink>
        <a:srgbClr val="3B1F47"/>
      </a:folHlink>
    </a:clrScheme>
    <a:fontScheme name="Prevenir es cuida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Prevenir es cuidar</dc:title>
  <dc:subject>PptxGenJS Presentation</dc:subject>
  <dc:creator>Yina Vanessa Cadena Mantilla</dc:creator>
  <cp:lastModifiedBy>Yina Vanessa Cadena Mantilla</cp:lastModifiedBy>
  <cp:revision>1</cp:revision>
  <dcterms:created xsi:type="dcterms:W3CDTF">2026-10-16T01:31:29Z</dcterms:created>
  <dcterms:modified xsi:type="dcterms:W3CDTF">2026-10-16T01:31:29Z</dcterms:modified>
</cp:coreProperties>
</file>