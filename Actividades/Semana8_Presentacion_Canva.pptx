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c1e835f4-f160-8f35-4a3a-567e432c7c6f}">
          <p14:sldIdLst>
            <p14:sldId id="256"/>
            <p14:sldId id="257"/>
          </p14:sldIdLst>
        </p14:section>
        <p14:section name="Conceptos" id="{e0112d95-aae3-1f66-07a9-ef0291964ce4}">
          <p14:sldIdLst>
            <p14:sldId id="258"/>
            <p14:sldId id="259"/>
          </p14:sldIdLst>
        </p14:section>
        <p14:section name="Caso 1: comunidad rural" id="{0a0bb942-57bd-622e-088e-ffe77938e320}">
          <p14:sldIdLst>
            <p14:sldId id="260"/>
            <p14:sldId id="261"/>
            <p14:sldId id="262"/>
            <p14:sldId id="263"/>
          </p14:sldIdLst>
        </p14:section>
        <p14:section name="Caso 2: universitarios" id="{ada13d92-a209-27c8-6bb3-fa3549576ef0}">
          <p14:sldIdLst>
            <p14:sldId id="264"/>
            <p14:sldId id="265"/>
            <p14:sldId id="266"/>
            <p14:sldId id="267"/>
          </p14:sldIdLst>
        </p14:section>
        <p14:section name="Caso 3: adultos mayores" id="{892f8ea0-cc14-9e5a-4048-bdcca8076689}">
          <p14:sldIdLst>
            <p14:sldId id="268"/>
            <p14:sldId id="269"/>
            <p14:sldId id="270"/>
            <p14:sldId id="271"/>
          </p14:sldIdLst>
        </p14:section>
        <p14:section name="Beneficios" id="{48de8ad5-bfa1-b27a-ab40-58fac2dca9e4}">
          <p14:sldIdLst>
            <p14:sldId id="272"/>
            <p14:sldId id="273"/>
          </p14:sldIdLst>
        </p14:section>
        <p14:section name="Cierre" id="{dd415784-fc7e-b80f-144c-1dec6d906d4e}">
          <p14:sldIdLst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15 segundos.
Música: apertura cálida.
Voz en off: sin voz; solo música.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suave.
Voz en off: presentación personal, objetivo del video y población a la que va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suave.
Voz en off: qué es promover la salud y los tres niveles de prevención.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suave.
Voz en off: normas generales que respaldan las intervenciones.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suave de campo (acústica).
Voz en off: diagnóstico del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suave de campo (acústica).
Voz en off: riesgos prevalentes y clasificación.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suave de campo (acústica).
Voz en off: nombre de la actividad, nivel de prevención, población y objetivo.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suave de campo (acústica).
Voz en off: acciones, recursos, actores y normas. Imagen opcional: fotos pequeñas de cada estación desde Pexels.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más dinámica y juvenil.
Voz en off: diagnóstico del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más dinámica y juvenil.
Voz en off: riesgos prevalentes y clasificación.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más dinámica y juvenil.
Voz en off: nombre de la actividad, nivel de prevención, población y objetivo.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más dinámica y juvenil.
Voz en off: acciones, recursos, actores y normas. Imagen opcional: fotos pequeñas de cada estación desde Pexels.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cálida (piano).
Voz en off: diagnóstico del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cálida (piano).
Voz en off: riesgos prevalentes y clasificación.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cálida (piano).
Voz en off: nombre de la actividad, nivel de prevención, población y objetivo.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cálida (piano).
Voz en off: acciones, recursos, actores y normas. Imagen opcional: fotos pequeñas de cada estación desde Pexels.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suave.
Voz en off: respuesta a la primera pregunta orientadora: menos costos y más calidad de vida.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suave.
Voz en off: respuesta a la segunda pregunta orientadora.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cálida, en crescendo.
Voz en off: reflexión final y llamado a la acción.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10 segundos.
Música: suave.
Voz en off: sin voz o «Gracias por su atención».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10 segundos.
Música: se desvanece.
Voz en off: sin voz.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</a:rPr>
              <a:t>UNA MIRADA HACIA LA PREVENCIÓN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9728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Prevenir es cuidar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1BEE7"/>
                </a:solidFill>
              </a:rPr>
              <a:t>Intervenciones de promoción y mantenimiento de la salud para individuos y poblaciones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292608" cy="29260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3246120"/>
            <a:ext cx="292608" cy="292608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3246120"/>
            <a:ext cx="292608" cy="29260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7947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Yina Vanessa Cadena Mantilla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Especialización en Gerencia y Auditoría de la Calidad en Salud · UNIMINUTO</a:t>
            </a:r>
            <a:endParaRPr lang="en-US" sz="1200" dirty="0"/>
          </a:p>
        </p:txBody>
      </p:sp>
      <p:sp>
        <p:nvSpPr>
          <p:cNvPr id="9" name="Recuadro de imagen"/>
          <p:cNvSpPr/>
          <p:nvPr/>
        </p:nvSpPr>
        <p:spPr>
          <a:xfrm>
            <a:off x="5852160" y="502920"/>
            <a:ext cx="2834640" cy="4114800"/>
          </a:xfrm>
          <a:prstGeom prst="rect">
            <a:avLst/>
          </a:prstGeom>
          <a:solidFill>
            <a:srgbClr val="4A2E58"/>
          </a:solidFill>
          <a:ln w="15875">
            <a:solidFill>
              <a:srgbClr val="C9A7D8"/>
            </a:solidFill>
            <a:prstDash val="dash"/>
          </a:ln>
        </p:spPr>
      </p:sp>
      <p:sp>
        <p:nvSpPr>
          <p:cNvPr id="10" name="Indicación de imagen"/>
          <p:cNvSpPr txBox="1"/>
          <p:nvPr/>
        </p:nvSpPr>
        <p:spPr>
          <a:xfrm>
            <a:off x="5961888" y="612648"/>
            <a:ext cx="2615184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A825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Foto vertical de una familia o comunidad con un profesional de salud (Pexels: “community health worker”, “family health”). En Canva, con un filtro morado suave.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TRES CONTEXTOS, TRES PROPUESTAS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¿De qué trata este video?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25880" y="1280160"/>
            <a:ext cx="868680" cy="8686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5880" y="1280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Comunidad rural agrícola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0" y="1280160"/>
            <a:ext cx="868680" cy="86868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0" y="1280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22402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1B9A"/>
                </a:solidFill>
              </a:rPr>
              <a:t>Estudiantes universitarios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903720" y="1280160"/>
            <a:ext cx="868680" cy="8686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280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22402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5100"/>
                </a:solidFill>
              </a:rPr>
              <a:t>Adultos mayores en barrio periférico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5120640" cy="1463040"/>
          </a:xfrm>
          <a:prstGeom prst="roundRect">
            <a:avLst>
              <a:gd name="adj" fmla="val 6250"/>
            </a:avLst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004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47"/>
                </a:solidFill>
              </a:rPr>
              <a:t>Dirigido 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comunidad en general y sus líderes, y a los equipos de salud, bienestar universitario y secretarías de salud que pueden implementar las propuestas.</a:t>
            </a:r>
            <a:endParaRPr lang="en-US" sz="1400" dirty="0"/>
          </a:p>
        </p:txBody>
      </p:sp>
      <p:pic>
        <p:nvPicPr>
          <p:cNvPr id="15" name="Image 0" descr="Campesino colombiano y su gan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3063240"/>
            <a:ext cx="914400" cy="14630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852160" y="4306824"/>
            <a:ext cx="914400" cy="219456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925312" y="4306824"/>
            <a:ext cx="768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Foto: Julianruizp · CC BY-SA 4.0 · Wikimedia Commons</a:t>
            </a:r>
            <a:endParaRPr lang="en-US" sz="750" dirty="0"/>
          </a:p>
        </p:txBody>
      </p:sp>
      <p:pic>
        <p:nvPicPr>
          <p:cNvPr id="18" name="Image 1" descr="Sias Library - Students Studying 2017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063240"/>
            <a:ext cx="914400" cy="146304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812280" y="4306824"/>
            <a:ext cx="914400" cy="219456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885432" y="4306824"/>
            <a:ext cx="768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Foto: Gary Todd · CC0 · Wikimedia Commons</a:t>
            </a:r>
            <a:endParaRPr lang="en-US" sz="750" dirty="0"/>
          </a:p>
        </p:txBody>
      </p:sp>
      <p:sp>
        <p:nvSpPr>
          <p:cNvPr id="21" name="Recuadro de imagen"/>
          <p:cNvSpPr/>
          <p:nvPr/>
        </p:nvSpPr>
        <p:spPr>
          <a:xfrm>
            <a:off x="7772400" y="3063240"/>
            <a:ext cx="914400" cy="14630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22" name="Indicación de imagen"/>
          <p:cNvSpPr txBox="1"/>
          <p:nvPr/>
        </p:nvSpPr>
        <p:spPr>
          <a:xfrm>
            <a:off x="7882128" y="3172968"/>
            <a:ext cx="69494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Adulto mayor (Pexels: “elderly”)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CONCEPTOS CLAVE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Los tres niveles de prevención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2926080"/>
            <a:ext cx="1874520" cy="1600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303580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Primaria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429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Evitar que la enfermedad llegue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9319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Educación, vacunación, hábitos saludables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194560"/>
            <a:ext cx="1874520" cy="23317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32888" y="23042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Secundaria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532888" y="26974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Detectarla a tiempo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Tamizajes, controles y diagnóstico temprano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1463040"/>
            <a:ext cx="1874520" cy="30632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98848" y="157276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Terciaria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19659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Evitar complicaciones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498848" y="2468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Control de enfermedades crónicas y rehabilitación</a:t>
            </a:r>
            <a:endParaRPr lang="en-US" sz="1100" dirty="0"/>
          </a:p>
        </p:txBody>
      </p:sp>
      <p:pic>
        <p:nvPicPr>
          <p:cNvPr id="16" name="Image 0" descr="Nurse checks blood press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80160"/>
            <a:ext cx="2194560" cy="32004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492240" y="4261104"/>
            <a:ext cx="2194560" cy="219456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65392" y="4261104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Foto: Linda Bartlett (Photographer) · Public domain · Wikimedia Commons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MARCO NORMATIVO VIGENTE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Las normas que respaldan la prevención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25400">
            <a:solidFill>
              <a:srgbClr val="607D8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3317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2015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Ley 1751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Derecho fundamental a la salud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0" y="2331720"/>
            <a:ext cx="365760" cy="36576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A1B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3280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Ruta de Promoción y Mantenimiento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2331720"/>
            <a:ext cx="365760" cy="36576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1035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Plan Decenal de Salud Pública 2022-2031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2331720"/>
            <a:ext cx="365760" cy="36576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9788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100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89788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Planeación Integral para la Salud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83880" y="2331720"/>
            <a:ext cx="365760" cy="365760"/>
          </a:xfrm>
          <a:prstGeom prst="ellipse">
            <a:avLst/>
          </a:prstGeom>
          <a:solidFill>
            <a:srgbClr val="3B1F47"/>
          </a:solidFill>
          <a:ln w="12700">
            <a:solidFill>
              <a:srgbClr val="3B1F4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8096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1F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1597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Plan de Intervenciones Colectivas (PIC)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251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</a:rPr>
              <a:t>La Resolución 1597 de 2025 reemplazó a la Resolución 518 de 2015.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DIAGNÓSTICO DEL CONTEXTO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vereda que vive del campo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457200" cy="4572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2801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Población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572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Familias campesinas: adultos de 30 a 50 años y niños escolares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457200" cy="4572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157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0848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Agua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Acueducto comunitario sin tratamiento adecuado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57200" cy="4572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8895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Saneamiento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182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Letrinas, pozos sépticos improvisados, residuos sin recoger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67328"/>
            <a:ext cx="457200" cy="4572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6941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Trabajo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3986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Agroquímicos sin elementos de protección</a:t>
            </a:r>
            <a:endParaRPr lang="en-US" sz="1300" dirty="0"/>
          </a:p>
        </p:txBody>
      </p:sp>
      <p:pic>
        <p:nvPicPr>
          <p:cNvPr id="22" name="Image 0" descr="Sweet potato farmers in Peru with pesticide spr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234440"/>
            <a:ext cx="3474720" cy="329184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5212080" y="4306824"/>
            <a:ext cx="3474720" cy="219456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285232" y="4306824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Foto: JIRCAS · CC BY 2.0 · Wikimedia Commons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RIESGOS Y ENFERMEDADES PREVALENTES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pone en riesgo su salud?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Intoxicaciones leves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Químico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4144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Enfermedades de la piel y respiratorias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44144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4144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Químico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624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1596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Diarrea en niños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1596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1596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Biológico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Lesiones articulares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Ergonómico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3172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4144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Sedentarismo en mujeres y niños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44144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44144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Estilo de vida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1596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Poca consulta preventiva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31596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1596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Acceso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5532120" cy="5486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40233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Clasificación: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Riesgo ambiental y ocupacional · colectivo · prioridad ALTA</a:t>
            </a:r>
            <a:endParaRPr lang="en-US" sz="1300" dirty="0"/>
          </a:p>
        </p:txBody>
      </p:sp>
      <p:pic>
        <p:nvPicPr>
          <p:cNvPr id="32" name="Image 0" descr="A farmer fetching water in a muddy pond to mix spraying chemical (herbicide) 0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280160"/>
            <a:ext cx="2468880" cy="3291840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6217920" y="4352544"/>
            <a:ext cx="2468880" cy="219456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291072" y="4352544"/>
            <a:ext cx="2322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Foto: Danjuma Anthony · CC BY-SA 4.0 · Wikimedia Commons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LA ACTIVIDAD PROPUESTA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“Finca sana, familia sana”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1417320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8016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Nivel de prevención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2801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Primaria (con canalización secundaria)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59152"/>
            <a:ext cx="1417320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359152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Población objetivo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359152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Familias de la vereda: agricultores, mujeres y niños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438144"/>
            <a:ext cx="1417320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38144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Objetivo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438144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Reducir la exposición al agua no segura y a los agroquímicos, y fortalecer el autocuidado sin interrumpir el trabajo del campo.</a:t>
            </a:r>
            <a:endParaRPr lang="en-US" sz="1300" dirty="0"/>
          </a:p>
        </p:txBody>
      </p:sp>
      <p:sp>
        <p:nvSpPr>
          <p:cNvPr id="18" name="Recuadro de imagen"/>
          <p:cNvSpPr/>
          <p:nvPr/>
        </p:nvSpPr>
        <p:spPr>
          <a:xfrm>
            <a:off x="5303520" y="1280160"/>
            <a:ext cx="3383280" cy="310896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19" name="Indicación de imagen"/>
          <p:cNvSpPr txBox="1"/>
          <p:nvPr/>
        </p:nvSpPr>
        <p:spPr>
          <a:xfrm>
            <a:off x="5413248" y="1389888"/>
            <a:ext cx="31638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un taller comunitario en una escuela o caseta rural (Pexels: “community workshop rural”).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ACCIONES, RECURSOS Y GESTIÓN PÚBLICA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¿Cómo se hace?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20240" cy="640080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1. Agua segura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Hervir, clorar y tapar el agua; lavado de manos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234440"/>
            <a:ext cx="1920240" cy="640080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2. Agroquímicos sin riesgo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Guantes, tapabocas, gafas; triple lavado de envases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0" y="1234440"/>
            <a:ext cx="1920240" cy="640080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3. Cuerpo sano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Pausas activas y juego entre madres e hijos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</a:rPr>
              <a:t>Recursos: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Técnico de saneamiento · enfermería · promotor · kits de cloro · cartillas · caseta comunal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</a:rPr>
              <a:t>Normas: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Res. 3280 de 2018 · Res. 1597 de 2025 · Ley 9 de 1979 · Decreto 1575 y Res. 2115 de 2007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07D8B"/>
                </a:solidFill>
              </a:rPr>
              <a:t>Vigencia de las normas verificada en fuentes oficiales.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43800" y="178308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7543800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3800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6925709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3707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86600" y="2377440"/>
            <a:ext cx="914400" cy="9144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Actores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40880" y="158191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59168" y="158191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Secretaría de Salud (PIC)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040973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59261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ESE municipal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658971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77259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UMATA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22789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41077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Acueducto comunitario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40787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059075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Escuela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DIAGNÓSTICO DEL CONTEXTO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vida universitaria acelerada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457200" cy="4572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2801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1B9A"/>
                </a:solidFill>
              </a:rPr>
              <a:t>Población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572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Estudiantes de 18 a 25 años que viven solos o en residencias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457200" cy="4572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157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0848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1B9A"/>
                </a:solidFill>
              </a:rPr>
              <a:t>Alimentación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Comida rápida, domicilios, café y bebidas energéticas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57200" cy="4572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8895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1B9A"/>
                </a:solidFill>
              </a:rPr>
              <a:t>Rutina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182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Horarios irregulares de sueño y largas horas frente a pantallas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67328"/>
            <a:ext cx="457200" cy="4572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6941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1B9A"/>
                </a:solidFill>
              </a:rPr>
              <a:t>Emociones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3986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Estrés académico, ansiedad e insomnio</a:t>
            </a:r>
            <a:endParaRPr lang="en-US" sz="1300" dirty="0"/>
          </a:p>
        </p:txBody>
      </p:sp>
      <p:sp>
        <p:nvSpPr>
          <p:cNvPr id="22" name="Recuadro de imagen"/>
          <p:cNvSpPr/>
          <p:nvPr/>
        </p:nvSpPr>
        <p:spPr>
          <a:xfrm>
            <a:off x="5212080" y="1234440"/>
            <a:ext cx="347472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23" name="Indicación de imagen"/>
          <p:cNvSpPr txBox="1"/>
          <p:nvPr/>
        </p:nvSpPr>
        <p:spPr>
          <a:xfrm>
            <a:off x="5321808" y="1344168"/>
            <a:ext cx="325526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Video de estudiantes comiendo comida rápida o estudiando de noche frente al computador (Pexels: “student studying night”, “fast food students”).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RIESGOS Y ENFERMEDADES PREVALENTES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pone en riesgo su salud?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Sobrepeso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Nutricional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4144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Riesgo cardiovascular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44144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4144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Estilo de vida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624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1596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Problemas posturales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1596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1596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Ergonómico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Ansiedad e insomnio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Psicosocial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3172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4144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Sedentarismo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44144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44144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Estilo de vida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1596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Exceso de cafeína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31596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1596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Consumo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5532120" cy="54864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40233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Clasificación: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Riesgo por estilos de vida y psicosocial · individual · prioridad MEDIA-ALTA</a:t>
            </a:r>
            <a:endParaRPr lang="en-US" sz="1300" dirty="0"/>
          </a:p>
        </p:txBody>
      </p:sp>
      <p:sp>
        <p:nvSpPr>
          <p:cNvPr id="32" name="Recuadro de imagen"/>
          <p:cNvSpPr/>
          <p:nvPr/>
        </p:nvSpPr>
        <p:spPr>
          <a:xfrm>
            <a:off x="6217920" y="1280160"/>
            <a:ext cx="246888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33" name="Indicación de imagen"/>
          <p:cNvSpPr txBox="1"/>
          <p:nvPr/>
        </p:nvSpPr>
        <p:spPr>
          <a:xfrm>
            <a:off x="6327648" y="1389888"/>
            <a:ext cx="224942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Íconos de Canva para cada riesgo, o una foto relacionada con el riesgo principal.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LA ACTIVIDAD PROPUESTA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“Recarga tu bienestar”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1417320" cy="9601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8016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Nivel de prevención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2801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Primaria y secundaria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59152"/>
            <a:ext cx="1417320" cy="9601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359152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Población objetivo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359152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Estudiantes de pregrado de 18 a 25 años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438144"/>
            <a:ext cx="1417320" cy="9601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38144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Objetivo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438144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Promover hábitos de autocuidado en alimentación, actividad física, descanso y salud mental, adaptados a su ritmo de vida.</a:t>
            </a:r>
            <a:endParaRPr lang="en-US" sz="1300" dirty="0"/>
          </a:p>
        </p:txBody>
      </p:sp>
      <p:sp>
        <p:nvSpPr>
          <p:cNvPr id="18" name="Recuadro de imagen"/>
          <p:cNvSpPr/>
          <p:nvPr/>
        </p:nvSpPr>
        <p:spPr>
          <a:xfrm>
            <a:off x="5303520" y="1280160"/>
            <a:ext cx="3383280" cy="310896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19" name="Indicación de imagen"/>
          <p:cNvSpPr txBox="1"/>
          <p:nvPr/>
        </p:nvSpPr>
        <p:spPr>
          <a:xfrm>
            <a:off x="5413248" y="1389888"/>
            <a:ext cx="31638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una feria de salud o actividad de bienestar en un campus (Pexels: “university health fair”, “students yoga campus”).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ACCIONES, RECURSOS Y GESTIÓN PÚBLICA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¿Cómo se hace?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20240" cy="640080"/>
          </a:xfrm>
          <a:prstGeom prst="chevron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1. Tamizaje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Peso, IMC, presión arterial y escalas de ansiedad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234440"/>
            <a:ext cx="1920240" cy="640080"/>
          </a:xfrm>
          <a:prstGeom prst="chevron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2. Comida rápida pero sana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Recetas de 15 minutos y etiquetado frontal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0" y="1234440"/>
            <a:ext cx="1920240" cy="640080"/>
          </a:xfrm>
          <a:prstGeom prst="chevron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3. Muévete y desconéctate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Pausas activas, sueño y manejo del estrés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A1B9A"/>
                </a:solidFill>
              </a:rPr>
              <a:t>Recursos: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Enfermería · nutrición · psicología · deporte · báscula y tensiómetro · campaña en redes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A1B9A"/>
                </a:solidFill>
              </a:rPr>
              <a:t>Normas: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Res. 3280 de 2018 · Ley 1355 de 2009 · Ley 2120 de 2021 · Ley 1616 de 2013 · Decreto 729 de 2025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07D8B"/>
                </a:solidFill>
              </a:rPr>
              <a:t>Vigencia de las normas verificada en fuentes oficiales.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43800" y="178308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3800" y="2834640"/>
            <a:ext cx="1051560" cy="9144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3800" y="283464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2834640"/>
            <a:ext cx="1051560" cy="9144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86600" y="2377440"/>
            <a:ext cx="914400" cy="9144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8660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Actores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040880" y="158191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59168" y="158191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Bienestar Universitario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92440" y="263347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10728" y="263347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EPS e IPS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040880" y="368503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59168" y="368503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Secretaría de Salud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989320" y="263347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007608" y="263347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Líderes estudiantiles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DIAGNÓSTICO DEL CONTEXTO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Envejecer en un barrio periférico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457200" cy="4572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2801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</a:rPr>
              <a:t>Población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572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Adultos mayores con bajos ingresos; muchos viven solos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457200" cy="4572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157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0848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</a:rPr>
              <a:t>Salud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Hipertensión, diabetes tipo 2 y enfermedad cardiovascular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57200" cy="4572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8895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</a:rPr>
              <a:t>Hábitos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182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Baja adherencia a tratamientos y poca proteína en la dieta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67328"/>
            <a:ext cx="457200" cy="4572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6941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</a:rPr>
              <a:t>Entorno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3986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Viviendas con pisos resbalosos, sin barandas y con poca luz</a:t>
            </a:r>
            <a:endParaRPr lang="en-US" sz="1300" dirty="0"/>
          </a:p>
        </p:txBody>
      </p:sp>
      <p:sp>
        <p:nvSpPr>
          <p:cNvPr id="22" name="Recuadro de imagen"/>
          <p:cNvSpPr/>
          <p:nvPr/>
        </p:nvSpPr>
        <p:spPr>
          <a:xfrm>
            <a:off x="5212080" y="1234440"/>
            <a:ext cx="347472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23" name="Indicación de imagen"/>
          <p:cNvSpPr txBox="1"/>
          <p:nvPr/>
        </p:nvSpPr>
        <p:spPr>
          <a:xfrm>
            <a:off x="5321808" y="1344168"/>
            <a:ext cx="325526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un adulto mayor solo en casa o caminando con dificultad en un barrio (Pexels: “elderly man alone”, “senior walking”).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RIESGOS Y ENFERMEDADES PREVALENTES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pone en riesgo su salud?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Complicaciones de hipertensión y diabetes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Crónico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4144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Pérdida de masa muscular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44144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4144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Nutricional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624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1596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Caídas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1596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1596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Entorno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Problemas de visión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Biológico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3172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4144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Soledad y aislamiento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44144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44144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Psicosocial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1596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Baja asistencia a controles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31596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1596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Acceso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5532120" cy="5486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40233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Clasificación: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Riesgo cardiovascular, de caídas y psicosocial · individual y comunitario · prioridad ALTA</a:t>
            </a:r>
            <a:endParaRPr lang="en-US" sz="1300" dirty="0"/>
          </a:p>
        </p:txBody>
      </p:sp>
      <p:sp>
        <p:nvSpPr>
          <p:cNvPr id="32" name="Recuadro de imagen"/>
          <p:cNvSpPr/>
          <p:nvPr/>
        </p:nvSpPr>
        <p:spPr>
          <a:xfrm>
            <a:off x="6217920" y="1280160"/>
            <a:ext cx="246888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33" name="Indicación de imagen"/>
          <p:cNvSpPr txBox="1"/>
          <p:nvPr/>
        </p:nvSpPr>
        <p:spPr>
          <a:xfrm>
            <a:off x="6327648" y="1389888"/>
            <a:ext cx="224942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Íconos de Canva para cada riesgo, o una foto relacionada con el riesgo principal.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LA ACTIVIDAD PROPUESTA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“Envejecer con salud”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1417320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8016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Nivel de prevención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2801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Secundaria y terciaria (con acciones primarias)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59152"/>
            <a:ext cx="1417320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359152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Población objetivo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359152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Personas de 60 años o más y sus cuidadores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438144"/>
            <a:ext cx="1417320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38144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Objetivo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438144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Mejorar el control de las enfermedades crónicas, prevenir caídas y reducir el aislamiento social.</a:t>
            </a:r>
            <a:endParaRPr lang="en-US" sz="1300" dirty="0"/>
          </a:p>
        </p:txBody>
      </p:sp>
      <p:sp>
        <p:nvSpPr>
          <p:cNvPr id="18" name="Recuadro de imagen"/>
          <p:cNvSpPr/>
          <p:nvPr/>
        </p:nvSpPr>
        <p:spPr>
          <a:xfrm>
            <a:off x="5303520" y="1280160"/>
            <a:ext cx="3383280" cy="310896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19" name="Indicación de imagen"/>
          <p:cNvSpPr txBox="1"/>
          <p:nvPr/>
        </p:nvSpPr>
        <p:spPr>
          <a:xfrm>
            <a:off x="5413248" y="1389888"/>
            <a:ext cx="31638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adultos mayores haciendo ejercicio en grupo o compartiendo en un centro comunitario (Pexels: “seniors exercise group”).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ACCIONES, RECURSOS Y GESTIÓN PÚBLICA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¿Cómo se hace?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20240" cy="640080"/>
          </a:xfrm>
          <a:prstGeom prst="chevron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1. Control y adherencia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Presión, glucometría y pastillero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234440"/>
            <a:ext cx="1920240" cy="640080"/>
          </a:xfrm>
          <a:prstGeom prst="chevron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2. Muévete seguro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Ejercicios de fuerza y equilibrio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0" y="1234440"/>
            <a:ext cx="1920240" cy="640080"/>
          </a:xfrm>
          <a:prstGeom prst="chevron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3. Come bien y comparte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Alimentación económica y red de vecinos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5100"/>
                </a:solidFill>
              </a:rPr>
              <a:t>Recursos: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Enfermería · médico · nutricionista · trabajo social · tensiómetro y glucómetro · Centro Vida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5100"/>
                </a:solidFill>
              </a:rPr>
              <a:t>Normas: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Res. 3280 de 2018 · Ley 1251 de 2008 · Ley 1276 de 2009 · Decreto 681 de 2022 · Ley 2055 de 2020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07D8B"/>
                </a:solidFill>
              </a:rPr>
              <a:t>Vigencia de las normas verificada en fuentes oficiales.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43800" y="178308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7543800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3800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6925709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3707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86600" y="2377440"/>
            <a:ext cx="914400" cy="9144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Actores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40880" y="158191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59168" y="158191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Secretaría de Salud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040973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59261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Centro Vida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658971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77259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ESE y EPS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22789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41077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Junta de acción comunal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40787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059075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Familias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PREGUNTA ORIENTADORA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¿Cuáles son los beneficios para todos?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06240" y="3291840"/>
            <a:ext cx="731520" cy="731520"/>
          </a:xfrm>
          <a:prstGeom prst="triangle">
            <a:avLst/>
          </a:prstGeom>
          <a:solidFill>
            <a:srgbClr val="3B1F47"/>
          </a:solidFill>
          <a:ln w="12700">
            <a:solidFill>
              <a:srgbClr val="3B1F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280160" y="3017520"/>
            <a:ext cx="6583680" cy="320040"/>
          </a:xfrm>
          <a:prstGeom prst="line">
            <a:avLst/>
          </a:prstGeom>
          <a:noFill/>
          <a:ln w="38100">
            <a:solidFill>
              <a:srgbClr val="3B1F4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4592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F5F3F7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PREVENIR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7568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Menos enfermedades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Menos costos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Más calidad de vida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Más productividad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F5F3F7"/>
          </a:solidFill>
          <a:ln w="2540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3258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TARDE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0992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Hospitalizaciones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Complicaciones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Gasto de bolsillo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Pérdida de autonomía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B1F47"/>
                </a:solidFill>
              </a:rPr>
              <a:t>Prevenir siempre cuesta menos que tratar una enfermedad avanzada (OMS, 2021).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PREGUNTA ORIENTADORA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 que el sistema colombiano garantiza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14630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Ruta de Promoción y Mantenimiento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659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Valoraciones y tamizajes en cada etapa de la vida (Res. 3280 de 2018)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17720" y="1280160"/>
            <a:ext cx="4023360" cy="146304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463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copagos ni cuotas moderadoras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9659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En los servicios de promoción y prevención (Acuerdo 260 de 2004)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4023360" cy="14630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08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Intervenciones Colectivas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611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Acciones gratuitas en hogares, colegios y comunidades (Res. 1597 de 2025)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17720" y="2926080"/>
            <a:ext cx="4023360" cy="14630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3108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Vacunación gratuita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611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Programa Ampliado de Inmunizaciones (Ley 1373 de 2010)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</a:rPr>
              <a:t>REFLEXIÓN FINAL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9728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Prevenir es cuidar, y cuidar es tarea de todos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1BEE7"/>
                </a:solidFill>
              </a:rPr>
              <a:t>Cada población necesita una respuesta distinta. Cuando la comunidad, el sistema de salud y el Estado trabajan juntos, la prevención llega a donde vive la gente.</a:t>
            </a:r>
            <a:endParaRPr lang="en-US" sz="1600" dirty="0"/>
          </a:p>
        </p:txBody>
      </p:sp>
      <p:sp>
        <p:nvSpPr>
          <p:cNvPr id="5" name="Recuadro de imagen"/>
          <p:cNvSpPr/>
          <p:nvPr/>
        </p:nvSpPr>
        <p:spPr>
          <a:xfrm>
            <a:off x="5852160" y="502920"/>
            <a:ext cx="2834640" cy="4114800"/>
          </a:xfrm>
          <a:prstGeom prst="rect">
            <a:avLst/>
          </a:prstGeom>
          <a:solidFill>
            <a:srgbClr val="4A2E58"/>
          </a:solidFill>
          <a:ln w="15875">
            <a:solidFill>
              <a:srgbClr val="C9A7D8"/>
            </a:solidFill>
            <a:prstDash val="dash"/>
          </a:ln>
        </p:spPr>
      </p:sp>
      <p:sp>
        <p:nvSpPr>
          <p:cNvPr id="6" name="Indicación de imagen"/>
          <p:cNvSpPr txBox="1"/>
          <p:nvPr/>
        </p:nvSpPr>
        <p:spPr>
          <a:xfrm>
            <a:off x="5961888" y="612648"/>
            <a:ext cx="2615184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A825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Foto de una comunidad unida o de manos juntas (Pexels: “community together”, “hands together diversity”).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REFERENCIAS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Referencias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(2015). Ley Estatutaria 1751.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(2009). Ley 1355; Ley 1276.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(2013). Ley 1616.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(2021). Ley 2120.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(2008). Ley 1251.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(2020). Ley 2055.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(1979). Ley 9.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Hernández-Sarmiento, J. M., et al. (2020). La educación en salud como una importante estrategia de promoción y prevención. Archivos de Medicina, 20(2), 4-20.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3444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(2018). Resolución 3280.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(2022). Resolución 1035; Decreto 681.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(2024). Resolución 100.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(2025). Resolución 1597; Decreto 729.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la Protección Social. (2007). Decreto 1575; Resolución 2115.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Consejo Nacional de Seguridad Social en Salud. (2004). Acuerdo 260.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Organización Mundial de la Salud. (2021). Estrategia mundial para acelerar la eliminación del cáncer del cuello uterino como problema de salud pública.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PREVENIR ES CUIDAR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Créditos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Investigación, guion, voz y edición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Yina Vanessa Cadena Mantilla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Imágenes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Wikimedia Commons, licencias libres (autor y licencia en cada foto)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Música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Producción propia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Edición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Canva / Clipchamp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Curso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[Nombre del curso] · Semana 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Docente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[Nombre del docente]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Institución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Corporación Universitaria Minuto de Dios – UNIMINUTO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venir es cuidar">
  <a:themeElements>
    <a:clrScheme name="Prevenir es cuidar">
      <a:dk1>
        <a:srgbClr val="263238"/>
      </a:dk1>
      <a:lt1>
        <a:srgbClr val="FFFFFF"/>
      </a:lt1>
      <a:dk2>
        <a:srgbClr val="3B1F47"/>
      </a:dk2>
      <a:lt2>
        <a:srgbClr val="F5F3F7"/>
      </a:lt2>
      <a:accent1>
        <a:srgbClr val="2E7D32"/>
      </a:accent1>
      <a:accent2>
        <a:srgbClr val="6A1B9A"/>
      </a:accent2>
      <a:accent3>
        <a:srgbClr val="E65100"/>
      </a:accent3>
      <a:accent4>
        <a:srgbClr val="F9A825"/>
      </a:accent4>
      <a:accent5>
        <a:srgbClr val="607D8B"/>
      </a:accent5>
      <a:accent6>
        <a:srgbClr val="00897B"/>
      </a:accent6>
      <a:hlink>
        <a:srgbClr val="6A1B9A"/>
      </a:hlink>
      <a:folHlink>
        <a:srgbClr val="3B1F47"/>
      </a:folHlink>
    </a:clrScheme>
    <a:fontScheme name="Prevenir es cuida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Prevenir es cuidar</dc:title>
  <dc:subject>PptxGenJS Presentation</dc:subject>
  <dc:creator>Yina Vanessa Cadena Mantilla</dc:creator>
  <cp:lastModifiedBy>Yina Vanessa Cadena Mantilla</cp:lastModifiedBy>
  <cp:revision>1</cp:revision>
  <dcterms:created xsi:type="dcterms:W3CDTF">2026-10-14T23:17:26Z</dcterms:created>
  <dcterms:modified xsi:type="dcterms:W3CDTF">2026-10-14T23:17:26Z</dcterms:modified>
</cp:coreProperties>
</file>