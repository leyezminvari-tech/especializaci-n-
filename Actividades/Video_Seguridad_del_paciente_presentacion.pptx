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f9bd4f60-6e6c-a37a-ac09-2a592d7d07de}">
          <p14:sldIdLst>
            <p14:sldId id="256"/>
            <p14:sldId id="257"/>
            <p14:sldId id="258"/>
          </p14:sldIdLst>
        </p14:section>
        <p14:section name="El caso" id="{8163ece1-d082-0cad-509a-bd389328ecc4}">
          <p14:sldIdLst>
            <p14:sldId id="259"/>
            <p14:sldId id="260"/>
            <p14:sldId id="261"/>
            <p14:sldId id="262"/>
          </p14:sldIdLst>
        </p14:section>
        <p14:section name="Descripción del caso" id="{d882c8d3-36b3-0eeb-3ae8-c80c94d4dfb3}">
          <p14:sldIdLst>
            <p14:sldId id="263"/>
          </p14:sldIdLst>
        </p14:section>
        <p14:section name="Análisis crítico" id="{57d22a6e-0200-432e-579d-de0f6e0afcac}">
          <p14:sldIdLst>
            <p14:sldId id="264"/>
            <p14:sldId id="265"/>
            <p14:sldId id="266"/>
          </p14:sldIdLst>
        </p14:section>
        <p14:section name="Propuesta de mejora" id="{7c849c4d-cc8e-08a7-c8f8-aa11d6c40a24}">
          <p14:sldIdLst>
            <p14:sldId id="267"/>
            <p14:sldId id="268"/>
            <p14:sldId id="269"/>
            <p14:sldId id="270"/>
          </p14:sldIdLst>
        </p14:section>
        <p14:section name="Preguntas orientadoras" id="{d489bc46-e6f8-9d51-a44f-63ac5f4931f3}">
          <p14:sldIdLst>
            <p14:sldId id="271"/>
            <p14:sldId id="272"/>
          </p14:sldIdLst>
        </p14:section>
        <p14:section name="Cierre" id="{ad5bdb93-d191-96d5-651c-980d58a5d533}">
          <p14:sldIdLst>
            <p14:sldId id="273"/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Duración en el video: 10 segundos.
Música: suave de apertura.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Duración en el video: 14 segundos.
Música: suave.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Duración en el video: 18 segundos.
Música: suave.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Duración en el video: 12 segundos.
Música: entra música de tensión (grave, lenta).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Duración en el video: 12 segundos.
Música: tensión.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Duración en el video: 12 segundos.
Música: tensión.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Duración en el video: 14 segundos.
Música: tensión con sonido de monitor cardíaco (efectos de Canva o Clipchamp).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Duración en el video: 20 segundos.
Música: neutra suave.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Duración en el video: 16 segundos.
Música: neutra.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Duración en el video: 22 segundos.
Música: neutra.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Duración en el video: 18 segundos.
Música: neutra.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Duración en el video: 14 segundos.
Música: entra música 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Duración en el video: 14 segundos.
Música: 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Duración en el video: 20 segundos.
Música: positiva con percusión suave.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Duración en el video: 22 segundos.
Música: 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Duración en el video: 18 segundos.
Música: 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Duración en el video: 20 segundos.
Música: 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Duración en el video: 16 segundos.
Música: positiva, más suave.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Duración en el video: 12 segundos.
Música: 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Duración en el video: 14 segundos.
Música: suave.
Las referencias completas, con enlaces, están en el documento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Duración en el video: 14 segundos.
Música: suave.
Las referencias completas, con enlaces, están en el documento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Duración en el video: 14 segundos.
Música: suave.
Las referencias completas, con enlaces, están en el documento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Duración en el video: 10 segundos.
Música: se desvanece al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43000"/>
            <a:ext cx="51206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D8DB"/>
                </a:solidFill>
              </a:rPr>
              <a:t>SEGURIDAD DEL PACIENTE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1430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Cuando un error de vía cambia una vida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D8DB"/>
                </a:solidFill>
              </a:rPr>
              <a:t>Análisis crítico de un evento adverso por error de medicación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Yina Vanessa Cadena Mantilla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Especialización en Gerencia y Auditoría de la Calidad en Salud · UNIMINUTO</a:t>
            </a:r>
            <a:endParaRPr lang="en-US" sz="1300" dirty="0"/>
          </a:p>
        </p:txBody>
      </p:sp>
      <p:sp>
        <p:nvSpPr>
          <p:cNvPr id="6" name="Recuadro de imagen"/>
          <p:cNvSpPr/>
          <p:nvPr/>
        </p:nvSpPr>
        <p:spPr>
          <a:xfrm>
            <a:off x="6035040" y="548640"/>
            <a:ext cx="2651760" cy="4023360"/>
          </a:xfrm>
          <a:prstGeom prst="roundRect">
            <a:avLst>
              <a:gd name="adj" fmla="val 2759"/>
            </a:avLst>
          </a:prstGeom>
          <a:solidFill>
            <a:srgbClr val="24456A"/>
          </a:solidFill>
          <a:ln w="15875">
            <a:solidFill>
              <a:srgbClr val="9FD8DB"/>
            </a:solidFill>
            <a:prstDash val="dash"/>
          </a:ln>
        </p:spPr>
      </p:sp>
      <p:sp>
        <p:nvSpPr>
          <p:cNvPr id="7" name="Indicación de imagen"/>
          <p:cNvSpPr txBox="1"/>
          <p:nvPr/>
        </p:nvSpPr>
        <p:spPr>
          <a:xfrm>
            <a:off x="6172200" y="685800"/>
            <a:ext cx="23774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D8DB"/>
                </a:solidFill>
              </a:rPr>
              <a:t>IMAGEN SUGERIDA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Foto de fondo: pasillo de hospital o manos de una enfermera con guantes. Banco gratuito: Pexels o Pixabay (buscar “hospital hallway”, “nurse gloves”). En Canva puede ponerla de fondo con un filtro oscuro.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EN ESTE VIDEO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¿Qué vamos a hacer?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356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1. Conocer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745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 caso real de evento adverso ocurrido en Colombia en 2026.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325880"/>
            <a:ext cx="260604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4356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2. Identificar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8745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 protocolo de seguridad que falló y por qué.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325880"/>
            <a:ext cx="260604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4356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3. Proponer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18745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Soluciones para fortalecer la cultura de seguridad.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5661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La seguridad del paciente no es un trámite: es el corazón de la calidad en salud.</a:t>
            </a:r>
            <a:endParaRPr lang="en-US" sz="1600" dirty="0"/>
          </a:p>
        </p:txBody>
      </p:sp>
      <p:sp>
        <p:nvSpPr>
          <p:cNvPr id="14" name="Recuadro de imagen"/>
          <p:cNvSpPr/>
          <p:nvPr/>
        </p:nvSpPr>
        <p:spPr>
          <a:xfrm>
            <a:off x="6217920" y="352044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F1F5F7"/>
          </a:solidFill>
          <a:ln w="15875">
            <a:solidFill>
              <a:srgbClr val="8A9BA8"/>
            </a:solidFill>
            <a:prstDash val="dash"/>
          </a:ln>
        </p:spPr>
      </p:sp>
      <p:sp>
        <p:nvSpPr>
          <p:cNvPr id="15" name="Indicación de imagen"/>
          <p:cNvSpPr txBox="1"/>
          <p:nvPr/>
        </p:nvSpPr>
        <p:spPr>
          <a:xfrm>
            <a:off x="6355080" y="36576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IMAGEN SUGERIDA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Íconos de Canva: lupa, escudo y bombillo (uno por tarjeta).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CONCEPTOS CLAVE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Seguridad del paciente y evento adverso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43200" cy="265176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89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Seguridad del paciente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2880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Conjunto de procesos, instrumentos y metodologías que buscan minimizar el riesgo de sufrir un daño durante la atención en salud.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280160"/>
            <a:ext cx="2743200" cy="265176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389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Evento adverso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182880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Resultado de la atención en salud que, de manera no intencional, produce un daño al paciente. Si se pudo evitar, es un evento prevenible.</a:t>
            </a:r>
            <a:endParaRPr lang="en-US" sz="1300" dirty="0"/>
          </a:p>
        </p:txBody>
      </p:sp>
      <p:sp>
        <p:nvSpPr>
          <p:cNvPr id="10" name="Recuadro de imagen"/>
          <p:cNvSpPr/>
          <p:nvPr/>
        </p:nvSpPr>
        <p:spPr>
          <a:xfrm>
            <a:off x="6309360" y="1280160"/>
            <a:ext cx="2377440" cy="2651760"/>
          </a:xfrm>
          <a:prstGeom prst="roundRect">
            <a:avLst>
              <a:gd name="adj" fmla="val 3077"/>
            </a:avLst>
          </a:prstGeom>
          <a:solidFill>
            <a:srgbClr val="F1F5F7"/>
          </a:solidFill>
          <a:ln w="15875">
            <a:solidFill>
              <a:srgbClr val="8A9BA8"/>
            </a:solidFill>
            <a:prstDash val="dash"/>
          </a:ln>
        </p:spPr>
      </p:sp>
      <p:sp>
        <p:nvSpPr>
          <p:cNvPr id="11" name="Indicación de imagen"/>
          <p:cNvSpPr txBox="1"/>
          <p:nvPr/>
        </p:nvSpPr>
        <p:spPr>
          <a:xfrm>
            <a:off x="6446520" y="1417320"/>
            <a:ext cx="2103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IMAGEN SUGERIDA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Foto real de un equipo de salud atendiendo a un paciente (Pexels: “healthcare team”).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 mayoría de los daños en la atención son prevenibles: es un problema de salud pública.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548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Fuentes: Ministerio de Salud y Protección Social (2008, 2010); Estrada-Orozco et al. (2024).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EL CASO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Abril de 2026 · Yarumal, Antioquia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4206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Hospital San Juan de Dios de Yarumal: ESE pública con estudiantes en práctica.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Una mujer de 46 años llega a urgencias con dolor abdominal por gastritis.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 ordenan un antiácido para aliviar el dolor.</a:t>
            </a:r>
            <a:endParaRPr lang="en-US" sz="1600" dirty="0"/>
          </a:p>
        </p:txBody>
      </p:sp>
      <p:sp>
        <p:nvSpPr>
          <p:cNvPr id="5" name="Recuadro de imagen"/>
          <p:cNvSpPr/>
          <p:nvPr/>
        </p:nvSpPr>
        <p:spPr>
          <a:xfrm>
            <a:off x="4937760" y="1280160"/>
            <a:ext cx="3749040" cy="3108960"/>
          </a:xfrm>
          <a:prstGeom prst="roundRect">
            <a:avLst>
              <a:gd name="adj" fmla="val 2353"/>
            </a:avLst>
          </a:prstGeom>
          <a:solidFill>
            <a:srgbClr val="F1F5F7"/>
          </a:solidFill>
          <a:ln w="15875">
            <a:solidFill>
              <a:srgbClr val="8A9BA8"/>
            </a:solidFill>
            <a:prstDash val="dash"/>
          </a:ln>
        </p:spPr>
      </p:sp>
      <p:sp>
        <p:nvSpPr>
          <p:cNvPr id="6" name="Indicación de imagen"/>
          <p:cNvSpPr txBox="1"/>
          <p:nvPr/>
        </p:nvSpPr>
        <p:spPr>
          <a:xfrm>
            <a:off x="5074920" y="1417320"/>
            <a:ext cx="3474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IMAGEN SUGERIDA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Captura real del titular de la noticia (Noticias RCN o Teleantioquia) o la foto de la fachada del hospital que aparece en esa noticia. Escribir la fuente debajo de la imagen.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Fuentes: Noticias RCN (2026); Teleantioquia (2026).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EL CASO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La orden médica era clara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4206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antiácido (Mylanta, según varios medios) era de uso exclusivamente oral.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orden indicaba la vía oral.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Una practicante de enfermería recibió la orden para administrarlo.</a:t>
            </a:r>
            <a:endParaRPr lang="en-US" sz="1600" dirty="0"/>
          </a:p>
        </p:txBody>
      </p:sp>
      <p:sp>
        <p:nvSpPr>
          <p:cNvPr id="5" name="Recuadro de imagen"/>
          <p:cNvSpPr/>
          <p:nvPr/>
        </p:nvSpPr>
        <p:spPr>
          <a:xfrm>
            <a:off x="4937760" y="1280160"/>
            <a:ext cx="3749040" cy="3108960"/>
          </a:xfrm>
          <a:prstGeom prst="roundRect">
            <a:avLst>
              <a:gd name="adj" fmla="val 2353"/>
            </a:avLst>
          </a:prstGeom>
          <a:solidFill>
            <a:srgbClr val="F1F5F7"/>
          </a:solidFill>
          <a:ln w="15875">
            <a:solidFill>
              <a:srgbClr val="8A9BA8"/>
            </a:solidFill>
            <a:prstDash val="dash"/>
          </a:ln>
        </p:spPr>
      </p:sp>
      <p:sp>
        <p:nvSpPr>
          <p:cNvPr id="6" name="Indicación de imagen"/>
          <p:cNvSpPr txBox="1"/>
          <p:nvPr/>
        </p:nvSpPr>
        <p:spPr>
          <a:xfrm>
            <a:off x="5074920" y="1417320"/>
            <a:ext cx="3474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IMAGEN SUGERIDA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Captura del titular de Publimetro o LA FM donde se menciona el medicamento. Alternativa: foto genérica de un frasco de antiácido en suspensión, sin marca visible (Pixabay: “medicine bottle”).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Fuentes: Publimetro (2026); LA FM (2026).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EL CASO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Sin verificación y sin supervisión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4206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Según los medios, la practicante lo aplicó por vía intravenosa.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se verificó la vía de administración antes de aplicarlo.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está claro si había supervisión directa de un profesional.</a:t>
            </a:r>
            <a:endParaRPr lang="en-US" sz="1600" dirty="0"/>
          </a:p>
        </p:txBody>
      </p:sp>
      <p:sp>
        <p:nvSpPr>
          <p:cNvPr id="5" name="Recuadro de imagen"/>
          <p:cNvSpPr/>
          <p:nvPr/>
        </p:nvSpPr>
        <p:spPr>
          <a:xfrm>
            <a:off x="4937760" y="1280160"/>
            <a:ext cx="3749040" cy="3108960"/>
          </a:xfrm>
          <a:prstGeom prst="roundRect">
            <a:avLst>
              <a:gd name="adj" fmla="val 2353"/>
            </a:avLst>
          </a:prstGeom>
          <a:solidFill>
            <a:srgbClr val="F1F5F7"/>
          </a:solidFill>
          <a:ln w="15875">
            <a:solidFill>
              <a:srgbClr val="8A9BA8"/>
            </a:solidFill>
            <a:prstDash val="dash"/>
          </a:ln>
        </p:spPr>
      </p:sp>
      <p:sp>
        <p:nvSpPr>
          <p:cNvPr id="6" name="Indicación de imagen"/>
          <p:cNvSpPr txBox="1"/>
          <p:nvPr/>
        </p:nvSpPr>
        <p:spPr>
          <a:xfrm>
            <a:off x="5074920" y="1417320"/>
            <a:ext cx="3474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IMAGEN SUGERIDA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Foto de banco gratuito de una jeringa junto a un catéter o de manos con guantes preparando un medicamento (Pexels: “syringe”, “IV catheter”). No usar fotos de las personas reales del caso.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Fuentes: Blu Radio (2026); Noticias RCN (2026).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LA CONSECUENCIA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 urgencias a cuidados intensivos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4206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paciente se deterioró y fue remitida a la UCI del Hospital San Vicente Fundación, en Medellín, con pronóstico reservado.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hospital lo reconoció como un evento adverso, inició la investigación y apartó a la estudiante de sus funciones.</a:t>
            </a:r>
            <a:endParaRPr lang="en-US" sz="1600" dirty="0"/>
          </a:p>
        </p:txBody>
      </p:sp>
      <p:sp>
        <p:nvSpPr>
          <p:cNvPr id="5" name="Recuadro de imagen"/>
          <p:cNvSpPr/>
          <p:nvPr/>
        </p:nvSpPr>
        <p:spPr>
          <a:xfrm>
            <a:off x="4937760" y="1280160"/>
            <a:ext cx="3749040" cy="3108960"/>
          </a:xfrm>
          <a:prstGeom prst="roundRect">
            <a:avLst>
              <a:gd name="adj" fmla="val 2353"/>
            </a:avLst>
          </a:prstGeom>
          <a:solidFill>
            <a:srgbClr val="F1F5F7"/>
          </a:solidFill>
          <a:ln w="15875">
            <a:solidFill>
              <a:srgbClr val="8A9BA8"/>
            </a:solidFill>
            <a:prstDash val="dash"/>
          </a:ln>
        </p:spPr>
      </p:sp>
      <p:sp>
        <p:nvSpPr>
          <p:cNvPr id="6" name="Indicación de imagen"/>
          <p:cNvSpPr txBox="1"/>
          <p:nvPr/>
        </p:nvSpPr>
        <p:spPr>
          <a:xfrm>
            <a:off x="5074920" y="1417320"/>
            <a:ext cx="3474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IMAGEN SUGERIDA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Captura del titular de Blu Radio (“…la paciente está en UCI en Medellín”) o foto de banco de una UCI con monitor cardíaco (Pexels: “ICU monitor”).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Fuentes: Blu Radio (2026); Publimetro (2026).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DESCRIPCIÓN DEL CASO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Ficha del evento adverso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8521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0233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Tipo de institución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ESE pública con estudiantes en práctica (docencia-servicio)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Área del servicio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Urgencias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Situación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Antiácido de uso oral aplicado por vía intravenosa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Tipo de riesgo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Error de medicación: vía de administración equivocada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Consecuencia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Daño grave: la paciente terminó en la UCI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Protocolo fallido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Verificación de los “correctos” y supervisión del estudiante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uadro de imagen"/>
          <p:cNvSpPr/>
          <p:nvPr/>
        </p:nvSpPr>
        <p:spPr>
          <a:xfrm>
            <a:off x="6492240" y="1280160"/>
            <a:ext cx="2194560" cy="2834640"/>
          </a:xfrm>
          <a:prstGeom prst="roundRect">
            <a:avLst>
              <a:gd name="adj" fmla="val 3333"/>
            </a:avLst>
          </a:prstGeom>
          <a:solidFill>
            <a:srgbClr val="F1F5F7"/>
          </a:solidFill>
          <a:ln w="15875">
            <a:solidFill>
              <a:srgbClr val="8A9BA8"/>
            </a:solidFill>
            <a:prstDash val="dash"/>
          </a:ln>
        </p:spPr>
      </p:sp>
      <p:sp>
        <p:nvSpPr>
          <p:cNvPr id="6" name="Indicación de imagen"/>
          <p:cNvSpPr txBox="1"/>
          <p:nvPr/>
        </p:nvSpPr>
        <p:spPr>
          <a:xfrm>
            <a:off x="6629400" y="1417320"/>
            <a:ext cx="19202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IMAGEN SUGERIDA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Ícono de Canva de una ficha o carpeta clínica, o foto de un tablero de historia clínica.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ANÁLISIS CRÍTICO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El protocolo que falló: los “correctos”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74320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6350">
            <a:solidFill>
              <a:srgbClr val="EEF4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✓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Paciente correcto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37560" y="1325880"/>
            <a:ext cx="274320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6350">
            <a:solidFill>
              <a:srgbClr val="EEF4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3258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✓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Medicamento correcto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274320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6350">
            <a:solidFill>
              <a:srgbClr val="EEF4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194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✓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Dosis correcta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37560" y="2194560"/>
            <a:ext cx="2743200" cy="685800"/>
          </a:xfrm>
          <a:prstGeom prst="roundRect">
            <a:avLst>
              <a:gd name="adj" fmla="val 13333"/>
            </a:avLst>
          </a:prstGeom>
          <a:solidFill>
            <a:srgbClr val="FDEDEC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2194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✗  </a:t>
            </a:r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VÍA CORRECTA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274320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6350">
            <a:solidFill>
              <a:srgbClr val="EEF4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063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✓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Hora correcta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37560" y="3063240"/>
            <a:ext cx="274320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6350">
            <a:solidFill>
              <a:srgbClr val="EEF4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74720" y="3063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✓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Registro correcto</a:t>
            </a:r>
            <a:endParaRPr lang="en-US" sz="1600" dirty="0"/>
          </a:p>
        </p:txBody>
      </p:sp>
      <p:sp>
        <p:nvSpPr>
          <p:cNvPr id="16" name="Recuadro de imagen"/>
          <p:cNvSpPr/>
          <p:nvPr/>
        </p:nvSpPr>
        <p:spPr>
          <a:xfrm>
            <a:off x="6309360" y="1325880"/>
            <a:ext cx="2377440" cy="2423160"/>
          </a:xfrm>
          <a:prstGeom prst="roundRect">
            <a:avLst>
              <a:gd name="adj" fmla="val 3077"/>
            </a:avLst>
          </a:prstGeom>
          <a:solidFill>
            <a:srgbClr val="F1F5F7"/>
          </a:solidFill>
          <a:ln w="15875">
            <a:solidFill>
              <a:srgbClr val="8A9BA8"/>
            </a:solidFill>
            <a:prstDash val="dash"/>
          </a:ln>
        </p:spPr>
      </p:sp>
      <p:sp>
        <p:nvSpPr>
          <p:cNvPr id="17" name="Indicación de imagen"/>
          <p:cNvSpPr txBox="1"/>
          <p:nvPr/>
        </p:nvSpPr>
        <p:spPr>
          <a:xfrm>
            <a:off x="6446520" y="1463040"/>
            <a:ext cx="21031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IMAGEN SUGERIDA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Foto de banco de una enfermera leyendo la etiqueta de un medicamento, o íconos de chulo y X de Canva.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7548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Paquete instruccional “Mejorar la seguridad en la utilización de medicamentos” (MSPS).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ANÁLISIS CRÍTICO · PROTOCOLO DE LONDRES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¿Por qué ocurrió?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4320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89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Individuales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28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Inexperiencia; no verificar la vía antes de administrar.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280160"/>
            <a:ext cx="274320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389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De la tarea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Medicamento oral cargado en jeringa, sin rótulo “solo vía oral”.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274320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8072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Del equipo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246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Falta de supervisión directa y comunicación poco clara.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37560" y="2697480"/>
            <a:ext cx="274320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0" y="28072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De la organización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3246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Débil control docencia-servicio, carga de trabajo y sin doble verificación.</a:t>
            </a:r>
            <a:endParaRPr lang="en-US" sz="1300" dirty="0"/>
          </a:p>
        </p:txBody>
      </p:sp>
      <p:sp>
        <p:nvSpPr>
          <p:cNvPr id="16" name="Recuadro de imagen"/>
          <p:cNvSpPr/>
          <p:nvPr/>
        </p:nvSpPr>
        <p:spPr>
          <a:xfrm>
            <a:off x="6309360" y="1280160"/>
            <a:ext cx="2377440" cy="2697480"/>
          </a:xfrm>
          <a:prstGeom prst="roundRect">
            <a:avLst>
              <a:gd name="adj" fmla="val 3077"/>
            </a:avLst>
          </a:prstGeom>
          <a:solidFill>
            <a:srgbClr val="F1F5F7"/>
          </a:solidFill>
          <a:ln w="15875">
            <a:solidFill>
              <a:srgbClr val="8A9BA8"/>
            </a:solidFill>
            <a:prstDash val="dash"/>
          </a:ln>
        </p:spPr>
      </p:sp>
      <p:sp>
        <p:nvSpPr>
          <p:cNvPr id="17" name="Indicación de imagen"/>
          <p:cNvSpPr txBox="1"/>
          <p:nvPr/>
        </p:nvSpPr>
        <p:spPr>
          <a:xfrm>
            <a:off x="6446520" y="1417320"/>
            <a:ext cx="21031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IMAGEN SUGERIDA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Foto de banco de un servicio de urgencias con mucho movimiento (Pexels: “emergency room”).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Hipótesis de análisis: la investigación del hospital sigue en curso.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ANÁLISIS CRÍTICO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Impacto del evento adverso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898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En la paciente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2880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Daño grave, UCI, riesgo para su vida y sufrimiento de su familia.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3898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En el equipo de salud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82880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“Segundas víctimas”: culpa, estrés y procesos disciplinarios y legales.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28016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3898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En la institución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182880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Investigaciones, demandas, costos y pérdida de confianza de la comunidad.</a:t>
            </a:r>
            <a:endParaRPr lang="en-US" sz="1300" dirty="0"/>
          </a:p>
        </p:txBody>
      </p:sp>
      <p:sp>
        <p:nvSpPr>
          <p:cNvPr id="13" name="Recuadro de imagen"/>
          <p:cNvSpPr/>
          <p:nvPr/>
        </p:nvSpPr>
        <p:spPr>
          <a:xfrm>
            <a:off x="457200" y="356616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5F7"/>
          </a:solidFill>
          <a:ln w="15875">
            <a:solidFill>
              <a:srgbClr val="8A9BA8"/>
            </a:solidFill>
            <a:prstDash val="dash"/>
          </a:ln>
        </p:spPr>
      </p:sp>
      <p:sp>
        <p:nvSpPr>
          <p:cNvPr id="14" name="Indicación de imagen"/>
          <p:cNvSpPr txBox="1"/>
          <p:nvPr/>
        </p:nvSpPr>
        <p:spPr>
          <a:xfrm>
            <a:off x="594360" y="370332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IMAGEN SUGERIDA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Tres íconos de Canva sobre cada tarjeta: una persona, un grupo de profesionales y un hospital.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PROPUESTA · ASÍ DEBIÓ HACERSE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Leer la orden y verificar juntas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4206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Leer la orden médica completa antes de preparar el medicamento.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Doble verificación con la enfermera jefe o el docente: paciente, medicamento, dosis, vía y hora.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Ante la duda, detenerse y preguntar.</a:t>
            </a:r>
            <a:endParaRPr lang="en-US" sz="1600" dirty="0"/>
          </a:p>
        </p:txBody>
      </p:sp>
      <p:sp>
        <p:nvSpPr>
          <p:cNvPr id="5" name="Recuadro de imagen"/>
          <p:cNvSpPr/>
          <p:nvPr/>
        </p:nvSpPr>
        <p:spPr>
          <a:xfrm>
            <a:off x="4937760" y="1280160"/>
            <a:ext cx="3749040" cy="3108960"/>
          </a:xfrm>
          <a:prstGeom prst="roundRect">
            <a:avLst>
              <a:gd name="adj" fmla="val 2353"/>
            </a:avLst>
          </a:prstGeom>
          <a:solidFill>
            <a:srgbClr val="F1F5F7"/>
          </a:solidFill>
          <a:ln w="15875">
            <a:solidFill>
              <a:srgbClr val="8A9BA8"/>
            </a:solidFill>
            <a:prstDash val="dash"/>
          </a:ln>
        </p:spPr>
      </p:sp>
      <p:sp>
        <p:nvSpPr>
          <p:cNvPr id="6" name="Indicación de imagen"/>
          <p:cNvSpPr txBox="1"/>
          <p:nvPr/>
        </p:nvSpPr>
        <p:spPr>
          <a:xfrm>
            <a:off x="5074920" y="1417320"/>
            <a:ext cx="3474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IMAGEN SUGERIDA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Foto de banco de dos profesionales de enfermería revisando juntas una orden o una historia clínica (Pexels: “nurses checking chart”).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PROPUESTA · ASÍ DEBIÓ HACERSE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Vía oral: en vaso, no en jeringa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4206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Los medicamentos orales se dan en vaso dosificador o en jeringa oral exclusiva.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Rotular “SOLO VÍA ORAL”.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Registrar la administración en la historia clínica.</a:t>
            </a:r>
            <a:endParaRPr lang="en-US" sz="1600" dirty="0"/>
          </a:p>
        </p:txBody>
      </p:sp>
      <p:sp>
        <p:nvSpPr>
          <p:cNvPr id="5" name="Recuadro de imagen"/>
          <p:cNvSpPr/>
          <p:nvPr/>
        </p:nvSpPr>
        <p:spPr>
          <a:xfrm>
            <a:off x="4937760" y="1280160"/>
            <a:ext cx="3749040" cy="3108960"/>
          </a:xfrm>
          <a:prstGeom prst="roundRect">
            <a:avLst>
              <a:gd name="adj" fmla="val 2353"/>
            </a:avLst>
          </a:prstGeom>
          <a:solidFill>
            <a:srgbClr val="F1F5F7"/>
          </a:solidFill>
          <a:ln w="15875">
            <a:solidFill>
              <a:srgbClr val="8A9BA8"/>
            </a:solidFill>
            <a:prstDash val="dash"/>
          </a:ln>
        </p:spPr>
      </p:sp>
      <p:sp>
        <p:nvSpPr>
          <p:cNvPr id="6" name="Indicación de imagen"/>
          <p:cNvSpPr txBox="1"/>
          <p:nvPr/>
        </p:nvSpPr>
        <p:spPr>
          <a:xfrm>
            <a:off x="5074920" y="1417320"/>
            <a:ext cx="3474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IMAGEN SUGERIDA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Foto de banco de un vaso dosificador de medicamento o de jeringas orales de color (Pixabay: “medicine cup”, “oral syringe”).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PROPUESTA DE MEJORA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¿Qué protocolos existen?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8521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6576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Guía técnica de buenas prácticas (MSPS)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Paquete “Mejorar la seguridad en la utilización de medicamentos”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Resolución 3100 de 2019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Todo prestador debe tener un Programa de Seguridad del Paciente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Decreto 2376 de 2010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Relación docencia-servicio: el estudiante actúa bajo supervisión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OMS: Medicación sin daño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Tercer reto mundial por la seguridad del paciente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uadro de imagen"/>
          <p:cNvSpPr/>
          <p:nvPr/>
        </p:nvSpPr>
        <p:spPr>
          <a:xfrm>
            <a:off x="6492240" y="1280160"/>
            <a:ext cx="2194560" cy="2743200"/>
          </a:xfrm>
          <a:prstGeom prst="roundRect">
            <a:avLst>
              <a:gd name="adj" fmla="val 3333"/>
            </a:avLst>
          </a:prstGeom>
          <a:solidFill>
            <a:srgbClr val="F1F5F7"/>
          </a:solidFill>
          <a:ln w="15875">
            <a:solidFill>
              <a:srgbClr val="8A9BA8"/>
            </a:solidFill>
            <a:prstDash val="dash"/>
          </a:ln>
        </p:spPr>
      </p:sp>
      <p:sp>
        <p:nvSpPr>
          <p:cNvPr id="6" name="Indicación de imagen"/>
          <p:cNvSpPr txBox="1"/>
          <p:nvPr/>
        </p:nvSpPr>
        <p:spPr>
          <a:xfrm>
            <a:off x="6629400" y="1417320"/>
            <a:ext cx="19202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IMAGEN SUGERIDA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Captura de la portada de la Guía técnica del Ministerio de Salud o del afiche de la OMS “Medicación sin daño” (desde sus páginas oficiales).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PROPUESTA DE MEJORA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Acciones inmediatas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544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353312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Acompañar a la paciente y a su familia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060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5544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1353312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Reportar y analizar el evento (Protocolo de Londres)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6060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5544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353312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Capacitar en los correctos y en vías de administración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26060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7432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42032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Doble verificación de medicamentos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46120" y="2468880"/>
            <a:ext cx="26060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27432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8328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977640" y="2542032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Jeringas exclusivas y rótulo “SOLO VÍA ORAL”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35040" y="2468880"/>
            <a:ext cx="26060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27432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722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2542032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Supervisión directa obligatoria de estudiantes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79476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Y sobre todo: una cultura de seguridad en la que reportar no sea castigado.</a:t>
            </a:r>
            <a:endParaRPr lang="en-US" sz="1500" dirty="0"/>
          </a:p>
        </p:txBody>
      </p:sp>
      <p:sp>
        <p:nvSpPr>
          <p:cNvPr id="29" name="Recuadro de imagen"/>
          <p:cNvSpPr/>
          <p:nvPr/>
        </p:nvSpPr>
        <p:spPr>
          <a:xfrm>
            <a:off x="6309360" y="365760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1F5F7"/>
          </a:solidFill>
          <a:ln w="15875">
            <a:solidFill>
              <a:srgbClr val="8A9BA8"/>
            </a:solidFill>
            <a:prstDash val="dash"/>
          </a:ln>
        </p:spPr>
      </p:sp>
      <p:sp>
        <p:nvSpPr>
          <p:cNvPr id="30" name="Indicación de imagen"/>
          <p:cNvSpPr txBox="1"/>
          <p:nvPr/>
        </p:nvSpPr>
        <p:spPr>
          <a:xfrm>
            <a:off x="6446520" y="37947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IMAGEN SUGERIDA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Íconos de Canva para cada acción (opcional).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PREGUNTA ORIENTADORA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¿Cómo se aplican las herramientas?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Capacitación periódica del personal y de los estudiantes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Listas de chequeo y rondas de seguridad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Indicadores de eventos adversos (Resolución 256 de 2016)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Reporte voluntario y análisis sin culpa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Liderazgo de la gerencia que promueve la cultura de seguridad</a:t>
            </a:r>
            <a:endParaRPr lang="en-US" sz="1600" dirty="0"/>
          </a:p>
        </p:txBody>
      </p:sp>
      <p:sp>
        <p:nvSpPr>
          <p:cNvPr id="5" name="Recuadro de imagen"/>
          <p:cNvSpPr/>
          <p:nvPr/>
        </p:nvSpPr>
        <p:spPr>
          <a:xfrm>
            <a:off x="5303520" y="128016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F1F5F7"/>
          </a:solidFill>
          <a:ln w="15875">
            <a:solidFill>
              <a:srgbClr val="8A9BA8"/>
            </a:solidFill>
            <a:prstDash val="dash"/>
          </a:ln>
        </p:spPr>
      </p:sp>
      <p:sp>
        <p:nvSpPr>
          <p:cNvPr id="6" name="Indicación de imagen"/>
          <p:cNvSpPr txBox="1"/>
          <p:nvPr/>
        </p:nvSpPr>
        <p:spPr>
          <a:xfrm>
            <a:off x="5440680" y="1417320"/>
            <a:ext cx="31089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IMAGEN SUGERIDA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Foto de banco de una capacitación a personal de salud (Pexels: “medical training”, “nurses meeting”).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PREGUNTA ORIENTADORA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Seguridad del paciente y calidad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 · Planear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12801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Identificar riesgos y diseñar procesos seguros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9339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H · Hacer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103120" y="199339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Aplicar protocolos y listas de chequeo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06624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V · Verificar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270662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Medir eventos adversos e indicadores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419856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· Actuar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341985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Planes de mejora y aprendizaje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Las herramientas de seguridad y los modelos de calidad (ISO 9001, PAMEC) comparten la lógica del ciclo PHVA: identificar riesgos, estandarizar, medir y mejorar.</a:t>
            </a:r>
            <a:endParaRPr lang="en-US" sz="1300" dirty="0"/>
          </a:p>
        </p:txBody>
      </p:sp>
      <p:sp>
        <p:nvSpPr>
          <p:cNvPr id="13" name="Recuadro de imagen"/>
          <p:cNvSpPr/>
          <p:nvPr/>
        </p:nvSpPr>
        <p:spPr>
          <a:xfrm>
            <a:off x="5669280" y="1280160"/>
            <a:ext cx="3017520" cy="2743200"/>
          </a:xfrm>
          <a:prstGeom prst="roundRect">
            <a:avLst>
              <a:gd name="adj" fmla="val 2667"/>
            </a:avLst>
          </a:prstGeom>
          <a:solidFill>
            <a:srgbClr val="F1F5F7"/>
          </a:solidFill>
          <a:ln w="15875">
            <a:solidFill>
              <a:srgbClr val="8A9BA8"/>
            </a:solidFill>
            <a:prstDash val="dash"/>
          </a:ln>
        </p:spPr>
      </p:sp>
      <p:sp>
        <p:nvSpPr>
          <p:cNvPr id="14" name="Indicación de imagen"/>
          <p:cNvSpPr txBox="1"/>
          <p:nvPr/>
        </p:nvSpPr>
        <p:spPr>
          <a:xfrm>
            <a:off x="5806440" y="1417320"/>
            <a:ext cx="27432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IMAGEN SUGERIDA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Diagrama circular del ciclo PHVA (elementos de Canva: buscar “ciclo” o “círculo de 4 partes”).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D8DB"/>
                </a:solidFill>
              </a:rPr>
              <a:t>REFLEXIÓN FINAL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1430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¿Por qué es vital seguir los protocolos?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FD8DB"/>
                </a:solidFill>
              </a:rPr>
              <a:t>Porque cada verificación es una barrera entre el paciente y el daño. Un protocolo no es un trámite: es una forma de cuidar.</a:t>
            </a:r>
            <a:endParaRPr lang="en-US" sz="1800" dirty="0"/>
          </a:p>
        </p:txBody>
      </p:sp>
      <p:sp>
        <p:nvSpPr>
          <p:cNvPr id="5" name="Recuadro de imagen"/>
          <p:cNvSpPr/>
          <p:nvPr/>
        </p:nvSpPr>
        <p:spPr>
          <a:xfrm>
            <a:off x="6035040" y="548640"/>
            <a:ext cx="2651760" cy="4023360"/>
          </a:xfrm>
          <a:prstGeom prst="roundRect">
            <a:avLst>
              <a:gd name="adj" fmla="val 2759"/>
            </a:avLst>
          </a:prstGeom>
          <a:solidFill>
            <a:srgbClr val="24456A"/>
          </a:solidFill>
          <a:ln w="15875">
            <a:solidFill>
              <a:srgbClr val="9FD8DB"/>
            </a:solidFill>
            <a:prstDash val="dash"/>
          </a:ln>
        </p:spPr>
      </p:sp>
      <p:sp>
        <p:nvSpPr>
          <p:cNvPr id="6" name="Indicación de imagen"/>
          <p:cNvSpPr txBox="1"/>
          <p:nvPr/>
        </p:nvSpPr>
        <p:spPr>
          <a:xfrm>
            <a:off x="6172200" y="685800"/>
            <a:ext cx="23774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D8DB"/>
                </a:solidFill>
              </a:rPr>
              <a:t>IMAGEN SUGERIDA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Foto de banco de una mano de profesional sosteniendo la mano de un paciente (Pexels: “holding patient hand”).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430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Verifica. Pregunta. Reporta. Aprende.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Trabaja en equipo, capacítate siempre y no tengas miedo de detenerte ante la duda. La seguridad del paciente es responsabilidad de todos.</a:t>
            </a:r>
            <a:endParaRPr lang="en-US" sz="1800" dirty="0"/>
          </a:p>
        </p:txBody>
      </p:sp>
      <p:sp>
        <p:nvSpPr>
          <p:cNvPr id="4" name="Recuadro de imagen"/>
          <p:cNvSpPr/>
          <p:nvPr/>
        </p:nvSpPr>
        <p:spPr>
          <a:xfrm>
            <a:off x="6035040" y="548640"/>
            <a:ext cx="2651760" cy="4023360"/>
          </a:xfrm>
          <a:prstGeom prst="roundRect">
            <a:avLst>
              <a:gd name="adj" fmla="val 2759"/>
            </a:avLst>
          </a:prstGeom>
          <a:solidFill>
            <a:srgbClr val="24456A"/>
          </a:solidFill>
          <a:ln w="15875">
            <a:solidFill>
              <a:srgbClr val="9FD8DB"/>
            </a:solidFill>
            <a:prstDash val="dash"/>
          </a:ln>
        </p:spPr>
      </p:sp>
      <p:sp>
        <p:nvSpPr>
          <p:cNvPr id="5" name="Indicación de imagen"/>
          <p:cNvSpPr txBox="1"/>
          <p:nvPr/>
        </p:nvSpPr>
        <p:spPr>
          <a:xfrm>
            <a:off x="6172200" y="685800"/>
            <a:ext cx="23774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D8DB"/>
                </a:solidFill>
              </a:rPr>
              <a:t>IMAGEN SUGERIDA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Foto de banco de un equipo de salud sonriendo o trabajando unido (Pexels: “medical team”).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REFERENCIAS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Referencias (1/3)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Blu Radio. (2026, abril). Enfermera inyectó por error un antiácido intravenoso y era oral: la paciente está en UCI en Medellín.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Estrada-Orozco, K., Gaitán-Duarte, H., &amp; Eslava-Schmalbach, J. (2024). Patient safety as a public health problem. Colombian Journal of Anesthesiology, 52(2), 1-11.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LA FM. (2026, abril). Mujer lucha por su vida en UCI tras recibir Mylanta por vía intravenosa en hospital de Yarumal.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Ministerio de la Protección Social. (2010). Decreto 2376 de 2010 (relación docencia-servicio).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Ministerio de la Protección Social. (2010). Guía técnica “Buenas prácticas para la seguridad del paciente en la atención en salud”.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REFERENCIAS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Referencias (2/3)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Ministerio de Salud y Protección Social. (2016). Resolución 256 de 2016 (Sistema de Información para la Calidad).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Ministerio de Salud y Protección Social. (2019). Resolución 3100 de 2019 (habilitación de servicios de salud).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Noticias RCN. (2026, abril). Error de practicante en hospital de Antioquia deja a paciente en UCI: tenía dolor abdominal.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Organización Mundial de la Salud. (2017). Medicación sin daño: Tercer reto mundial por la seguridad del paciente.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Organización Mundial de la Salud. (2019). Prestación de servicios de salud de calidad: Un imperativo global para la cobertura sanitaria universal.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REFERENCIAS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Referencias (3/3)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Ortiz Rivera, R. (2024). Experiencias adversas de la seguridad del paciente: Perspectiva bioética (2.ª ed.). Marge Books.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Preciado, A. M. S., et al. (2023). Gestión de la calidad en los servicios de salud. Mawil Publicaciones de Ecuador.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Publimetro. (2026, 23 de abril). Mujer en Antioquia fue al hospital por gastritis y terminó en UCI tras inyección errónea de Mylanta.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Taylor-Adams, S., &amp; Vincent, C. (2004). Systems analysis of clinical incidents: The London protocol. Imperial College London.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Teleantioquia. (2026, abril). A una paciente del hospital de Yarumal le habrían aplicado un antiácido de uso oral vía intravenosa.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SEGURIDAD DEL PACIENTE EN LOS SISTEMAS DE SALUD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Créditos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6692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Investigación, guion y edición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Yina Vanessa Cadena Mantilla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Imágenes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Capturas de noticias (citadas en cada diapositiva) y bancos de uso libre (Pexels, Pixabay)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Música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[Nombre de la pista] · biblioteca de uso libre de Canva o Clipchamp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Edición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Canva / Clipchamp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Curso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[Nombre del curso] · Semana [N.º]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Docente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[Nombre del docente]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Institución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Corporación Universitaria Minuto de Dios – UNIMINUTO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guridad del paciente">
  <a:themeElements>
    <a:clrScheme name="Seguridad del paciente">
      <a:dk1>
        <a:srgbClr val="1B2A3A"/>
      </a:dk1>
      <a:lt1>
        <a:srgbClr val="FFFFFF"/>
      </a:lt1>
      <a:dk2>
        <a:srgbClr val="16324F"/>
      </a:dk2>
      <a:lt2>
        <a:srgbClr val="EEF4F5"/>
      </a:lt2>
      <a:accent1>
        <a:srgbClr val="1B8A8F"/>
      </a:accent1>
      <a:accent2>
        <a:srgbClr val="C0392B"/>
      </a:accent2>
      <a:accent3>
        <a:srgbClr val="2E8B57"/>
      </a:accent3>
      <a:accent4>
        <a:srgbClr val="E8892B"/>
      </a:accent4>
      <a:accent5>
        <a:srgbClr val="5A6B7B"/>
      </a:accent5>
      <a:accent6>
        <a:srgbClr val="D6E9EA"/>
      </a:accent6>
      <a:hlink>
        <a:srgbClr val="1B8A8F"/>
      </a:hlink>
      <a:folHlink>
        <a:srgbClr val="16324F"/>
      </a:folHlink>
    </a:clrScheme>
    <a:fontScheme name="Seguridad del pacient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Seguridad del paciente en los sistemas de salud</dc:title>
  <dc:subject>PptxGenJS Presentation</dc:subject>
  <dc:creator>Yina Vanessa Cadena Mantilla</dc:creator>
  <cp:lastModifiedBy>Yina Vanessa Cadena Mantilla</cp:lastModifiedBy>
  <cp:revision>1</cp:revision>
  <dcterms:created xsi:type="dcterms:W3CDTF">2026-10-12T15:00:09Z</dcterms:created>
  <dcterms:modified xsi:type="dcterms:W3CDTF">2026-10-12T15:00:09Z</dcterms:modified>
</cp:coreProperties>
</file>